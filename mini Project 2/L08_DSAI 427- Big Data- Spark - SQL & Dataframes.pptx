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57" r:id="rId3"/>
    <p:sldId id="338" r:id="rId4"/>
    <p:sldId id="326" r:id="rId5"/>
    <p:sldId id="367" r:id="rId6"/>
    <p:sldId id="336" r:id="rId7"/>
    <p:sldId id="335" r:id="rId8"/>
    <p:sldId id="368" r:id="rId9"/>
    <p:sldId id="337" r:id="rId10"/>
    <p:sldId id="361" r:id="rId11"/>
    <p:sldId id="327" r:id="rId12"/>
    <p:sldId id="365" r:id="rId13"/>
    <p:sldId id="366" r:id="rId14"/>
    <p:sldId id="345" r:id="rId15"/>
    <p:sldId id="332" r:id="rId16"/>
    <p:sldId id="346" r:id="rId17"/>
    <p:sldId id="355" r:id="rId18"/>
    <p:sldId id="348" r:id="rId19"/>
    <p:sldId id="353" r:id="rId20"/>
    <p:sldId id="354" r:id="rId21"/>
    <p:sldId id="362" r:id="rId22"/>
    <p:sldId id="363" r:id="rId23"/>
    <p:sldId id="364" r:id="rId24"/>
    <p:sldId id="339" r:id="rId25"/>
    <p:sldId id="340" r:id="rId26"/>
    <p:sldId id="341" r:id="rId27"/>
    <p:sldId id="344" r:id="rId28"/>
    <p:sldId id="342" r:id="rId29"/>
    <p:sldId id="359" r:id="rId30"/>
    <p:sldId id="36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2181" autoAdjust="0"/>
  </p:normalViewPr>
  <p:slideViewPr>
    <p:cSldViewPr snapToGrid="0">
      <p:cViewPr varScale="1">
        <p:scale>
          <a:sx n="55" d="100"/>
          <a:sy n="55" d="100"/>
        </p:scale>
        <p:origin x="1096" y="52"/>
      </p:cViewPr>
      <p:guideLst/>
    </p:cSldViewPr>
  </p:slideViewPr>
  <p:notesTextViewPr>
    <p:cViewPr>
      <p:scale>
        <a:sx n="1" d="1"/>
        <a:sy n="1" d="1"/>
      </p:scale>
      <p:origin x="0" y="-2132"/>
    </p:cViewPr>
  </p:notesTextViewPr>
  <p:sorterViewPr>
    <p:cViewPr>
      <p:scale>
        <a:sx n="100" d="100"/>
        <a:sy n="100" d="100"/>
      </p:scale>
      <p:origin x="0" y="-54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11D21-B03E-47ED-B043-AFEDB84E8537}"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63088-F16C-4FAF-8BB4-7C6C9F3D1EC9}" type="slidenum">
              <a:rPr lang="en-US" smtClean="0"/>
              <a:t>‹#›</a:t>
            </a:fld>
            <a:endParaRPr lang="en-US"/>
          </a:p>
        </p:txBody>
      </p:sp>
    </p:spTree>
    <p:extLst>
      <p:ext uri="{BB962C8B-B14F-4D97-AF65-F5344CB8AC3E}">
        <p14:creationId xmlns:p14="http://schemas.microsoft.com/office/powerpoint/2010/main" val="946312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park.apache.org/docs/latest/sql-data-sources-parquet.html"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databricks.com/glossary/catalyst-optimizer"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ata-flair.training/blogs/apache-hive-tutorial-introductory-guid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ata-flair.training/blogs/apache-hive-tutorial-introductory-guide/"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a:t>
            </a:fld>
            <a:endParaRPr lang="en-US"/>
          </a:p>
        </p:txBody>
      </p:sp>
    </p:spTree>
    <p:extLst>
      <p:ext uri="{BB962C8B-B14F-4D97-AF65-F5344CB8AC3E}">
        <p14:creationId xmlns:p14="http://schemas.microsoft.com/office/powerpoint/2010/main" val="1522461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a:t>
            </a:fld>
            <a:endParaRPr lang="en-US"/>
          </a:p>
        </p:txBody>
      </p:sp>
    </p:spTree>
    <p:extLst>
      <p:ext uri="{BB962C8B-B14F-4D97-AF65-F5344CB8AC3E}">
        <p14:creationId xmlns:p14="http://schemas.microsoft.com/office/powerpoint/2010/main" val="115452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Show a simple RDD word count vs. a DataFrame query — learners will immediately see the difference in readability.</a:t>
            </a:r>
          </a:p>
          <a:p>
            <a:endParaRPr lang="en-US" dirty="0" smtClean="0">
              <a:effectLst/>
            </a:endParaRPr>
          </a:p>
          <a:p>
            <a:r>
              <a:rPr lang="en-US" sz="1200" b="1" i="0" kern="1200" dirty="0" smtClean="0">
                <a:solidFill>
                  <a:schemeClr val="tx1"/>
                </a:solidFill>
                <a:effectLst/>
                <a:latin typeface="+mn-lt"/>
                <a:ea typeface="+mn-ea"/>
                <a:cs typeface="+mn-cs"/>
              </a:rPr>
              <a:t>Apache Parquet</a:t>
            </a:r>
            <a:r>
              <a:rPr lang="en-US" sz="1200" b="0" i="0" kern="1200" dirty="0" smtClean="0">
                <a:solidFill>
                  <a:schemeClr val="tx1"/>
                </a:solidFill>
                <a:effectLst/>
                <a:latin typeface="+mn-lt"/>
                <a:ea typeface="+mn-ea"/>
                <a:cs typeface="+mn-cs"/>
              </a:rPr>
              <a:t> is an open-source, columnar storage file format designed for efficient data processing and is the default storage format for </a:t>
            </a:r>
            <a:r>
              <a:rPr lang="en-US" sz="1200" b="0" i="0" kern="1200" dirty="0" smtClean="0">
                <a:solidFill>
                  <a:schemeClr val="tx1"/>
                </a:solidFill>
                <a:effectLst/>
                <a:latin typeface="+mn-lt"/>
                <a:ea typeface="+mn-ea"/>
                <a:cs typeface="+mn-cs"/>
                <a:hlinkClick r:id="rId3"/>
              </a:rPr>
              <a:t>Apache Spark</a:t>
            </a:r>
            <a:r>
              <a:rPr lang="en-US" sz="1200" b="0" i="0" kern="1200" dirty="0" smtClean="0">
                <a:solidFill>
                  <a:schemeClr val="tx1"/>
                </a:solidFill>
                <a:effectLst/>
                <a:latin typeface="+mn-lt"/>
                <a:ea typeface="+mn-ea"/>
                <a:cs typeface="+mn-cs"/>
              </a:rPr>
              <a:t> [1, 20]. </a:t>
            </a:r>
          </a:p>
          <a:p>
            <a:r>
              <a:rPr lang="en-US" dirty="0" smtClean="0"/>
              <a:t/>
            </a:r>
            <a:br>
              <a:rPr lang="en-US" dirty="0" smtClean="0"/>
            </a:br>
            <a:endParaRPr lang="en-US" dirty="0" smtClean="0">
              <a:effectLst/>
            </a:endParaRPr>
          </a:p>
          <a:p>
            <a:r>
              <a:rPr lang="en-US" b="1" dirty="0" smtClean="0">
                <a:effectLst/>
              </a:rPr>
              <a:t>Why Structured APIs?</a:t>
            </a:r>
            <a:endParaRPr lang="en-US" dirty="0" smtClean="0"/>
          </a:p>
          <a:p>
            <a:r>
              <a:rPr lang="en-US" dirty="0" smtClean="0">
                <a:effectLst/>
              </a:rPr>
              <a:t>RDDs lack schema awareness → difficult optimization.</a:t>
            </a:r>
            <a:endParaRPr lang="en-US" dirty="0" smtClean="0"/>
          </a:p>
          <a:p>
            <a:r>
              <a:rPr lang="en-US" dirty="0" smtClean="0">
                <a:effectLst/>
              </a:rPr>
              <a:t>Structured APIs (</a:t>
            </a:r>
            <a:r>
              <a:rPr lang="en-US" dirty="0" err="1" smtClean="0">
                <a:effectLst/>
              </a:rPr>
              <a:t>DataFrames</a:t>
            </a:r>
            <a:r>
              <a:rPr lang="en-US" dirty="0" smtClean="0">
                <a:effectLst/>
              </a:rPr>
              <a:t>, Datasets) introduced in Spark 1.3 to simplify analytics.</a:t>
            </a:r>
            <a:endParaRPr lang="en-US" dirty="0" smtClean="0"/>
          </a:p>
          <a:p>
            <a:r>
              <a:rPr lang="en-US" b="1" dirty="0" smtClean="0">
                <a:effectLst/>
              </a:rPr>
              <a:t>Limitations of RDDs:</a:t>
            </a:r>
            <a:endParaRPr lang="en-US" dirty="0" smtClean="0"/>
          </a:p>
          <a:p>
            <a:r>
              <a:rPr lang="en-US" dirty="0" smtClean="0">
                <a:effectLst/>
              </a:rPr>
              <a:t>Verbose code for simple queries.</a:t>
            </a:r>
            <a:endParaRPr lang="en-US" dirty="0" smtClean="0"/>
          </a:p>
          <a:p>
            <a:r>
              <a:rPr lang="en-US" dirty="0" smtClean="0">
                <a:effectLst/>
              </a:rPr>
              <a:t>No automatic query optimization.</a:t>
            </a:r>
            <a:endParaRPr lang="en-US" dirty="0" smtClean="0"/>
          </a:p>
          <a:p>
            <a:r>
              <a:rPr lang="en-US" dirty="0" smtClean="0">
                <a:effectLst/>
              </a:rPr>
              <a:t>Harder integration with SQL.</a:t>
            </a:r>
            <a:endParaRPr lang="en-US" dirty="0" smtClean="0"/>
          </a:p>
          <a:p>
            <a:endParaRPr lang="en-US" dirty="0" smtClean="0"/>
          </a:p>
          <a:p>
            <a:endParaRPr lang="en-US" dirty="0" smtClean="0"/>
          </a:p>
          <a:p>
            <a:r>
              <a:rPr lang="en-US" b="1" dirty="0" smtClean="0">
                <a:effectLst/>
              </a:rPr>
              <a:t>RDD (Resilient Distributed Dataset)</a:t>
            </a:r>
            <a:r>
              <a:rPr lang="en-US" dirty="0" smtClean="0">
                <a:effectLst/>
              </a:rPr>
              <a:t> is Spark’s original abstraction.</a:t>
            </a:r>
            <a:endParaRPr lang="en-US" dirty="0" smtClean="0"/>
          </a:p>
          <a:p>
            <a:r>
              <a:rPr lang="en-US" dirty="0" smtClean="0">
                <a:effectLst/>
              </a:rPr>
              <a:t>It represents a distributed collection of objects across the cluster.</a:t>
            </a:r>
            <a:endParaRPr lang="en-US" dirty="0" smtClean="0"/>
          </a:p>
          <a:p>
            <a:r>
              <a:rPr lang="en-US" b="1" dirty="0" smtClean="0">
                <a:effectLst/>
              </a:rPr>
              <a:t>RDDs themselves are </a:t>
            </a:r>
            <a:r>
              <a:rPr lang="en-US" b="1" i="1" dirty="0" smtClean="0">
                <a:effectLst/>
              </a:rPr>
              <a:t>unstructured</a:t>
            </a:r>
            <a:r>
              <a:rPr lang="en-US" dirty="0" smtClean="0">
                <a:effectLst/>
              </a:rPr>
              <a:t> — they don’t carry schema information (no column names or data types).</a:t>
            </a:r>
            <a:endParaRPr lang="en-US" dirty="0" smtClean="0"/>
          </a:p>
          <a:p>
            <a:r>
              <a:rPr lang="en-US" dirty="0" smtClean="0">
                <a:effectLst/>
              </a:rPr>
              <a:t>You can store </a:t>
            </a:r>
            <a:r>
              <a:rPr lang="en-US" i="1" dirty="0" smtClean="0">
                <a:effectLst/>
              </a:rPr>
              <a:t>structured data</a:t>
            </a:r>
            <a:r>
              <a:rPr lang="en-US" dirty="0" smtClean="0">
                <a:effectLst/>
              </a:rPr>
              <a:t> inside an RDD (e.g., tuples like (id, name, age)), but Spark doesn’t “know” the structure — it just sees generic objects.</a:t>
            </a:r>
            <a:endParaRPr lang="en-US" dirty="0" smtClean="0"/>
          </a:p>
          <a:p>
            <a:endParaRPr lang="en-US" dirty="0" smtClean="0"/>
          </a:p>
          <a:p>
            <a:endParaRPr lang="en-US" dirty="0" smtClean="0"/>
          </a:p>
          <a:p>
            <a:pPr marL="0" indent="0">
              <a:lnSpc>
                <a:spcPct val="100000"/>
              </a:lnSpc>
              <a:spcBef>
                <a:spcPts val="0"/>
              </a:spcBef>
              <a:spcAft>
                <a:spcPts val="0"/>
              </a:spcAft>
              <a:buNone/>
            </a:pPr>
            <a:r>
              <a:rPr lang="en-US" sz="1200" b="1" dirty="0" smtClean="0">
                <a:solidFill>
                  <a:srgbClr val="C00000"/>
                </a:solidFill>
              </a:rPr>
              <a:t>Limitations of RDD-based Processing:</a:t>
            </a:r>
          </a:p>
          <a:p>
            <a:pPr marL="514350" indent="-514350">
              <a:lnSpc>
                <a:spcPct val="100000"/>
              </a:lnSpc>
              <a:spcBef>
                <a:spcPts val="0"/>
              </a:spcBef>
              <a:spcAft>
                <a:spcPts val="0"/>
              </a:spcAft>
              <a:buFont typeface="+mj-lt"/>
              <a:buAutoNum type="arabicPeriod"/>
            </a:pPr>
            <a:r>
              <a:rPr lang="en-US" sz="1200" b="1" dirty="0" smtClean="0"/>
              <a:t>No Schema Awareness:</a:t>
            </a:r>
            <a:r>
              <a:rPr lang="en-US" sz="1200" dirty="0" smtClean="0"/>
              <a:t> RDDs treat data as a "black box" of generic objects.</a:t>
            </a:r>
          </a:p>
          <a:p>
            <a:pPr marL="514350" indent="-514350">
              <a:lnSpc>
                <a:spcPct val="100000"/>
              </a:lnSpc>
              <a:spcBef>
                <a:spcPts val="0"/>
              </a:spcBef>
              <a:spcAft>
                <a:spcPts val="0"/>
              </a:spcAft>
              <a:buFont typeface="+mj-lt"/>
              <a:buAutoNum type="arabicPeriod"/>
            </a:pPr>
            <a:r>
              <a:rPr lang="en-US" sz="1200" b="1" dirty="0" smtClean="0"/>
              <a:t>Manual Optimization Only</a:t>
            </a:r>
            <a:r>
              <a:rPr lang="en-US" sz="1200" dirty="0" smtClean="0"/>
              <a:t>: Because Spark cannot "peek" into the RDD, it cannot automatically optimize the sequence of transformations. All responsibility for performance falls on the developer</a:t>
            </a:r>
          </a:p>
          <a:p>
            <a:pPr marL="514350" indent="-514350">
              <a:lnSpc>
                <a:spcPct val="100000"/>
              </a:lnSpc>
              <a:spcBef>
                <a:spcPts val="0"/>
              </a:spcBef>
              <a:spcAft>
                <a:spcPts val="0"/>
              </a:spcAft>
              <a:buFont typeface="+mj-lt"/>
              <a:buAutoNum type="arabicPeriod"/>
            </a:pPr>
            <a:r>
              <a:rPr lang="en-US" sz="1200" b="1" dirty="0" smtClean="0"/>
              <a:t>"How" Coding</a:t>
            </a:r>
            <a:r>
              <a:rPr lang="en-US" sz="1200" dirty="0" smtClean="0"/>
              <a:t>: Developers must program the low-level logic of how to process the data, not just what results they want</a:t>
            </a:r>
          </a:p>
          <a:p>
            <a:pPr marL="514350" indent="-514350">
              <a:lnSpc>
                <a:spcPct val="100000"/>
              </a:lnSpc>
              <a:spcBef>
                <a:spcPts val="0"/>
              </a:spcBef>
              <a:spcAft>
                <a:spcPts val="0"/>
              </a:spcAft>
              <a:buFont typeface="+mj-lt"/>
              <a:buAutoNum type="arabicPeriod"/>
            </a:pPr>
            <a:r>
              <a:rPr lang="en-US" sz="1200" b="1" dirty="0" smtClean="0"/>
              <a:t>Difficulty with SQL:</a:t>
            </a:r>
            <a:r>
              <a:rPr lang="en-US" sz="1200" dirty="0" smtClean="0"/>
              <a:t> Integrating traditional SQL queries or external tools with low-level RDDs requires complex conversion logic.</a:t>
            </a:r>
          </a:p>
          <a:p>
            <a:pPr marL="514350" indent="-514350">
              <a:lnSpc>
                <a:spcPct val="100000"/>
              </a:lnSpc>
              <a:spcBef>
                <a:spcPts val="0"/>
              </a:spcBef>
              <a:spcAft>
                <a:spcPts val="0"/>
              </a:spcAft>
              <a:buFont typeface="+mj-lt"/>
              <a:buAutoNum type="arabicPeriod"/>
            </a:pPr>
            <a:endParaRPr lang="en-US" sz="1200" dirty="0" smtClean="0"/>
          </a:p>
          <a:p>
            <a:endParaRPr lang="en-US" sz="1200" dirty="0" smtClean="0"/>
          </a:p>
          <a:p>
            <a:endParaRPr lang="en-US" sz="1200" dirty="0" smtClean="0"/>
          </a:p>
          <a:p>
            <a:r>
              <a:rPr lang="en-US" sz="1200" b="1" i="0" kern="1200" dirty="0" smtClean="0">
                <a:solidFill>
                  <a:schemeClr val="tx1"/>
                </a:solidFill>
                <a:effectLst/>
                <a:latin typeface="+mn-lt"/>
                <a:ea typeface="+mn-ea"/>
                <a:cs typeface="+mn-cs"/>
              </a:rPr>
              <a:t>RDD cannot be optimized by Spark</a:t>
            </a:r>
            <a:r>
              <a:rPr lang="en-US" sz="1200" b="0" i="0" kern="1200" dirty="0" smtClean="0">
                <a:solidFill>
                  <a:schemeClr val="tx1"/>
                </a:solidFill>
                <a:effectLst/>
                <a:latin typeface="+mn-lt"/>
                <a:ea typeface="+mn-ea"/>
                <a:cs typeface="+mn-cs"/>
              </a:rPr>
              <a:t> — they are fully lambda-driven. RDD is rather a "black box" of data, which cannot be optimized because Spark can't look inside what the data actually consists of. So Spark can't do any optimizations on your behalf. This feels more acute in non-JVM languages such as Python.</a:t>
            </a:r>
          </a:p>
          <a:p>
            <a:r>
              <a:rPr lang="en-US" sz="1200" b="0" i="0" kern="1200" dirty="0" smtClean="0">
                <a:solidFill>
                  <a:schemeClr val="tx1"/>
                </a:solidFill>
                <a:effectLst/>
                <a:latin typeface="+mn-lt"/>
                <a:ea typeface="+mn-ea"/>
                <a:cs typeface="+mn-cs"/>
              </a:rPr>
              <a:t>DataFrame has additional metadata due to its column format, which allows Spark to perform certain optimizations on a completed request. Before your query is run, a logical plan is created using </a:t>
            </a:r>
            <a:r>
              <a:rPr lang="en-US" sz="1200" b="0" i="0" u="sng" kern="1200" dirty="0" smtClean="0">
                <a:solidFill>
                  <a:schemeClr val="tx1"/>
                </a:solidFill>
                <a:effectLst/>
                <a:latin typeface="+mn-lt"/>
                <a:ea typeface="+mn-ea"/>
                <a:cs typeface="+mn-cs"/>
                <a:hlinkClick r:id="rId4"/>
              </a:rPr>
              <a:t>Catalyst Optimizer</a:t>
            </a:r>
            <a:r>
              <a:rPr lang="en-US" sz="1200" b="0" i="0" kern="1200" dirty="0" smtClean="0">
                <a:solidFill>
                  <a:schemeClr val="tx1"/>
                </a:solidFill>
                <a:effectLst/>
                <a:latin typeface="+mn-lt"/>
                <a:ea typeface="+mn-ea"/>
                <a:cs typeface="+mn-cs"/>
              </a:rPr>
              <a:t> and then it's executed using the Tungsten execution engine.</a:t>
            </a:r>
          </a:p>
          <a:p>
            <a:r>
              <a:rPr lang="en-US" dirty="0" smtClean="0"/>
              <a:t/>
            </a:r>
            <a:br>
              <a:rPr lang="en-US" dirty="0" smtClean="0"/>
            </a:br>
            <a:r>
              <a:rPr lang="en-US" sz="1200" b="1" i="0" kern="1200" dirty="0" smtClean="0">
                <a:solidFill>
                  <a:schemeClr val="tx1"/>
                </a:solidFill>
                <a:effectLst/>
                <a:latin typeface="+mn-lt"/>
                <a:ea typeface="+mn-ea"/>
                <a:cs typeface="+mn-cs"/>
              </a:rPr>
              <a:t>The code in RDD expresses more </a:t>
            </a:r>
            <a:r>
              <a:rPr lang="en-US" sz="1200" b="1" i="1" kern="1200" dirty="0" smtClean="0">
                <a:solidFill>
                  <a:schemeClr val="tx1"/>
                </a:solidFill>
                <a:effectLst/>
                <a:latin typeface="+mn-lt"/>
                <a:ea typeface="+mn-ea"/>
                <a:cs typeface="+mn-cs"/>
              </a:rPr>
              <a:t>how</a:t>
            </a:r>
            <a:r>
              <a:rPr lang="en-US" sz="1200" b="1" i="0" kern="1200" dirty="0" smtClean="0">
                <a:solidFill>
                  <a:schemeClr val="tx1"/>
                </a:solidFill>
                <a:effectLst/>
                <a:latin typeface="+mn-lt"/>
                <a:ea typeface="+mn-ea"/>
                <a:cs typeface="+mn-cs"/>
              </a:rPr>
              <a:t> of a solution better than </a:t>
            </a:r>
            <a:r>
              <a:rPr lang="en-US" sz="1200" b="1" i="1" kern="1200" dirty="0" smtClean="0">
                <a:solidFill>
                  <a:schemeClr val="tx1"/>
                </a:solidFill>
                <a:effectLst/>
                <a:latin typeface="+mn-lt"/>
                <a:ea typeface="+mn-ea"/>
                <a:cs typeface="+mn-cs"/>
              </a:rPr>
              <a:t>what</a:t>
            </a:r>
            <a:r>
              <a:rPr lang="en-US" sz="1200" b="0" i="0" kern="1200" dirty="0" smtClean="0">
                <a:solidFill>
                  <a:schemeClr val="tx1"/>
                </a:solidFill>
                <a:effectLst/>
                <a:latin typeface="+mn-lt"/>
                <a:ea typeface="+mn-ea"/>
                <a:cs typeface="+mn-cs"/>
              </a:rPr>
              <a:t>. It is a bit difficult to read the code based on RDD and understand what is going on.</a:t>
            </a:r>
          </a:p>
          <a:p>
            <a:r>
              <a:rPr lang="en-US" sz="1200" b="0" i="0" kern="1200" dirty="0" smtClean="0">
                <a:solidFill>
                  <a:schemeClr val="tx1"/>
                </a:solidFill>
                <a:effectLst/>
                <a:latin typeface="+mn-lt"/>
                <a:ea typeface="+mn-ea"/>
                <a:cs typeface="+mn-cs"/>
              </a:rPr>
              <a:t>Using DataFrame API it's easy to go one level up — to business logic. Since DataFrame API looks like SQL and there is a schema, it's easy to see the real work with data. So, using DataFrame API, you are closer to what you are trying to achieve and not to how you are doing it.</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a:t>
            </a:fld>
            <a:endParaRPr lang="en-US"/>
          </a:p>
        </p:txBody>
      </p:sp>
    </p:spTree>
    <p:extLst>
      <p:ext uri="{BB962C8B-B14F-4D97-AF65-F5344CB8AC3E}">
        <p14:creationId xmlns:p14="http://schemas.microsoft.com/office/powerpoint/2010/main" val="596053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We can build DataFrame from different data sources. For Example structured data file, tables in </a:t>
            </a:r>
            <a:r>
              <a:rPr lang="en-US" sz="1200" b="0" i="0" u="sng" kern="1200" dirty="0" smtClean="0">
                <a:solidFill>
                  <a:schemeClr val="tx1"/>
                </a:solidFill>
                <a:effectLst/>
                <a:latin typeface="+mn-lt"/>
                <a:ea typeface="+mn-ea"/>
                <a:cs typeface="+mn-cs"/>
                <a:hlinkClick r:id="rId3"/>
              </a:rPr>
              <a:t>Hive</a:t>
            </a:r>
            <a:r>
              <a:rPr lang="en-US" sz="1200" b="0" i="0" kern="1200" dirty="0" smtClean="0">
                <a:solidFill>
                  <a:schemeClr val="tx1"/>
                </a:solidFill>
                <a:effectLst/>
                <a:latin typeface="+mn-lt"/>
                <a:ea typeface="+mn-ea"/>
                <a:cs typeface="+mn-cs"/>
              </a:rPr>
              <a:t>, external databases or existing RDDs.</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a:t>
            </a:fld>
            <a:endParaRPr lang="en-US"/>
          </a:p>
        </p:txBody>
      </p:sp>
    </p:spTree>
    <p:extLst>
      <p:ext uri="{BB962C8B-B14F-4D97-AF65-F5344CB8AC3E}">
        <p14:creationId xmlns:p14="http://schemas.microsoft.com/office/powerpoint/2010/main" val="2322232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RDD Code Explanation:</a:t>
            </a:r>
          </a:p>
          <a:p>
            <a:pPr marL="228600" indent="-228600">
              <a:buFont typeface="+mj-lt"/>
              <a:buAutoNum type="arabicPeriod"/>
            </a:pPr>
            <a:r>
              <a:rPr lang="en-US" dirty="0" smtClean="0">
                <a:effectLst/>
              </a:rPr>
              <a:t>Reads the JSON file as raw text.</a:t>
            </a:r>
            <a:endParaRPr lang="en-US" dirty="0" smtClean="0"/>
          </a:p>
          <a:p>
            <a:pPr marL="228600" indent="-228600">
              <a:buFont typeface="+mj-lt"/>
              <a:buAutoNum type="arabicPeriod"/>
            </a:pPr>
            <a:r>
              <a:rPr lang="en-US" dirty="0" smtClean="0">
                <a:effectLst/>
              </a:rPr>
              <a:t>Manually parses each line into JSON.</a:t>
            </a:r>
            <a:endParaRPr lang="en-US" dirty="0" smtClean="0"/>
          </a:p>
          <a:p>
            <a:pPr marL="228600" indent="-228600">
              <a:buFont typeface="+mj-lt"/>
              <a:buAutoNum type="arabicPeriod"/>
            </a:pPr>
            <a:r>
              <a:rPr lang="en-US" dirty="0" smtClean="0">
                <a:effectLst/>
              </a:rPr>
              <a:t>Filters rows where status == '200'.</a:t>
            </a:r>
            <a:endParaRPr lang="en-US" dirty="0" smtClean="0"/>
          </a:p>
          <a:p>
            <a:pPr marL="228600" indent="-228600">
              <a:buFont typeface="+mj-lt"/>
              <a:buAutoNum type="arabicPeriod"/>
            </a:pPr>
            <a:r>
              <a:rPr lang="en-US" dirty="0" smtClean="0">
                <a:effectLst/>
              </a:rPr>
              <a:t>Maps each row into (country, </a:t>
            </a:r>
            <a:r>
              <a:rPr lang="en-US" dirty="0" err="1" smtClean="0">
                <a:effectLst/>
              </a:rPr>
              <a:t>bytes_sent</a:t>
            </a:r>
            <a:r>
              <a:rPr lang="en-US" dirty="0" smtClean="0">
                <a:effectLst/>
              </a:rPr>
              <a:t>) pairs.</a:t>
            </a:r>
            <a:endParaRPr lang="en-US" dirty="0" smtClean="0"/>
          </a:p>
          <a:p>
            <a:pPr marL="228600" indent="-228600">
              <a:buFont typeface="+mj-lt"/>
              <a:buAutoNum type="arabicPeriod"/>
            </a:pPr>
            <a:r>
              <a:rPr lang="en-US" dirty="0" smtClean="0">
                <a:effectLst/>
              </a:rPr>
              <a:t>Aggregates with </a:t>
            </a:r>
            <a:r>
              <a:rPr lang="en-US" dirty="0" err="1" smtClean="0">
                <a:effectLst/>
              </a:rPr>
              <a:t>reduceByKey</a:t>
            </a:r>
            <a:r>
              <a:rPr lang="en-US" dirty="0" smtClean="0">
                <a:effectLst/>
              </a:rPr>
              <a:t> to sum bytes per country.</a:t>
            </a:r>
            <a:endParaRPr lang="en-US" dirty="0" smtClean="0"/>
          </a:p>
          <a:p>
            <a:pPr marL="228600" indent="-228600">
              <a:buFont typeface="+mj-lt"/>
              <a:buAutoNum type="arabicPeriod"/>
            </a:pPr>
            <a:r>
              <a:rPr lang="en-US" dirty="0" smtClean="0">
                <a:effectLst/>
              </a:rPr>
              <a:t>Collects results back to the driver. </a:t>
            </a:r>
            <a:endParaRPr lang="en-US" dirty="0" smtClean="0"/>
          </a:p>
          <a:p>
            <a:endParaRPr lang="en-US" dirty="0" smtClean="0"/>
          </a:p>
          <a:p>
            <a:r>
              <a:rPr lang="en-US" b="1" dirty="0" err="1" smtClean="0"/>
              <a:t>Dataframe</a:t>
            </a:r>
            <a:r>
              <a:rPr lang="en-US" b="1" dirty="0" smtClean="0"/>
              <a:t> Code Explanation </a:t>
            </a:r>
          </a:p>
          <a:p>
            <a:pPr marL="228600" indent="-228600">
              <a:buFont typeface="+mj-lt"/>
              <a:buAutoNum type="arabicPeriod"/>
            </a:pPr>
            <a:r>
              <a:rPr lang="en-US" dirty="0" smtClean="0">
                <a:effectLst/>
              </a:rPr>
              <a:t>Reads the JSON file directly into a DataFrame (schema inferred).</a:t>
            </a:r>
            <a:endParaRPr lang="en-US" dirty="0" smtClean="0"/>
          </a:p>
          <a:p>
            <a:pPr marL="228600" indent="-228600">
              <a:buFont typeface="+mj-lt"/>
              <a:buAutoNum type="arabicPeriod"/>
            </a:pPr>
            <a:r>
              <a:rPr lang="en-US" dirty="0" smtClean="0">
                <a:effectLst/>
              </a:rPr>
              <a:t>Filters rows where status == '200'.</a:t>
            </a:r>
            <a:endParaRPr lang="en-US" dirty="0" smtClean="0"/>
          </a:p>
          <a:p>
            <a:pPr marL="228600" indent="-228600">
              <a:buFont typeface="+mj-lt"/>
              <a:buAutoNum type="arabicPeriod"/>
            </a:pPr>
            <a:r>
              <a:rPr lang="en-US" dirty="0" smtClean="0">
                <a:effectLst/>
              </a:rPr>
              <a:t>Groups by country.</a:t>
            </a:r>
            <a:endParaRPr lang="en-US" dirty="0" smtClean="0"/>
          </a:p>
          <a:p>
            <a:pPr marL="228600" indent="-228600">
              <a:buFont typeface="+mj-lt"/>
              <a:buAutoNum type="arabicPeriod"/>
            </a:pPr>
            <a:r>
              <a:rPr lang="en-US" dirty="0" smtClean="0">
                <a:effectLst/>
              </a:rPr>
              <a:t>Sums </a:t>
            </a:r>
            <a:r>
              <a:rPr lang="en-US" dirty="0" err="1" smtClean="0">
                <a:effectLst/>
              </a:rPr>
              <a:t>bytes_sent</a:t>
            </a:r>
            <a:r>
              <a:rPr lang="en-US" dirty="0" smtClean="0">
                <a:effectLst/>
              </a:rPr>
              <a:t>.</a:t>
            </a:r>
            <a:endParaRPr lang="en-US" dirty="0" smtClean="0"/>
          </a:p>
          <a:p>
            <a:pPr marL="228600" indent="-228600">
              <a:buFont typeface="+mj-lt"/>
              <a:buAutoNum type="arabicPeriod"/>
            </a:pPr>
            <a:r>
              <a:rPr lang="en-US" dirty="0" smtClean="0">
                <a:effectLst/>
              </a:rPr>
              <a:t>Displays results with .show().</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5</a:t>
            </a:fld>
            <a:endParaRPr lang="en-US"/>
          </a:p>
        </p:txBody>
      </p:sp>
    </p:spTree>
    <p:extLst>
      <p:ext uri="{BB962C8B-B14F-4D97-AF65-F5344CB8AC3E}">
        <p14:creationId xmlns:p14="http://schemas.microsoft.com/office/powerpoint/2010/main" val="4255437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We can build DataFrame from different data sources. For Example structured data file, tables in </a:t>
            </a:r>
            <a:r>
              <a:rPr lang="en-US" sz="1200" b="0" i="0" u="sng" kern="1200" dirty="0" smtClean="0">
                <a:solidFill>
                  <a:schemeClr val="tx1"/>
                </a:solidFill>
                <a:effectLst/>
                <a:latin typeface="+mn-lt"/>
                <a:ea typeface="+mn-ea"/>
                <a:cs typeface="+mn-cs"/>
                <a:hlinkClick r:id="rId3"/>
              </a:rPr>
              <a:t>Hive</a:t>
            </a:r>
            <a:r>
              <a:rPr lang="en-US" sz="1200" b="0" i="0" kern="1200" dirty="0" smtClean="0">
                <a:solidFill>
                  <a:schemeClr val="tx1"/>
                </a:solidFill>
                <a:effectLst/>
                <a:latin typeface="+mn-lt"/>
                <a:ea typeface="+mn-ea"/>
                <a:cs typeface="+mn-cs"/>
              </a:rPr>
              <a:t>, external databases or existing RDDs.</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6</a:t>
            </a:fld>
            <a:endParaRPr lang="en-US"/>
          </a:p>
        </p:txBody>
      </p:sp>
    </p:spTree>
    <p:extLst>
      <p:ext uri="{BB962C8B-B14F-4D97-AF65-F5344CB8AC3E}">
        <p14:creationId xmlns:p14="http://schemas.microsoft.com/office/powerpoint/2010/main" val="2742389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structured view is what allows Spark to "peek" into your data and apply clever optimizations that are impossible with the "black box" nature of RDDs.</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DataFrame API</a:t>
            </a:r>
            <a:br>
              <a:rPr lang="en-US" dirty="0" smtClean="0"/>
            </a:br>
            <a:r>
              <a:rPr lang="en-US" dirty="0" smtClean="0"/>
              <a:t>↓</a:t>
            </a:r>
            <a:br>
              <a:rPr lang="en-US" dirty="0" smtClean="0"/>
            </a:br>
            <a:r>
              <a:rPr lang="en-US" dirty="0" smtClean="0"/>
              <a:t>Optimized Plan</a:t>
            </a:r>
            <a:br>
              <a:rPr lang="en-US" dirty="0" smtClean="0"/>
            </a:br>
            <a:r>
              <a:rPr lang="en-US" dirty="0" smtClean="0"/>
              <a:t>↓</a:t>
            </a:r>
            <a:br>
              <a:rPr lang="en-US" dirty="0" smtClean="0"/>
            </a:br>
            <a:r>
              <a:rPr lang="en-US" dirty="0" smtClean="0"/>
              <a:t>RDD Execution</a:t>
            </a:r>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DataFrames</a:t>
            </a:r>
            <a:r>
              <a:rPr lang="en-US" dirty="0" smtClean="0"/>
              <a:t> provide </a:t>
            </a:r>
            <a:r>
              <a:rPr lang="en-US" b="1" dirty="0" smtClean="0"/>
              <a:t>higher abstraction</a:t>
            </a:r>
            <a:r>
              <a:rPr lang="en-US" dirty="0" smtClean="0"/>
              <a:t>, but execution still happens using </a:t>
            </a:r>
            <a:r>
              <a:rPr lang="en-US" b="1" dirty="0" smtClean="0"/>
              <a:t>RDDs internally</a:t>
            </a:r>
            <a:endParaRPr lang="en-US" dirty="0" smtClean="0"/>
          </a:p>
          <a:p>
            <a:r>
              <a:rPr lang="en-US" sz="1200" b="1" i="0" kern="1200" dirty="0" smtClean="0">
                <a:solidFill>
                  <a:schemeClr val="tx1"/>
                </a:solidFill>
                <a:effectLst/>
                <a:latin typeface="+mn-lt"/>
                <a:ea typeface="+mn-ea"/>
                <a:cs typeface="+mn-cs"/>
              </a:rPr>
              <a:t>all high-level APIs eventually translate down to RDD-based execution at the task level.</a:t>
            </a:r>
            <a:endParaRPr lang="en-US" sz="1200" b="0" i="0" kern="1200" dirty="0" smtClean="0">
              <a:solidFill>
                <a:schemeClr val="tx1"/>
              </a:solidFill>
              <a:effectLst/>
              <a:latin typeface="+mn-lt"/>
              <a:ea typeface="+mn-ea"/>
              <a:cs typeface="+mn-cs"/>
            </a:endParaRPr>
          </a:p>
          <a:p>
            <a:r>
              <a:rPr lang="en-US" dirty="0" smtClean="0"/>
              <a:t/>
            </a:r>
            <a:br>
              <a:rPr lang="en-US" dirty="0" smtClean="0"/>
            </a:br>
            <a:r>
              <a:rPr lang="en-US" sz="1200" b="1" i="0" kern="1200" dirty="0" smtClean="0">
                <a:solidFill>
                  <a:schemeClr val="tx1"/>
                </a:solidFill>
                <a:effectLst/>
                <a:latin typeface="+mn-lt"/>
                <a:ea typeface="+mn-ea"/>
                <a:cs typeface="+mn-cs"/>
              </a:rPr>
              <a:t>High-Level APIs Are Just Front Ends </a:t>
            </a:r>
            <a:r>
              <a:rPr lang="en-US" sz="1200" b="0" i="0" kern="1200" dirty="0" smtClean="0">
                <a:solidFill>
                  <a:schemeClr val="tx1"/>
                </a:solidFill>
                <a:effectLst/>
                <a:latin typeface="+mn-lt"/>
                <a:ea typeface="+mn-ea"/>
                <a:cs typeface="+mn-cs"/>
              </a:rPr>
              <a:t>Whether you use the DataFrame API, Dataset API, or Spark SQL, these are simply abstractions designed to make development easier and more expressive. At execution time, Spark does not differentiate between them they all follow the same underlying execution model.</a:t>
            </a:r>
          </a:p>
          <a:p>
            <a:endParaRPr lang="en-US" dirty="0" smtClean="0"/>
          </a:p>
          <a:p>
            <a:r>
              <a:rPr lang="en-US" b="1" dirty="0" smtClean="0"/>
              <a:t>Strategic Purpose and Value of </a:t>
            </a:r>
            <a:r>
              <a:rPr lang="en-US" b="1" dirty="0" err="1" smtClean="0"/>
              <a:t>DataFrames</a:t>
            </a:r>
            <a:endParaRPr lang="en-US" b="1" dirty="0" smtClean="0"/>
          </a:p>
          <a:p>
            <a:r>
              <a:rPr lang="en-US" b="1" dirty="0" smtClean="0"/>
              <a:t>Higher Level </a:t>
            </a:r>
            <a:r>
              <a:rPr lang="en-US" b="1" dirty="0" err="1" smtClean="0"/>
              <a:t>Abstraction:</a:t>
            </a:r>
            <a:r>
              <a:rPr lang="en-US" dirty="0" err="1" smtClean="0"/>
              <a:t>The</a:t>
            </a:r>
            <a:r>
              <a:rPr lang="en-US" dirty="0" smtClean="0"/>
              <a:t> major contribution of </a:t>
            </a:r>
            <a:r>
              <a:rPr lang="en-US" dirty="0" err="1" smtClean="0"/>
              <a:t>DataFrames</a:t>
            </a:r>
            <a:r>
              <a:rPr lang="en-US" dirty="0" smtClean="0"/>
              <a:t> is providing a </a:t>
            </a:r>
            <a:r>
              <a:rPr lang="en-US" b="1" dirty="0" smtClean="0"/>
              <a:t>Higher Level Abstraction</a:t>
            </a:r>
            <a:r>
              <a:rPr lang="en-US" dirty="0" smtClean="0"/>
              <a:t> for developers.</a:t>
            </a:r>
          </a:p>
          <a:p>
            <a:r>
              <a:rPr lang="en-US" b="1" dirty="0" smtClean="0"/>
              <a:t>Why Abstraction Matters:</a:t>
            </a:r>
            <a:r>
              <a:rPr lang="en-US" dirty="0" smtClean="0"/>
              <a:t> Instead of programming at the low level of "how" to process individual bytes (like with RDD Pair transformations), you focus on "what" to process (e.g., "Select '</a:t>
            </a:r>
            <a:r>
              <a:rPr lang="en-US" dirty="0" err="1" smtClean="0"/>
              <a:t>CustomerName</a:t>
            </a:r>
            <a:r>
              <a:rPr lang="en-US" dirty="0" smtClean="0"/>
              <a:t>', Join 'Products'").</a:t>
            </a:r>
          </a:p>
          <a:p>
            <a:r>
              <a:rPr lang="en-US" b="1" dirty="0" smtClean="0"/>
              <a:t>Processing Capabilities:</a:t>
            </a:r>
            <a:r>
              <a:rPr lang="en-US" dirty="0" smtClean="0"/>
              <a:t> The DataFrame API is specifically designed for efficiently processing </a:t>
            </a:r>
            <a:r>
              <a:rPr lang="en-US" b="1" dirty="0" smtClean="0"/>
              <a:t>large amounts of structured and semi-structured data</a:t>
            </a:r>
            <a:r>
              <a:rPr lang="en-US" dirty="0" smtClean="0"/>
              <a:t>.</a:t>
            </a:r>
          </a:p>
          <a:p>
            <a:r>
              <a:rPr lang="en-US" b="1" dirty="0" smtClean="0"/>
              <a:t>Imposing Structure:</a:t>
            </a:r>
            <a:r>
              <a:rPr lang="en-US" dirty="0" smtClean="0"/>
              <a:t> Spark enables you to </a:t>
            </a:r>
            <a:r>
              <a:rPr lang="en-US" b="1" dirty="0" smtClean="0"/>
              <a:t>impose structure onto any distributed collection of data</a:t>
            </a:r>
            <a:r>
              <a:rPr lang="en-US" dirty="0" smtClean="0"/>
              <a:t> (like JSON or CSV), unlocking rich relational and SQL-like capabilities.</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7</a:t>
            </a:fld>
            <a:endParaRPr lang="en-US"/>
          </a:p>
        </p:txBody>
      </p:sp>
    </p:spTree>
    <p:extLst>
      <p:ext uri="{BB962C8B-B14F-4D97-AF65-F5344CB8AC3E}">
        <p14:creationId xmlns:p14="http://schemas.microsoft.com/office/powerpoint/2010/main" val="2578808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structured view is what allows Spark to "peek" into your data and apply clever optimizations that are impossible with the "black box" nature of RDDs.</a:t>
            </a:r>
          </a:p>
          <a:p>
            <a:endParaRPr lang="en-US" dirty="0" smtClean="0"/>
          </a:p>
          <a:p>
            <a:r>
              <a:rPr lang="en-US" dirty="0" smtClean="0"/>
              <a:t>Tungsten turns Spark into a </a:t>
            </a:r>
            <a:r>
              <a:rPr lang="en-US" b="1" dirty="0" smtClean="0"/>
              <a:t>database-like engine</a:t>
            </a:r>
            <a:r>
              <a:rPr lang="en-US" dirty="0" smtClean="0"/>
              <a:t>, not just a collection of Java objects.</a:t>
            </a:r>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DataFrame API</a:t>
            </a:r>
            <a:br>
              <a:rPr lang="en-US" dirty="0" smtClean="0"/>
            </a:br>
            <a:r>
              <a:rPr lang="en-US" dirty="0" smtClean="0"/>
              <a:t>↓</a:t>
            </a:r>
            <a:br>
              <a:rPr lang="en-US" dirty="0" smtClean="0"/>
            </a:br>
            <a:r>
              <a:rPr lang="en-US" dirty="0" smtClean="0"/>
              <a:t>Optimized Plan</a:t>
            </a:r>
            <a:br>
              <a:rPr lang="en-US" dirty="0" smtClean="0"/>
            </a:br>
            <a:r>
              <a:rPr lang="en-US" dirty="0" smtClean="0"/>
              <a:t>↓</a:t>
            </a:r>
            <a:br>
              <a:rPr lang="en-US" dirty="0" smtClean="0"/>
            </a:br>
            <a:r>
              <a:rPr lang="en-US" dirty="0" smtClean="0"/>
              <a:t>RDD Execution</a:t>
            </a:r>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DataFrames</a:t>
            </a:r>
            <a:r>
              <a:rPr lang="en-US" dirty="0" smtClean="0"/>
              <a:t> provide </a:t>
            </a:r>
            <a:r>
              <a:rPr lang="en-US" b="1" dirty="0" smtClean="0"/>
              <a:t>higher abstraction</a:t>
            </a:r>
            <a:r>
              <a:rPr lang="en-US" dirty="0" smtClean="0"/>
              <a:t>, but execution still happens using </a:t>
            </a:r>
            <a:r>
              <a:rPr lang="en-US" b="1" dirty="0" smtClean="0"/>
              <a:t>RDDs internally</a:t>
            </a:r>
            <a:endParaRPr lang="en-US" dirty="0" smtClean="0"/>
          </a:p>
          <a:p>
            <a:r>
              <a:rPr lang="en-US" sz="1200" b="1" i="0" kern="1200" dirty="0" smtClean="0">
                <a:solidFill>
                  <a:schemeClr val="tx1"/>
                </a:solidFill>
                <a:effectLst/>
                <a:latin typeface="+mn-lt"/>
                <a:ea typeface="+mn-ea"/>
                <a:cs typeface="+mn-cs"/>
              </a:rPr>
              <a:t>all high-level APIs eventually translate down to RDD-based execution at the task level.</a:t>
            </a:r>
            <a:endParaRPr lang="en-US" sz="1200" b="0" i="0" kern="1200" dirty="0" smtClean="0">
              <a:solidFill>
                <a:schemeClr val="tx1"/>
              </a:solidFill>
              <a:effectLst/>
              <a:latin typeface="+mn-lt"/>
              <a:ea typeface="+mn-ea"/>
              <a:cs typeface="+mn-cs"/>
            </a:endParaRPr>
          </a:p>
          <a:p>
            <a:r>
              <a:rPr lang="en-US" dirty="0" smtClean="0"/>
              <a:t/>
            </a:r>
            <a:br>
              <a:rPr lang="en-US" dirty="0" smtClean="0"/>
            </a:br>
            <a:r>
              <a:rPr lang="en-US" sz="1200" b="1" i="0" kern="1200" dirty="0" smtClean="0">
                <a:solidFill>
                  <a:schemeClr val="tx1"/>
                </a:solidFill>
                <a:effectLst/>
                <a:latin typeface="+mn-lt"/>
                <a:ea typeface="+mn-ea"/>
                <a:cs typeface="+mn-cs"/>
              </a:rPr>
              <a:t>High-Level APIs Are Just Front Ends </a:t>
            </a:r>
            <a:r>
              <a:rPr lang="en-US" sz="1200" b="0" i="0" kern="1200" dirty="0" smtClean="0">
                <a:solidFill>
                  <a:schemeClr val="tx1"/>
                </a:solidFill>
                <a:effectLst/>
                <a:latin typeface="+mn-lt"/>
                <a:ea typeface="+mn-ea"/>
                <a:cs typeface="+mn-cs"/>
              </a:rPr>
              <a:t>Whether you use the DataFrame API, Dataset API, or Spark SQL, these are simply abstractions designed to make development easier and more expressive. At execution time, Spark does not differentiate between them they all follow the same underlying execution model.</a:t>
            </a:r>
          </a:p>
          <a:p>
            <a:endParaRPr lang="en-US" dirty="0" smtClean="0"/>
          </a:p>
          <a:p>
            <a:r>
              <a:rPr lang="en-US" b="1" dirty="0" smtClean="0"/>
              <a:t>Strategic Purpose and Value of </a:t>
            </a:r>
            <a:r>
              <a:rPr lang="en-US" b="1" dirty="0" err="1" smtClean="0"/>
              <a:t>DataFrames</a:t>
            </a:r>
            <a:endParaRPr lang="en-US" b="1" dirty="0" smtClean="0"/>
          </a:p>
          <a:p>
            <a:r>
              <a:rPr lang="en-US" b="1" dirty="0" smtClean="0"/>
              <a:t>Higher Level </a:t>
            </a:r>
            <a:r>
              <a:rPr lang="en-US" b="1" dirty="0" err="1" smtClean="0"/>
              <a:t>Abstraction:</a:t>
            </a:r>
            <a:r>
              <a:rPr lang="en-US" dirty="0" err="1" smtClean="0"/>
              <a:t>The</a:t>
            </a:r>
            <a:r>
              <a:rPr lang="en-US" dirty="0" smtClean="0"/>
              <a:t> major contribution of </a:t>
            </a:r>
            <a:r>
              <a:rPr lang="en-US" dirty="0" err="1" smtClean="0"/>
              <a:t>DataFrames</a:t>
            </a:r>
            <a:r>
              <a:rPr lang="en-US" dirty="0" smtClean="0"/>
              <a:t> is providing a </a:t>
            </a:r>
            <a:r>
              <a:rPr lang="en-US" b="1" dirty="0" smtClean="0"/>
              <a:t>Higher Level Abstraction</a:t>
            </a:r>
            <a:r>
              <a:rPr lang="en-US" dirty="0" smtClean="0"/>
              <a:t> for developers.</a:t>
            </a:r>
          </a:p>
          <a:p>
            <a:r>
              <a:rPr lang="en-US" b="1" dirty="0" smtClean="0"/>
              <a:t>Why Abstraction Matters:</a:t>
            </a:r>
            <a:r>
              <a:rPr lang="en-US" dirty="0" smtClean="0"/>
              <a:t> Instead of programming at the low level of "how" to process individual bytes (like with RDD Pair transformations), you focus on "what" to process (e.g., "Select '</a:t>
            </a:r>
            <a:r>
              <a:rPr lang="en-US" dirty="0" err="1" smtClean="0"/>
              <a:t>CustomerName</a:t>
            </a:r>
            <a:r>
              <a:rPr lang="en-US" dirty="0" smtClean="0"/>
              <a:t>', Join 'Products'").</a:t>
            </a:r>
          </a:p>
          <a:p>
            <a:r>
              <a:rPr lang="en-US" b="1" dirty="0" smtClean="0"/>
              <a:t>Processing Capabilities:</a:t>
            </a:r>
            <a:r>
              <a:rPr lang="en-US" dirty="0" smtClean="0"/>
              <a:t> The DataFrame API is specifically designed for efficiently processing </a:t>
            </a:r>
            <a:r>
              <a:rPr lang="en-US" b="1" dirty="0" smtClean="0"/>
              <a:t>large amounts of structured and semi-structured data</a:t>
            </a:r>
            <a:r>
              <a:rPr lang="en-US" dirty="0" smtClean="0"/>
              <a:t>.</a:t>
            </a:r>
          </a:p>
          <a:p>
            <a:r>
              <a:rPr lang="en-US" b="1" dirty="0" smtClean="0"/>
              <a:t>Imposing Structure:</a:t>
            </a:r>
            <a:r>
              <a:rPr lang="en-US" dirty="0" smtClean="0"/>
              <a:t> Spark enables you to </a:t>
            </a:r>
            <a:r>
              <a:rPr lang="en-US" b="1" dirty="0" smtClean="0"/>
              <a:t>impose structure onto any distributed collection of data</a:t>
            </a:r>
            <a:r>
              <a:rPr lang="en-US" dirty="0" smtClean="0"/>
              <a:t> (like JSON or CSV), unlocking rich relational and SQL-like capabilities.</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8</a:t>
            </a:fld>
            <a:endParaRPr lang="en-US"/>
          </a:p>
        </p:txBody>
      </p:sp>
    </p:spTree>
    <p:extLst>
      <p:ext uri="{BB962C8B-B14F-4D97-AF65-F5344CB8AC3E}">
        <p14:creationId xmlns:p14="http://schemas.microsoft.com/office/powerpoint/2010/main" val="1827531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rPr>
              <a:t>Performance Optimization:</a:t>
            </a:r>
            <a:r>
              <a:rPr kumimoji="0" lang="en-US" altLang="en-US" sz="1200" b="0" i="0" u="none" strike="noStrike" cap="none" normalizeH="0" baseline="0" dirty="0" smtClean="0">
                <a:ln>
                  <a:noFill/>
                </a:ln>
                <a:solidFill>
                  <a:schemeClr val="tx1"/>
                </a:solidFill>
                <a:effectLst/>
              </a:rPr>
              <a:t> Catalyst + Tungsten engine.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rPr>
              <a:t>Memory Efficiency:</a:t>
            </a:r>
            <a:r>
              <a:rPr kumimoji="0" lang="en-US" altLang="en-US" sz="1200" b="0" i="0" u="none" strike="noStrike" cap="none" normalizeH="0" baseline="0" dirty="0" smtClean="0">
                <a:ln>
                  <a:noFill/>
                </a:ln>
                <a:solidFill>
                  <a:schemeClr val="tx1"/>
                </a:solidFill>
                <a:effectLst/>
              </a:rPr>
              <a:t> Columnar storage, reduced overhead.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rPr>
              <a:t>Simpler Syntax:</a:t>
            </a:r>
            <a:r>
              <a:rPr kumimoji="0" lang="en-US" altLang="en-US" sz="1200" b="0" i="0" u="none" strike="noStrike" cap="none" normalizeH="0" baseline="0" dirty="0" smtClean="0">
                <a:ln>
                  <a:noFill/>
                </a:ln>
                <a:solidFill>
                  <a:schemeClr val="tx1"/>
                </a:solidFill>
                <a:effectLst/>
              </a:rPr>
              <a:t> SQL-like operations instead of verbose RDD code.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dirty="0" smtClean="0"/>
              <a:t>While RDD is a "black box" of data, a DataFrame acts as a </a:t>
            </a:r>
            <a:r>
              <a:rPr lang="en-US" b="1" dirty="0" smtClean="0"/>
              <a:t>Relational Table with good optimization techniques</a:t>
            </a:r>
            <a:r>
              <a:rPr lang="en-US" dirty="0" smtClean="0"/>
              <a:t> already applied.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smtClean="0">
              <a:ln>
                <a:noFill/>
              </a:ln>
              <a:solidFill>
                <a:schemeClr val="tx1"/>
              </a:solidFill>
              <a:effectLst/>
            </a:endParaRP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9</a:t>
            </a:fld>
            <a:endParaRPr lang="en-US"/>
          </a:p>
        </p:txBody>
      </p:sp>
    </p:spTree>
    <p:extLst>
      <p:ext uri="{BB962C8B-B14F-4D97-AF65-F5344CB8AC3E}">
        <p14:creationId xmlns:p14="http://schemas.microsoft.com/office/powerpoint/2010/main" val="2449159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RDDs are </a:t>
            </a:r>
            <a:r>
              <a:rPr lang="en-US" i="1" dirty="0" smtClean="0"/>
              <a:t>unstructured collections of objects</a:t>
            </a:r>
            <a:r>
              <a:rPr lang="en-US" dirty="0" smtClean="0"/>
              <a:t>. Spark doesn’t know the schema, so you must manually use map, filter, reduce.</a:t>
            </a:r>
          </a:p>
          <a:p>
            <a:r>
              <a:rPr lang="en-US" dirty="0" err="1" smtClean="0"/>
              <a:t>DataFrames</a:t>
            </a:r>
            <a:r>
              <a:rPr lang="en-US" dirty="0" smtClean="0"/>
              <a:t> are </a:t>
            </a:r>
            <a:r>
              <a:rPr lang="en-US" i="1" dirty="0" smtClean="0"/>
              <a:t>structured tables with schema</a:t>
            </a:r>
            <a:r>
              <a:rPr lang="en-US" dirty="0" smtClean="0"/>
              <a:t>. Spark knows column names and types, enabling Catalyst Optimizer to rewrite queries.</a:t>
            </a:r>
          </a:p>
          <a:p>
            <a:r>
              <a:rPr lang="en-US" dirty="0" smtClean="0"/>
              <a:t>SQL queries are </a:t>
            </a:r>
            <a:r>
              <a:rPr lang="en-US" i="1" dirty="0" smtClean="0"/>
              <a:t>declarative</a:t>
            </a:r>
            <a:r>
              <a:rPr lang="en-US" dirty="0" smtClean="0"/>
              <a:t>. You describe </a:t>
            </a:r>
            <a:r>
              <a:rPr lang="en-US" i="1" dirty="0" smtClean="0"/>
              <a:t>what</a:t>
            </a:r>
            <a:r>
              <a:rPr lang="en-US" dirty="0" smtClean="0"/>
              <a:t> you want, Spark decides </a:t>
            </a:r>
            <a:r>
              <a:rPr lang="en-US" i="1" dirty="0" smtClean="0"/>
              <a:t>how</a:t>
            </a:r>
            <a:r>
              <a:rPr lang="en-US" dirty="0" smtClean="0"/>
              <a:t> to execute it efficiently.</a:t>
            </a:r>
          </a:p>
          <a:p>
            <a:endParaRPr lang="en-US" dirty="0" smtClean="0"/>
          </a:p>
          <a:p>
            <a:endParaRPr lang="en-US" b="1" dirty="0" smtClean="0"/>
          </a:p>
          <a:p>
            <a:r>
              <a:rPr lang="en-US" b="1" dirty="0" smtClean="0"/>
              <a:t>RDD = raw objects, DataFrame = schema-aware table, SQL = high-level declarative language</a:t>
            </a:r>
            <a:endParaRPr lang="en-US" b="1" dirty="0"/>
          </a:p>
        </p:txBody>
      </p:sp>
      <p:sp>
        <p:nvSpPr>
          <p:cNvPr id="4" name="Slide Number Placeholder 3"/>
          <p:cNvSpPr>
            <a:spLocks noGrp="1"/>
          </p:cNvSpPr>
          <p:nvPr>
            <p:ph type="sldNum" sz="quarter" idx="10"/>
          </p:nvPr>
        </p:nvSpPr>
        <p:spPr/>
        <p:txBody>
          <a:bodyPr/>
          <a:lstStyle/>
          <a:p>
            <a:fld id="{EB363088-F16C-4FAF-8BB4-7C6C9F3D1EC9}" type="slidenum">
              <a:rPr lang="en-US" smtClean="0"/>
              <a:t>10</a:t>
            </a:fld>
            <a:endParaRPr lang="en-US"/>
          </a:p>
        </p:txBody>
      </p:sp>
    </p:spTree>
    <p:extLst>
      <p:ext uri="{BB962C8B-B14F-4D97-AF65-F5344CB8AC3E}">
        <p14:creationId xmlns:p14="http://schemas.microsoft.com/office/powerpoint/2010/main" val="808252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smtClean="0">
                <a:solidFill>
                  <a:schemeClr val="tx1"/>
                </a:solidFill>
                <a:effectLst/>
                <a:latin typeface="+mn-lt"/>
                <a:ea typeface="+mn-ea"/>
                <a:cs typeface="+mn-cs"/>
              </a:rPr>
              <a:t>df.select</a:t>
            </a:r>
            <a:r>
              <a:rPr lang="en-US" sz="1200" b="0" i="0" kern="1200" dirty="0" smtClean="0">
                <a:solidFill>
                  <a:schemeClr val="tx1"/>
                </a:solidFill>
                <a:effectLst/>
                <a:latin typeface="+mn-lt"/>
                <a:ea typeface="+mn-ea"/>
                <a:cs typeface="+mn-cs"/>
              </a:rPr>
              <a:t>(col("Age") * 2).show()</a:t>
            </a:r>
          </a:p>
          <a:p>
            <a:endParaRPr lang="en-US" dirty="0" smtClean="0"/>
          </a:p>
          <a:p>
            <a:r>
              <a:rPr lang="en-US" sz="1200" b="0" i="0" kern="1200" dirty="0" smtClean="0">
                <a:solidFill>
                  <a:schemeClr val="tx1"/>
                </a:solidFill>
                <a:effectLst/>
                <a:latin typeface="+mn-lt"/>
                <a:ea typeface="+mn-ea"/>
                <a:cs typeface="+mn-cs"/>
              </a:rPr>
              <a:t>where() is an alias for filter(), and both can be used interchangeably.</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Available join types include: inner, left, right, outer.</a:t>
            </a:r>
          </a:p>
          <a:p>
            <a:r>
              <a:rPr lang="en-US" sz="1200" b="0" i="0" kern="1200" dirty="0" smtClean="0">
                <a:solidFill>
                  <a:schemeClr val="tx1"/>
                </a:solidFill>
                <a:effectLst/>
                <a:latin typeface="+mn-lt"/>
                <a:ea typeface="+mn-ea"/>
                <a:cs typeface="+mn-cs"/>
              </a:rPr>
              <a:t>Using aliases avoids column ambiguity and keeps queries readable.</a:t>
            </a:r>
          </a:p>
          <a:p>
            <a:r>
              <a:rPr lang="en-US" dirty="0" smtClean="0"/>
              <a:t/>
            </a:r>
            <a:br>
              <a:rPr lang="en-US" dirty="0" smtClean="0"/>
            </a:br>
            <a:endParaRPr lang="en-US" dirty="0" smtClean="0"/>
          </a:p>
          <a:p>
            <a:r>
              <a:rPr lang="en-US" dirty="0" smtClean="0"/>
              <a:t/>
            </a:r>
            <a:br>
              <a:rPr lang="en-US" dirty="0" smtClean="0"/>
            </a:br>
            <a:endParaRPr lang="en-US" sz="1200" b="0" i="0" kern="1200" dirty="0" smtClean="0">
              <a:solidFill>
                <a:schemeClr val="tx1"/>
              </a:solidFill>
              <a:effectLst/>
              <a:latin typeface="+mn-lt"/>
              <a:ea typeface="+mn-ea"/>
              <a:cs typeface="+mn-cs"/>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11</a:t>
            </a:fld>
            <a:endParaRPr lang="en-US"/>
          </a:p>
        </p:txBody>
      </p:sp>
    </p:spTree>
    <p:extLst>
      <p:ext uri="{BB962C8B-B14F-4D97-AF65-F5344CB8AC3E}">
        <p14:creationId xmlns:p14="http://schemas.microsoft.com/office/powerpoint/2010/main" val="801139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Both APIs generate a </a:t>
            </a:r>
            <a:r>
              <a:rPr lang="en-US" b="1" dirty="0" smtClean="0">
                <a:effectLst/>
              </a:rPr>
              <a:t>logical plan → optimized plan → physical plan → RDD execution</a:t>
            </a:r>
            <a:r>
              <a:rPr lang="en-US" dirty="0" smtClean="0">
                <a:effectLst/>
              </a:rPr>
              <a:t>.</a:t>
            </a:r>
            <a:endParaRPr lang="en-US" dirty="0" smtClean="0"/>
          </a:p>
          <a:p>
            <a:r>
              <a:rPr lang="en-US" b="1" dirty="0" smtClean="0">
                <a:effectLst/>
              </a:rPr>
              <a:t>Performance is identical</a:t>
            </a:r>
            <a:r>
              <a:rPr lang="en-US" dirty="0" smtClean="0">
                <a:effectLst/>
              </a:rPr>
              <a:t> because both use the </a:t>
            </a:r>
            <a:r>
              <a:rPr lang="en-US" b="1" dirty="0" smtClean="0">
                <a:effectLst/>
              </a:rPr>
              <a:t>Catalyst Optimizer</a:t>
            </a:r>
            <a:r>
              <a:rPr lang="en-US" dirty="0" smtClean="0">
                <a:effectLst/>
              </a:rPr>
              <a:t> and </a:t>
            </a:r>
            <a:r>
              <a:rPr lang="en-US" b="1" dirty="0" smtClean="0">
                <a:effectLst/>
              </a:rPr>
              <a:t>Tungsten Engine</a:t>
            </a:r>
            <a:r>
              <a:rPr lang="en-US" dirty="0" smtClean="0">
                <a:effectLst/>
              </a:rPr>
              <a:t>.</a:t>
            </a:r>
            <a:endParaRPr lang="en-US" dirty="0" smtClean="0"/>
          </a:p>
          <a:p>
            <a:r>
              <a:rPr lang="en-US" dirty="0" smtClean="0">
                <a:effectLst/>
              </a:rPr>
              <a:t>Choice depends on </a:t>
            </a:r>
            <a:r>
              <a:rPr lang="en-US" b="1" dirty="0" smtClean="0">
                <a:effectLst/>
              </a:rPr>
              <a:t>workflow style</a:t>
            </a:r>
            <a:r>
              <a:rPr lang="en-US" dirty="0" smtClean="0">
                <a:effectLst/>
              </a:rPr>
              <a:t>: SQL for declarative queries, DataFrame API for programmatic pipelines.</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13</a:t>
            </a:fld>
            <a:endParaRPr lang="en-US"/>
          </a:p>
        </p:txBody>
      </p:sp>
    </p:spTree>
    <p:extLst>
      <p:ext uri="{BB962C8B-B14F-4D97-AF65-F5344CB8AC3E}">
        <p14:creationId xmlns:p14="http://schemas.microsoft.com/office/powerpoint/2010/main" val="1512479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Core idea:</a:t>
            </a:r>
          </a:p>
          <a:p>
            <a:r>
              <a:rPr lang="en-US" dirty="0" smtClean="0"/>
              <a:t>➡️ Spark does </a:t>
            </a:r>
            <a:r>
              <a:rPr lang="en-US" b="1" dirty="0" smtClean="0"/>
              <a:t>not execute queries immediately</a:t>
            </a:r>
            <a:r>
              <a:rPr lang="en-US" dirty="0" smtClean="0"/>
              <a:t/>
            </a:r>
            <a:br>
              <a:rPr lang="en-US" dirty="0" smtClean="0"/>
            </a:br>
            <a:r>
              <a:rPr lang="en-US" dirty="0" smtClean="0"/>
              <a:t>➡️ It builds and optimizes an execution plan before running</a:t>
            </a:r>
          </a:p>
          <a:p>
            <a:endParaRPr lang="en-US" dirty="0" smtClean="0"/>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Build → Optimize → Execute</a:t>
            </a:r>
          </a:p>
          <a:p>
            <a:r>
              <a:rPr lang="en-US" dirty="0" smtClean="0"/>
              <a:t> User Query / DataFrame</a:t>
            </a:r>
          </a:p>
          <a:p>
            <a:r>
              <a:rPr lang="en-US" dirty="0" smtClean="0"/>
              <a:t>                 │</a:t>
            </a:r>
          </a:p>
          <a:p>
            <a:r>
              <a:rPr lang="en-US" dirty="0" smtClean="0"/>
              <a:t>                 ▼</a:t>
            </a:r>
          </a:p>
          <a:p>
            <a:r>
              <a:rPr lang="en-US" dirty="0" smtClean="0"/>
              <a:t>        (Lazy Evaluation: No Execution)</a:t>
            </a:r>
          </a:p>
          <a:p>
            <a:r>
              <a:rPr lang="en-US" dirty="0" smtClean="0"/>
              <a:t>                 │</a:t>
            </a:r>
          </a:p>
          <a:p>
            <a:r>
              <a:rPr lang="en-US" dirty="0" smtClean="0"/>
              <a:t>                 ▼</a:t>
            </a:r>
          </a:p>
          <a:p>
            <a:r>
              <a:rPr lang="en-US" dirty="0" smtClean="0"/>
              <a:t>        Optimized Execution Plan</a:t>
            </a:r>
          </a:p>
          <a:p>
            <a:r>
              <a:rPr lang="en-US" dirty="0" smtClean="0"/>
              <a:t>                 │</a:t>
            </a:r>
          </a:p>
          <a:p>
            <a:r>
              <a:rPr lang="en-US" dirty="0" smtClean="0"/>
              <a:t>                 ▼</a:t>
            </a:r>
          </a:p>
          <a:p>
            <a:r>
              <a:rPr lang="en-US" dirty="0" smtClean="0"/>
              <a:t>               Result</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14</a:t>
            </a:fld>
            <a:endParaRPr lang="en-US"/>
          </a:p>
        </p:txBody>
      </p:sp>
    </p:spTree>
    <p:extLst>
      <p:ext uri="{BB962C8B-B14F-4D97-AF65-F5344CB8AC3E}">
        <p14:creationId xmlns:p14="http://schemas.microsoft.com/office/powerpoint/2010/main" val="634163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https://data-flair.training/blogs/apache-spark-rdd-vs-dataframe-vs-dataset</a:t>
            </a:r>
            <a:r>
              <a:rPr lang="en-US" dirty="0" smtClean="0"/>
              <a:t>/</a:t>
            </a:r>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In Spark’s </a:t>
            </a:r>
            <a:r>
              <a:rPr lang="en-US" b="1" dirty="0" smtClean="0">
                <a:effectLst/>
              </a:rPr>
              <a:t>Catalyst Optimizer</a:t>
            </a:r>
            <a:r>
              <a:rPr lang="en-US" dirty="0" smtClean="0">
                <a:effectLst/>
              </a:rPr>
              <a:t>, “resolving attributes” refers to the process of </a:t>
            </a:r>
            <a:r>
              <a:rPr lang="en-US" b="1" dirty="0" smtClean="0">
                <a:effectLst/>
              </a:rPr>
              <a:t>matching column names and expressions in your query to actual fields in the dataset</a:t>
            </a:r>
            <a:r>
              <a:rPr lang="en-US" dirty="0" smtClean="0">
                <a:effectLst/>
              </a:rPr>
              <a:t> during query analysis.</a:t>
            </a:r>
            <a:endParaRPr lang="en-US" dirty="0" smtClean="0"/>
          </a:p>
          <a:p>
            <a:endParaRPr lang="en-US" dirty="0" smtClean="0"/>
          </a:p>
          <a:p>
            <a:r>
              <a:rPr lang="en-US" dirty="0" smtClean="0">
                <a:effectLst/>
              </a:rPr>
              <a:t>When you write a query like</a:t>
            </a:r>
            <a:endParaRPr lang="en-US" dirty="0" smtClean="0"/>
          </a:p>
          <a:p>
            <a:r>
              <a:rPr lang="en-US" b="1" dirty="0" smtClean="0">
                <a:effectLst/>
              </a:rPr>
              <a:t>SELECT name, age FROM people WHERE age &gt; 30 </a:t>
            </a:r>
          </a:p>
          <a:p>
            <a:r>
              <a:rPr lang="en-US" dirty="0" smtClean="0">
                <a:effectLst/>
              </a:rPr>
              <a:t>Spark first builds a logical plan, but at this stage, name and age are just </a:t>
            </a:r>
            <a:r>
              <a:rPr lang="en-US" b="1" dirty="0" smtClean="0">
                <a:effectLst/>
              </a:rPr>
              <a:t>symbols</a:t>
            </a:r>
            <a:r>
              <a:rPr lang="en-US" dirty="0" smtClean="0">
                <a:effectLst/>
              </a:rPr>
              <a:t> — Spark doesn’t yet know where they come from.</a:t>
            </a:r>
            <a:endParaRPr lang="en-US" dirty="0" smtClean="0"/>
          </a:p>
          <a:p>
            <a:r>
              <a:rPr lang="en-US" b="1" dirty="0" smtClean="0">
                <a:effectLst/>
              </a:rPr>
              <a:t>Attribute Resolution:</a:t>
            </a:r>
            <a:r>
              <a:rPr lang="en-US" dirty="0" smtClean="0">
                <a:effectLst/>
              </a:rPr>
              <a:t> Catalyst then </a:t>
            </a:r>
            <a:r>
              <a:rPr lang="en-US" b="1" dirty="0" smtClean="0">
                <a:effectLst/>
              </a:rPr>
              <a:t>resolves</a:t>
            </a:r>
            <a:r>
              <a:rPr lang="en-US" dirty="0" smtClean="0">
                <a:effectLst/>
              </a:rPr>
              <a:t> these attributes by checking the schema of the people </a:t>
            </a:r>
            <a:r>
              <a:rPr lang="en-US" dirty="0" err="1" smtClean="0">
                <a:effectLst/>
              </a:rPr>
              <a:t>DataFrame</a:t>
            </a:r>
            <a:r>
              <a:rPr lang="en-US" dirty="0" smtClean="0">
                <a:effectLst/>
              </a:rPr>
              <a:t> or table. It verifies that:</a:t>
            </a:r>
            <a:endParaRPr lang="en-US" dirty="0" smtClean="0"/>
          </a:p>
          <a:p>
            <a:r>
              <a:rPr lang="en-US" dirty="0" smtClean="0">
                <a:effectLst/>
              </a:rPr>
              <a:t>name and age exist in the dataset.</a:t>
            </a:r>
            <a:endParaRPr lang="en-US" dirty="0" smtClean="0"/>
          </a:p>
          <a:p>
            <a:r>
              <a:rPr lang="en-US" dirty="0" smtClean="0">
                <a:effectLst/>
              </a:rPr>
              <a:t>Their data types are compatible with the operations (e.g., age &gt; 30 is valid because age is numeric).</a:t>
            </a:r>
            <a:endParaRPr lang="en-US" dirty="0" smtClean="0"/>
          </a:p>
          <a:p>
            <a:r>
              <a:rPr lang="en-US" b="1" dirty="0" smtClean="0">
                <a:effectLst/>
              </a:rPr>
              <a:t>Resolved Logical Plan:</a:t>
            </a:r>
            <a:r>
              <a:rPr lang="en-US" dirty="0" smtClean="0">
                <a:effectLst/>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After resolution, Spark replaces symbolic references with </a:t>
            </a:r>
            <a:r>
              <a:rPr lang="en-US" b="1" dirty="0" smtClean="0">
                <a:effectLst/>
              </a:rPr>
              <a:t>actual column objects</a:t>
            </a:r>
            <a:r>
              <a:rPr lang="en-US" dirty="0" smtClean="0">
                <a:effectLst/>
              </a:rPr>
              <a:t> tied to the dataset’s schema. This ensures the query is valid and ready for optimization.</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15</a:t>
            </a:fld>
            <a:endParaRPr lang="en-US"/>
          </a:p>
        </p:txBody>
      </p:sp>
    </p:spTree>
    <p:extLst>
      <p:ext uri="{BB962C8B-B14F-4D97-AF65-F5344CB8AC3E}">
        <p14:creationId xmlns:p14="http://schemas.microsoft.com/office/powerpoint/2010/main" val="4022585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[SQL Query / DataFrame]</a:t>
            </a:r>
          </a:p>
          <a:p>
            <a:r>
              <a:rPr lang="en-US" b="1" dirty="0" smtClean="0"/>
              <a:t>                    │</a:t>
            </a:r>
          </a:p>
          <a:p>
            <a:r>
              <a:rPr lang="en-US" b="1" dirty="0" smtClean="0"/>
              <a:t>                    ▼</a:t>
            </a:r>
          </a:p>
          <a:p>
            <a:r>
              <a:rPr lang="en-US" b="1" dirty="0" smtClean="0"/>
              <a:t>              [Analysis Phase]</a:t>
            </a:r>
          </a:p>
          <a:p>
            <a:r>
              <a:rPr lang="en-US" b="1" dirty="0" smtClean="0"/>
              <a:t>        (Resolve tables &amp; columns)</a:t>
            </a:r>
          </a:p>
          <a:p>
            <a:r>
              <a:rPr lang="en-US" b="1" dirty="0" smtClean="0"/>
              <a:t>                    │</a:t>
            </a:r>
          </a:p>
          <a:p>
            <a:r>
              <a:rPr lang="en-US" b="1" dirty="0" smtClean="0"/>
              <a:t>                    ▼</a:t>
            </a:r>
          </a:p>
          <a:p>
            <a:r>
              <a:rPr lang="en-US" b="1" dirty="0" smtClean="0"/>
              <a:t>        [Logical Optimization]</a:t>
            </a:r>
          </a:p>
          <a:p>
            <a:r>
              <a:rPr lang="en-US" b="1" dirty="0" smtClean="0"/>
              <a:t> (Filter pushdown, pruning, etc.)</a:t>
            </a:r>
          </a:p>
          <a:p>
            <a:r>
              <a:rPr lang="en-US" b="1" dirty="0" smtClean="0"/>
              <a:t>                    │</a:t>
            </a:r>
          </a:p>
          <a:p>
            <a:r>
              <a:rPr lang="en-US" b="1" dirty="0" smtClean="0"/>
              <a:t>                    ▼</a:t>
            </a:r>
          </a:p>
          <a:p>
            <a:r>
              <a:rPr lang="en-US" b="1" dirty="0" smtClean="0"/>
              <a:t>         [Physical Planning]</a:t>
            </a:r>
          </a:p>
          <a:p>
            <a:r>
              <a:rPr lang="en-US" b="1" dirty="0" smtClean="0"/>
              <a:t>     (Choose best execution plan)</a:t>
            </a:r>
          </a:p>
          <a:p>
            <a:r>
              <a:rPr lang="en-US" b="1" dirty="0" smtClean="0"/>
              <a:t>                    │</a:t>
            </a:r>
          </a:p>
          <a:p>
            <a:r>
              <a:rPr lang="en-US" b="1" dirty="0" smtClean="0"/>
              <a:t>                    ▼</a:t>
            </a:r>
          </a:p>
          <a:p>
            <a:r>
              <a:rPr lang="en-US" b="1" dirty="0" smtClean="0"/>
              <a:t>          [Code Generation]</a:t>
            </a:r>
          </a:p>
          <a:p>
            <a:r>
              <a:rPr lang="en-US" b="1" dirty="0" smtClean="0"/>
              <a:t>       (Generate Java bytecode)</a:t>
            </a:r>
          </a:p>
          <a:p>
            <a:r>
              <a:rPr lang="en-US" b="1" dirty="0" smtClean="0"/>
              <a:t>                    │</a:t>
            </a:r>
          </a:p>
          <a:p>
            <a:r>
              <a:rPr lang="en-US" b="1" dirty="0" smtClean="0"/>
              <a:t>                    ▼</a:t>
            </a:r>
          </a:p>
          <a:p>
            <a:r>
              <a:rPr lang="en-US" b="1" dirty="0" smtClean="0"/>
              <a:t>               [Execution]</a:t>
            </a:r>
          </a:p>
          <a:p>
            <a:endParaRPr lang="en-US" b="1" dirty="0" smtClean="0"/>
          </a:p>
          <a:p>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Physical Planning:</a:t>
            </a:r>
            <a:r>
              <a:rPr lang="en-US" sz="1200" b="0" i="0" kern="1200" dirty="0" smtClean="0">
                <a:solidFill>
                  <a:schemeClr val="tx1"/>
                </a:solidFill>
                <a:effectLst/>
                <a:latin typeface="+mn-lt"/>
                <a:ea typeface="+mn-ea"/>
                <a:cs typeface="+mn-cs"/>
              </a:rPr>
              <a:t> Catalyst generates multiple "Physical Plans" and uses a </a:t>
            </a:r>
            <a:r>
              <a:rPr lang="en-US" sz="1200" b="1" i="0" kern="1200" dirty="0" smtClean="0">
                <a:solidFill>
                  <a:schemeClr val="tx1"/>
                </a:solidFill>
                <a:effectLst/>
                <a:latin typeface="+mn-lt"/>
                <a:ea typeface="+mn-ea"/>
                <a:cs typeface="+mn-cs"/>
              </a:rPr>
              <a:t>Cost-Based Optimization (CBO)</a:t>
            </a:r>
            <a:r>
              <a:rPr lang="en-US" sz="1200" b="0" i="0" kern="1200" dirty="0" smtClean="0">
                <a:solidFill>
                  <a:schemeClr val="tx1"/>
                </a:solidFill>
                <a:effectLst/>
                <a:latin typeface="+mn-lt"/>
                <a:ea typeface="+mn-ea"/>
                <a:cs typeface="+mn-cs"/>
              </a:rPr>
              <a:t> model to select the most efficient one. It evaluates strategies for operations like joins (e.g., choosing a Broadcast Hash Join over a Sort Merge Join based on table size).</a:t>
            </a:r>
          </a:p>
          <a:p>
            <a:endParaRPr lang="en-US" dirty="0" smtClean="0"/>
          </a:p>
          <a:p>
            <a:endParaRPr lang="en-US" dirty="0" smtClean="0"/>
          </a:p>
          <a:p>
            <a:endParaRPr lang="en-US" dirty="0" smtClean="0"/>
          </a:p>
          <a:p>
            <a:r>
              <a:rPr lang="en-US" sz="1200" b="1" i="0" kern="1200" dirty="0" smtClean="0">
                <a:solidFill>
                  <a:schemeClr val="tx1"/>
                </a:solidFill>
                <a:effectLst/>
                <a:latin typeface="+mn-lt"/>
                <a:ea typeface="+mn-ea"/>
                <a:cs typeface="+mn-cs"/>
              </a:rPr>
              <a:t>Catalyst Optimizer Step-by-Step</a:t>
            </a:r>
          </a:p>
          <a:p>
            <a:r>
              <a:rPr lang="en-US" sz="1200" b="1" i="0" kern="1200" dirty="0" smtClean="0">
                <a:solidFill>
                  <a:schemeClr val="tx1"/>
                </a:solidFill>
                <a:effectLst/>
                <a:latin typeface="+mn-lt"/>
                <a:ea typeface="+mn-ea"/>
                <a:cs typeface="+mn-cs"/>
              </a:rPr>
              <a:t>Parsing &amp; Unresolved Logical Plan:</a:t>
            </a:r>
            <a:r>
              <a:rPr lang="en-US" sz="1200" b="0" i="0" kern="1200" dirty="0" smtClean="0">
                <a:solidFill>
                  <a:schemeClr val="tx1"/>
                </a:solidFill>
                <a:effectLst/>
                <a:latin typeface="+mn-lt"/>
                <a:ea typeface="+mn-ea"/>
                <a:cs typeface="+mn-cs"/>
              </a:rPr>
              <a:t> Spark reads the SQL or DataFrame code and turns it into an Abstract Syntax Tree (AST), creating a plan with unresolved table/column references.</a:t>
            </a:r>
          </a:p>
          <a:p>
            <a:r>
              <a:rPr lang="en-US" sz="1200" b="1" i="0" kern="1200" dirty="0" smtClean="0">
                <a:solidFill>
                  <a:schemeClr val="tx1"/>
                </a:solidFill>
                <a:effectLst/>
                <a:latin typeface="+mn-lt"/>
                <a:ea typeface="+mn-ea"/>
                <a:cs typeface="+mn-cs"/>
              </a:rPr>
              <a:t>Analysis:</a:t>
            </a:r>
            <a:r>
              <a:rPr lang="en-US" sz="1200" b="0" i="0" kern="1200" dirty="0" smtClean="0">
                <a:solidFill>
                  <a:schemeClr val="tx1"/>
                </a:solidFill>
                <a:effectLst/>
                <a:latin typeface="+mn-lt"/>
                <a:ea typeface="+mn-ea"/>
                <a:cs typeface="+mn-cs"/>
              </a:rPr>
              <a:t> Spark uses the Catalog (containing metadata) to resolve table and column names, verifying that requested columns exist and have the correct data types.</a:t>
            </a:r>
          </a:p>
          <a:p>
            <a:r>
              <a:rPr lang="en-US" sz="1200" b="1" i="0" kern="1200" dirty="0" smtClean="0">
                <a:solidFill>
                  <a:schemeClr val="tx1"/>
                </a:solidFill>
                <a:effectLst/>
                <a:latin typeface="+mn-lt"/>
                <a:ea typeface="+mn-ea"/>
                <a:cs typeface="+mn-cs"/>
              </a:rPr>
              <a:t>Logical Optimization:</a:t>
            </a:r>
            <a:r>
              <a:rPr lang="en-US" sz="1200" b="0" i="0" kern="1200" dirty="0" smtClean="0">
                <a:solidFill>
                  <a:schemeClr val="tx1"/>
                </a:solidFill>
                <a:effectLst/>
                <a:latin typeface="+mn-lt"/>
                <a:ea typeface="+mn-ea"/>
                <a:cs typeface="+mn-cs"/>
              </a:rPr>
              <a:t> Rules are applied to optimize the plan. Key techniques include:</a:t>
            </a:r>
          </a:p>
          <a:p>
            <a:pPr lvl="1"/>
            <a:r>
              <a:rPr lang="en-US" sz="1200" b="1" i="0" kern="1200" dirty="0" smtClean="0">
                <a:solidFill>
                  <a:schemeClr val="tx1"/>
                </a:solidFill>
                <a:effectLst/>
                <a:latin typeface="+mn-lt"/>
                <a:ea typeface="+mn-ea"/>
                <a:cs typeface="+mn-cs"/>
              </a:rPr>
              <a:t>Predicate Pushdown:</a:t>
            </a:r>
            <a:r>
              <a:rPr lang="en-US" sz="1200" b="0" i="0" kern="1200" dirty="0" smtClean="0">
                <a:solidFill>
                  <a:schemeClr val="tx1"/>
                </a:solidFill>
                <a:effectLst/>
                <a:latin typeface="+mn-lt"/>
                <a:ea typeface="+mn-ea"/>
                <a:cs typeface="+mn-cs"/>
              </a:rPr>
              <a:t> Filters are moved as close to the data source as possible (e.g., WHERE clauses).</a:t>
            </a:r>
          </a:p>
          <a:p>
            <a:pPr lvl="1"/>
            <a:r>
              <a:rPr lang="en-US" sz="1200" b="1" i="0" kern="1200" dirty="0" smtClean="0">
                <a:solidFill>
                  <a:schemeClr val="tx1"/>
                </a:solidFill>
                <a:effectLst/>
                <a:latin typeface="+mn-lt"/>
                <a:ea typeface="+mn-ea"/>
                <a:cs typeface="+mn-cs"/>
              </a:rPr>
              <a:t>Column Pruning:</a:t>
            </a:r>
            <a:r>
              <a:rPr lang="en-US" sz="1200" b="0" i="0" kern="1200" dirty="0" smtClean="0">
                <a:solidFill>
                  <a:schemeClr val="tx1"/>
                </a:solidFill>
                <a:effectLst/>
                <a:latin typeface="+mn-lt"/>
                <a:ea typeface="+mn-ea"/>
                <a:cs typeface="+mn-cs"/>
              </a:rPr>
              <a:t> Unused columns are removed early, reducing I/O.</a:t>
            </a:r>
          </a:p>
          <a:p>
            <a:pPr lvl="1"/>
            <a:r>
              <a:rPr lang="en-US" sz="1200" b="1" i="0" kern="1200" dirty="0" smtClean="0">
                <a:solidFill>
                  <a:schemeClr val="tx1"/>
                </a:solidFill>
                <a:effectLst/>
                <a:latin typeface="+mn-lt"/>
                <a:ea typeface="+mn-ea"/>
                <a:cs typeface="+mn-cs"/>
              </a:rPr>
              <a:t>Constant Folding:</a:t>
            </a:r>
            <a:r>
              <a:rPr lang="en-US" sz="1200" b="0" i="0" kern="1200" dirty="0" smtClean="0">
                <a:solidFill>
                  <a:schemeClr val="tx1"/>
                </a:solidFill>
                <a:effectLst/>
                <a:latin typeface="+mn-lt"/>
                <a:ea typeface="+mn-ea"/>
                <a:cs typeface="+mn-cs"/>
              </a:rPr>
              <a:t> Expressions like 2 + 2 are pre-computed to 4.</a:t>
            </a:r>
          </a:p>
          <a:p>
            <a:r>
              <a:rPr lang="en-US" sz="1200" b="1" i="0" kern="1200" dirty="0" smtClean="0">
                <a:solidFill>
                  <a:schemeClr val="tx1"/>
                </a:solidFill>
                <a:effectLst/>
                <a:latin typeface="+mn-lt"/>
                <a:ea typeface="+mn-ea"/>
                <a:cs typeface="+mn-cs"/>
              </a:rPr>
              <a:t>Physical Planning:</a:t>
            </a:r>
            <a:r>
              <a:rPr lang="en-US" sz="1200" b="0" i="0" kern="1200" dirty="0" smtClean="0">
                <a:solidFill>
                  <a:schemeClr val="tx1"/>
                </a:solidFill>
                <a:effectLst/>
                <a:latin typeface="+mn-lt"/>
                <a:ea typeface="+mn-ea"/>
                <a:cs typeface="+mn-cs"/>
              </a:rPr>
              <a:t> The optimized logical plan is converted into several physical plans, which are evaluated for efficiency (Cost-Based Optimization).</a:t>
            </a:r>
          </a:p>
          <a:p>
            <a:r>
              <a:rPr lang="en-US" sz="1200" b="1" i="0" kern="1200" dirty="0" smtClean="0">
                <a:solidFill>
                  <a:schemeClr val="tx1"/>
                </a:solidFill>
                <a:effectLst/>
                <a:latin typeface="+mn-lt"/>
                <a:ea typeface="+mn-ea"/>
                <a:cs typeface="+mn-cs"/>
              </a:rPr>
              <a:t>Code Generation:</a:t>
            </a:r>
            <a:r>
              <a:rPr lang="en-US" sz="1200" b="0" i="0" kern="1200" dirty="0" smtClean="0">
                <a:solidFill>
                  <a:schemeClr val="tx1"/>
                </a:solidFill>
                <a:effectLst/>
                <a:latin typeface="+mn-lt"/>
                <a:ea typeface="+mn-ea"/>
                <a:cs typeface="+mn-cs"/>
              </a:rPr>
              <a:t> The final physical plan is compiled into Java bytecode (Tungsten) for fast execution at runtime. </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16</a:t>
            </a:fld>
            <a:endParaRPr lang="en-US"/>
          </a:p>
        </p:txBody>
      </p:sp>
    </p:spTree>
    <p:extLst>
      <p:ext uri="{BB962C8B-B14F-4D97-AF65-F5344CB8AC3E}">
        <p14:creationId xmlns:p14="http://schemas.microsoft.com/office/powerpoint/2010/main" val="3321205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Image source:</a:t>
            </a:r>
            <a:r>
              <a:rPr lang="en-US" b="1" baseline="0" dirty="0" smtClean="0"/>
              <a:t> https://medium.com/@badrish.davay/apache-spark-catalyst-optimizer-in-nutshell-570926e0ac79</a:t>
            </a:r>
            <a:endParaRPr lang="en-US" b="1" dirty="0" smtClean="0"/>
          </a:p>
          <a:p>
            <a:endParaRPr lang="en-US" b="1" dirty="0" smtClean="0"/>
          </a:p>
          <a:p>
            <a:r>
              <a:rPr lang="en-US" b="1" dirty="0" smtClean="0"/>
              <a:t>🔍 What It Does</a:t>
            </a:r>
          </a:p>
          <a:p>
            <a:r>
              <a:rPr lang="en-US" b="1" dirty="0" smtClean="0">
                <a:effectLst/>
              </a:rPr>
              <a:t>Rewrites queries</a:t>
            </a:r>
            <a:r>
              <a:rPr lang="en-US" dirty="0" smtClean="0">
                <a:effectLst/>
              </a:rPr>
              <a:t> into more efficient forms.</a:t>
            </a:r>
            <a:endParaRPr lang="en-US" dirty="0" smtClean="0"/>
          </a:p>
          <a:p>
            <a:r>
              <a:rPr lang="en-US" b="1" dirty="0" smtClean="0">
                <a:effectLst/>
              </a:rPr>
              <a:t>Eliminates unnecessary operations</a:t>
            </a:r>
            <a:r>
              <a:rPr lang="en-US" dirty="0" smtClean="0">
                <a:effectLst/>
              </a:rPr>
              <a:t> (e.g., redundant filters or projections).</a:t>
            </a:r>
            <a:endParaRPr lang="en-US" dirty="0" smtClean="0"/>
          </a:p>
          <a:p>
            <a:r>
              <a:rPr lang="en-US" b="1" dirty="0" smtClean="0">
                <a:effectLst/>
              </a:rPr>
              <a:t>Pushes computation closer to data</a:t>
            </a:r>
            <a:r>
              <a:rPr lang="en-US" dirty="0" smtClean="0">
                <a:effectLst/>
              </a:rPr>
              <a:t> (predicate pushdown).</a:t>
            </a:r>
            <a:endParaRPr lang="en-US" dirty="0" smtClean="0"/>
          </a:p>
          <a:p>
            <a:r>
              <a:rPr lang="en-US" b="1" dirty="0" smtClean="0">
                <a:effectLst/>
              </a:rPr>
              <a:t>Chooses optimal join strategies</a:t>
            </a:r>
            <a:r>
              <a:rPr lang="en-US" dirty="0" smtClean="0">
                <a:effectLst/>
              </a:rPr>
              <a:t> (broadcast, sort-merge, shuffle hash).</a:t>
            </a:r>
            <a:endParaRPr lang="en-US" dirty="0" smtClean="0"/>
          </a:p>
          <a:p>
            <a:r>
              <a:rPr lang="en-US" b="1" dirty="0" smtClean="0">
                <a:effectLst/>
              </a:rPr>
              <a:t>Generates execution plans</a:t>
            </a:r>
            <a:r>
              <a:rPr lang="en-US" dirty="0" smtClean="0">
                <a:effectLst/>
              </a:rPr>
              <a:t> that minimize I/O and maximize parallelism.</a:t>
            </a:r>
          </a:p>
          <a:p>
            <a:endParaRPr lang="en-US" dirty="0" smtClean="0">
              <a:effectLst/>
            </a:endParaRPr>
          </a:p>
          <a:p>
            <a:r>
              <a:rPr lang="en-US" dirty="0" smtClean="0">
                <a:effectLst/>
              </a:rPr>
              <a:t>------------------------------------------------------------------------------------------------------------------------------------------------------------------------------</a:t>
            </a:r>
          </a:p>
          <a:p>
            <a:r>
              <a:rPr lang="en-US" b="1" dirty="0" smtClean="0">
                <a:effectLst/>
              </a:rPr>
              <a:t>Query Analysis </a:t>
            </a:r>
          </a:p>
          <a:p>
            <a:pPr fontAlgn="base"/>
            <a:r>
              <a:rPr lang="en-US" sz="1200" b="1" i="0" kern="1200" dirty="0" smtClean="0">
                <a:solidFill>
                  <a:schemeClr val="tx1"/>
                </a:solidFill>
                <a:effectLst/>
                <a:latin typeface="+mn-lt"/>
                <a:ea typeface="+mn-ea"/>
                <a:cs typeface="+mn-cs"/>
              </a:rPr>
              <a:t>unresolved attribute</a:t>
            </a:r>
            <a:r>
              <a:rPr lang="en-US" sz="1200" b="0" i="0" kern="1200" dirty="0" smtClean="0">
                <a:solidFill>
                  <a:schemeClr val="tx1"/>
                </a:solidFill>
                <a:effectLst/>
                <a:latin typeface="+mn-lt"/>
                <a:ea typeface="+mn-ea"/>
                <a:cs typeface="+mn-cs"/>
              </a:rPr>
              <a:t>, it means we don’t know its type or have not matched it to an input table. Spark SQL make use of Catalyst rules and a Catalog object that track data in all data sources to resolve these attributes. It starts by creating an unresolved logical plan, and then apply the following steps:</a:t>
            </a: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Search relation BY NAME FROM CATALOG.</a:t>
            </a: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Map the name attribute, for example, col, to the input provided given operator’s children.</a:t>
            </a: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Determine which attributes match to the same value to give them unique ID.</a:t>
            </a:r>
          </a:p>
          <a:p>
            <a:pPr marL="171450" indent="-171450" fontAlgn="base">
              <a:buFont typeface="Arial" panose="020B0604020202020204" pitchFamily="34" charset="0"/>
              <a:buChar char="•"/>
            </a:pPr>
            <a:r>
              <a:rPr lang="en-US" sz="1200" b="0" i="0" kern="1200" dirty="0" smtClean="0">
                <a:solidFill>
                  <a:schemeClr val="tx1"/>
                </a:solidFill>
                <a:effectLst/>
                <a:latin typeface="+mn-lt"/>
                <a:ea typeface="+mn-ea"/>
                <a:cs typeface="+mn-cs"/>
              </a:rPr>
              <a:t>Propagate and push type through expressions.</a:t>
            </a:r>
            <a:endParaRPr lang="en-US" dirty="0" smtClean="0">
              <a:effectLst/>
            </a:endParaRPr>
          </a:p>
          <a:p>
            <a:r>
              <a:rPr lang="en-US" dirty="0" smtClean="0">
                <a:effectLst/>
              </a:rPr>
              <a:t>-------------------------------------------------------------------------------------------------------------------------------------------</a:t>
            </a:r>
          </a:p>
          <a:p>
            <a:r>
              <a:rPr lang="en-US" sz="1200" b="1" i="0" kern="1200" dirty="0" smtClean="0">
                <a:solidFill>
                  <a:schemeClr val="tx1"/>
                </a:solidFill>
                <a:effectLst/>
                <a:latin typeface="+mn-lt"/>
                <a:ea typeface="+mn-ea"/>
                <a:cs typeface="+mn-cs"/>
              </a:rPr>
              <a:t>Logical Optimization</a:t>
            </a:r>
          </a:p>
          <a:p>
            <a:r>
              <a:rPr lang="en-US" sz="1200" b="0" i="0" kern="1200" dirty="0" smtClean="0">
                <a:solidFill>
                  <a:schemeClr val="tx1"/>
                </a:solidFill>
                <a:effectLst/>
                <a:latin typeface="+mn-lt"/>
                <a:ea typeface="+mn-ea"/>
                <a:cs typeface="+mn-cs"/>
              </a:rPr>
              <a:t>After resolving column references and data types, Catalyst applies a series of rule-based optimizations to the logical plan:</a:t>
            </a:r>
          </a:p>
          <a:p>
            <a:r>
              <a:rPr lang="en-US" sz="1200" b="1" i="0" kern="1200" dirty="0" smtClean="0">
                <a:solidFill>
                  <a:schemeClr val="tx1"/>
                </a:solidFill>
                <a:effectLst/>
                <a:latin typeface="+mn-lt"/>
                <a:ea typeface="+mn-ea"/>
                <a:cs typeface="+mn-cs"/>
              </a:rPr>
              <a:t>Constant folding</a:t>
            </a:r>
            <a:r>
              <a:rPr lang="en-US" sz="1200" b="0" i="0" kern="1200" dirty="0" smtClean="0">
                <a:solidFill>
                  <a:schemeClr val="tx1"/>
                </a:solidFill>
                <a:effectLst/>
                <a:latin typeface="+mn-lt"/>
                <a:ea typeface="+mn-ea"/>
                <a:cs typeface="+mn-cs"/>
              </a:rPr>
              <a:t>: Evaluates expressions with constant values at compile time</a:t>
            </a:r>
          </a:p>
          <a:p>
            <a:r>
              <a:rPr lang="en-US" sz="1200" b="1" i="0" kern="1200" dirty="0" smtClean="0">
                <a:solidFill>
                  <a:schemeClr val="tx1"/>
                </a:solidFill>
                <a:effectLst/>
                <a:latin typeface="+mn-lt"/>
                <a:ea typeface="+mn-ea"/>
                <a:cs typeface="+mn-cs"/>
              </a:rPr>
              <a:t>Predicate pushdown</a:t>
            </a:r>
            <a:r>
              <a:rPr lang="en-US" sz="1200" b="0" i="0" kern="1200" dirty="0" smtClean="0">
                <a:solidFill>
                  <a:schemeClr val="tx1"/>
                </a:solidFill>
                <a:effectLst/>
                <a:latin typeface="+mn-lt"/>
                <a:ea typeface="+mn-ea"/>
                <a:cs typeface="+mn-cs"/>
              </a:rPr>
              <a:t>: Filters data as early as possible in the pipeline</a:t>
            </a:r>
          </a:p>
          <a:p>
            <a:r>
              <a:rPr lang="en-US" sz="1200" b="1" i="0" kern="1200" dirty="0" smtClean="0">
                <a:solidFill>
                  <a:schemeClr val="tx1"/>
                </a:solidFill>
                <a:effectLst/>
                <a:latin typeface="+mn-lt"/>
                <a:ea typeface="+mn-ea"/>
                <a:cs typeface="+mn-cs"/>
              </a:rPr>
              <a:t>Column pruning</a:t>
            </a:r>
            <a:r>
              <a:rPr lang="en-US" sz="1200" b="0" i="0" kern="1200" dirty="0" smtClean="0">
                <a:solidFill>
                  <a:schemeClr val="tx1"/>
                </a:solidFill>
                <a:effectLst/>
                <a:latin typeface="+mn-lt"/>
                <a:ea typeface="+mn-ea"/>
                <a:cs typeface="+mn-cs"/>
              </a:rPr>
              <a:t>: Drops unnecessary columns to reduce data transfer</a:t>
            </a:r>
          </a:p>
          <a:p>
            <a:r>
              <a:rPr lang="en-US" sz="1200" b="1" i="0" kern="1200" dirty="0" smtClean="0">
                <a:solidFill>
                  <a:schemeClr val="tx1"/>
                </a:solidFill>
                <a:effectLst/>
                <a:latin typeface="+mn-lt"/>
                <a:ea typeface="+mn-ea"/>
                <a:cs typeface="+mn-cs"/>
              </a:rPr>
              <a:t>Partition pruning</a:t>
            </a:r>
            <a:r>
              <a:rPr lang="en-US" sz="1200" b="0" i="0" kern="1200" dirty="0" smtClean="0">
                <a:solidFill>
                  <a:schemeClr val="tx1"/>
                </a:solidFill>
                <a:effectLst/>
                <a:latin typeface="+mn-lt"/>
                <a:ea typeface="+mn-ea"/>
                <a:cs typeface="+mn-cs"/>
              </a:rPr>
              <a:t>: Skips irrelevant partitions based on filter conditions</a:t>
            </a:r>
          </a:p>
          <a:p>
            <a:r>
              <a:rPr lang="en-US" sz="1200" b="1" i="0" kern="1200" dirty="0" smtClean="0">
                <a:solidFill>
                  <a:schemeClr val="tx1"/>
                </a:solidFill>
                <a:effectLst/>
                <a:latin typeface="+mn-lt"/>
                <a:ea typeface="+mn-ea"/>
                <a:cs typeface="+mn-cs"/>
              </a:rPr>
              <a:t>Join reordering</a:t>
            </a:r>
            <a:r>
              <a:rPr lang="en-US" sz="1200" b="0" i="0" kern="1200" dirty="0" smtClean="0">
                <a:solidFill>
                  <a:schemeClr val="tx1"/>
                </a:solidFill>
                <a:effectLst/>
                <a:latin typeface="+mn-lt"/>
                <a:ea typeface="+mn-ea"/>
                <a:cs typeface="+mn-cs"/>
              </a:rPr>
              <a:t>: Arranges joins to minimize intermediate result sizes</a:t>
            </a:r>
            <a:endParaRPr lang="en-US" dirty="0" smtClean="0"/>
          </a:p>
          <a:p>
            <a:r>
              <a:rPr lang="en-US" dirty="0" smtClean="0"/>
              <a:t>------------------------------------------------------------------------------------------------------------------</a:t>
            </a:r>
          </a:p>
          <a:p>
            <a:r>
              <a:rPr lang="en-US" sz="1200" b="1" i="0" kern="1200" dirty="0" smtClean="0">
                <a:solidFill>
                  <a:schemeClr val="tx1"/>
                </a:solidFill>
                <a:effectLst/>
                <a:latin typeface="+mn-lt"/>
                <a:ea typeface="+mn-ea"/>
                <a:cs typeface="+mn-cs"/>
              </a:rPr>
              <a:t>Physical Planning</a:t>
            </a:r>
          </a:p>
          <a:p>
            <a:r>
              <a:rPr lang="en-US" sz="1200" b="0" i="0" kern="1200" dirty="0" smtClean="0">
                <a:solidFill>
                  <a:schemeClr val="tx1"/>
                </a:solidFill>
                <a:effectLst/>
                <a:latin typeface="+mn-lt"/>
                <a:ea typeface="+mn-ea"/>
                <a:cs typeface="+mn-cs"/>
              </a:rPr>
              <a:t>The logical plan is then converted into multiple physical plans. Each physical plan represents a different way to execute the query using the available physical operators like broadcast joins, sort-merge joins, and various aggregation strategies.</a:t>
            </a:r>
          </a:p>
          <a:p>
            <a:endParaRPr lang="en-US" dirty="0" smtClean="0"/>
          </a:p>
          <a:p>
            <a:r>
              <a:rPr lang="en-US" sz="1200" b="0" i="0" kern="1200" dirty="0" smtClean="0">
                <a:solidFill>
                  <a:schemeClr val="tx1"/>
                </a:solidFill>
                <a:effectLst/>
                <a:latin typeface="+mn-lt"/>
                <a:ea typeface="+mn-ea"/>
                <a:cs typeface="+mn-cs"/>
              </a:rPr>
              <a:t>Catalyst evaluates these physical plans using its cost model, which considers factors like:</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Data size and distribution</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Available resources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Operation complexity</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Statistics about the data</a:t>
            </a:r>
          </a:p>
          <a:p>
            <a:r>
              <a:rPr lang="en-US" sz="1200" b="0" i="0" kern="1200" dirty="0" smtClean="0">
                <a:solidFill>
                  <a:schemeClr val="tx1"/>
                </a:solidFill>
                <a:effectLst/>
                <a:latin typeface="+mn-lt"/>
                <a:ea typeface="+mn-ea"/>
                <a:cs typeface="+mn-cs"/>
              </a:rPr>
              <a:t>The plan with the lowest estimated cost is selected for execution.</a:t>
            </a:r>
            <a:r>
              <a:rPr lang="en-US" dirty="0" smtClean="0"/>
              <a:t/>
            </a:r>
            <a:br>
              <a:rPr lang="en-US" dirty="0" smtClean="0"/>
            </a:br>
            <a:r>
              <a:rPr lang="en-US" dirty="0" smtClean="0"/>
              <a:t>--------------------------------------------------------------------------------------------------------------</a:t>
            </a:r>
          </a:p>
          <a:p>
            <a:r>
              <a:rPr lang="en-US" sz="1200" b="1" i="0" kern="1200" dirty="0" smtClean="0">
                <a:solidFill>
                  <a:schemeClr val="tx1"/>
                </a:solidFill>
                <a:effectLst/>
                <a:latin typeface="+mn-lt"/>
                <a:ea typeface="+mn-ea"/>
                <a:cs typeface="+mn-cs"/>
              </a:rPr>
              <a:t>Code Generation</a:t>
            </a:r>
          </a:p>
          <a:p>
            <a:r>
              <a:rPr lang="en-US" sz="1200" b="0" i="0" kern="1200" dirty="0" smtClean="0">
                <a:solidFill>
                  <a:schemeClr val="tx1"/>
                </a:solidFill>
                <a:effectLst/>
                <a:latin typeface="+mn-lt"/>
                <a:ea typeface="+mn-ea"/>
                <a:cs typeface="+mn-cs"/>
              </a:rPr>
              <a:t>Finally, Spark generates efficient JVM bytecode for the selected plan using a technique called whole-stage code generation. This step collapses multiple operations into a single function wherever possible, reducing virtual function calls and optimizing CPU usage.</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17</a:t>
            </a:fld>
            <a:endParaRPr lang="en-US"/>
          </a:p>
        </p:txBody>
      </p:sp>
    </p:spTree>
    <p:extLst>
      <p:ext uri="{BB962C8B-B14F-4D97-AF65-F5344CB8AC3E}">
        <p14:creationId xmlns:p14="http://schemas.microsoft.com/office/powerpoint/2010/main" val="236726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Large Dataset</a:t>
            </a:r>
          </a:p>
          <a:p>
            <a:r>
              <a:rPr lang="en-US" dirty="0" smtClean="0"/>
              <a:t>             │</a:t>
            </a:r>
          </a:p>
          <a:p>
            <a:r>
              <a:rPr lang="en-US" dirty="0" smtClean="0"/>
              <a:t>   ┌─────────┼─────────┐</a:t>
            </a:r>
          </a:p>
          <a:p>
            <a:r>
              <a:rPr lang="en-US" dirty="0" smtClean="0"/>
              <a:t>   ▼         ▼         ▼</a:t>
            </a:r>
          </a:p>
          <a:p>
            <a:r>
              <a:rPr lang="en-US" dirty="0" smtClean="0"/>
              <a:t>Filter    Select    Join Opt</a:t>
            </a:r>
          </a:p>
          <a:p>
            <a:r>
              <a:rPr lang="en-US" dirty="0" smtClean="0"/>
              <a:t>Pushdown  Columns   Strategy</a:t>
            </a:r>
          </a:p>
          <a:p>
            <a:r>
              <a:rPr lang="en-US" dirty="0" smtClean="0"/>
              <a:t>   │         │         │</a:t>
            </a:r>
          </a:p>
          <a:p>
            <a:r>
              <a:rPr lang="en-US" dirty="0" smtClean="0"/>
              <a:t>   └─────────┴─────────┘</a:t>
            </a:r>
          </a:p>
          <a:p>
            <a:r>
              <a:rPr lang="en-US" dirty="0" smtClean="0"/>
              <a:t>             ▼</a:t>
            </a:r>
          </a:p>
          <a:p>
            <a:r>
              <a:rPr lang="en-US" dirty="0" smtClean="0"/>
              <a:t>      Less Data Processed</a:t>
            </a:r>
          </a:p>
          <a:p>
            <a:r>
              <a:rPr lang="en-US" dirty="0" smtClean="0"/>
              <a:t>             ▼</a:t>
            </a:r>
          </a:p>
          <a:p>
            <a:r>
              <a:rPr lang="en-US" dirty="0" smtClean="0"/>
              <a:t>        Faster Execution</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18</a:t>
            </a:fld>
            <a:endParaRPr lang="en-US"/>
          </a:p>
        </p:txBody>
      </p:sp>
    </p:spTree>
    <p:extLst>
      <p:ext uri="{BB962C8B-B14F-4D97-AF65-F5344CB8AC3E}">
        <p14:creationId xmlns:p14="http://schemas.microsoft.com/office/powerpoint/2010/main" val="3846796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Large Dataset</a:t>
            </a:r>
          </a:p>
          <a:p>
            <a:r>
              <a:rPr lang="en-US" dirty="0" smtClean="0"/>
              <a:t>             │</a:t>
            </a:r>
          </a:p>
          <a:p>
            <a:r>
              <a:rPr lang="en-US" dirty="0" smtClean="0"/>
              <a:t>   ┌─────────┼─────────┐</a:t>
            </a:r>
          </a:p>
          <a:p>
            <a:r>
              <a:rPr lang="en-US" dirty="0" smtClean="0"/>
              <a:t>   ▼         ▼         ▼</a:t>
            </a:r>
          </a:p>
          <a:p>
            <a:r>
              <a:rPr lang="en-US" dirty="0" smtClean="0"/>
              <a:t>Filter    Select    Join Opt</a:t>
            </a:r>
          </a:p>
          <a:p>
            <a:r>
              <a:rPr lang="en-US" dirty="0" smtClean="0"/>
              <a:t>Pushdown  Columns   Strategy</a:t>
            </a:r>
          </a:p>
          <a:p>
            <a:r>
              <a:rPr lang="en-US" dirty="0" smtClean="0"/>
              <a:t>   │         │         │</a:t>
            </a:r>
          </a:p>
          <a:p>
            <a:r>
              <a:rPr lang="en-US" dirty="0" smtClean="0"/>
              <a:t>   └─────────┴─────────┘</a:t>
            </a:r>
          </a:p>
          <a:p>
            <a:r>
              <a:rPr lang="en-US" dirty="0" smtClean="0"/>
              <a:t>             ▼</a:t>
            </a:r>
          </a:p>
          <a:p>
            <a:r>
              <a:rPr lang="en-US" dirty="0" smtClean="0"/>
              <a:t>      Less Data Processed</a:t>
            </a:r>
          </a:p>
          <a:p>
            <a:r>
              <a:rPr lang="en-US" dirty="0" smtClean="0"/>
              <a:t>             ▼</a:t>
            </a:r>
          </a:p>
          <a:p>
            <a:r>
              <a:rPr lang="en-US" dirty="0" smtClean="0"/>
              <a:t>        Faster Execution</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19</a:t>
            </a:fld>
            <a:endParaRPr lang="en-US"/>
          </a:p>
        </p:txBody>
      </p:sp>
    </p:spTree>
    <p:extLst>
      <p:ext uri="{BB962C8B-B14F-4D97-AF65-F5344CB8AC3E}">
        <p14:creationId xmlns:p14="http://schemas.microsoft.com/office/powerpoint/2010/main" val="451610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1. Broadcast Join</a:t>
            </a:r>
          </a:p>
          <a:p>
            <a:r>
              <a:rPr lang="en-US" b="1" dirty="0" smtClean="0">
                <a:effectLst/>
              </a:rPr>
              <a:t>Concept:</a:t>
            </a:r>
            <a:r>
              <a:rPr lang="en-US" dirty="0" smtClean="0">
                <a:effectLst/>
              </a:rPr>
              <a:t> Spark sends a </a:t>
            </a:r>
            <a:r>
              <a:rPr lang="en-US" i="1" dirty="0" smtClean="0">
                <a:effectLst/>
              </a:rPr>
              <a:t>small table</a:t>
            </a:r>
            <a:r>
              <a:rPr lang="en-US" dirty="0" smtClean="0">
                <a:effectLst/>
              </a:rPr>
              <a:t> to all worker nodes so each node can join it locally with its partition of the large table.</a:t>
            </a:r>
            <a:endParaRPr lang="en-US" dirty="0" smtClean="0"/>
          </a:p>
          <a:p>
            <a:r>
              <a:rPr lang="en-US" b="1" dirty="0" smtClean="0">
                <a:effectLst/>
              </a:rPr>
              <a:t>How it works:</a:t>
            </a:r>
            <a:endParaRPr lang="en-US" dirty="0" smtClean="0"/>
          </a:p>
          <a:p>
            <a:r>
              <a:rPr lang="en-US" dirty="0" smtClean="0">
                <a:effectLst/>
              </a:rPr>
              <a:t>Spark copies the small dataset (called the </a:t>
            </a:r>
            <a:r>
              <a:rPr lang="en-US" i="1" dirty="0" smtClean="0">
                <a:effectLst/>
              </a:rPr>
              <a:t>broadcasted table</a:t>
            </a:r>
            <a:r>
              <a:rPr lang="en-US" dirty="0" smtClean="0">
                <a:effectLst/>
              </a:rPr>
              <a:t>) to every executor.</a:t>
            </a:r>
            <a:endParaRPr lang="en-US" dirty="0" smtClean="0"/>
          </a:p>
          <a:p>
            <a:r>
              <a:rPr lang="en-US" dirty="0" smtClean="0">
                <a:effectLst/>
              </a:rPr>
              <a:t>Each executor performs the join without shuffling the large dataset.</a:t>
            </a:r>
            <a:endParaRPr lang="en-US" dirty="0" smtClean="0"/>
          </a:p>
          <a:p>
            <a:r>
              <a:rPr lang="en-US" dirty="0" smtClean="0">
                <a:effectLst/>
              </a:rPr>
              <a:t>This avoids expensive network transfers.</a:t>
            </a:r>
            <a:endParaRPr lang="en-US" dirty="0" smtClean="0"/>
          </a:p>
          <a:p>
            <a:r>
              <a:rPr lang="en-US" b="1" dirty="0" smtClean="0">
                <a:effectLst/>
              </a:rPr>
              <a:t>When to use:</a:t>
            </a:r>
            <a:endParaRPr lang="en-US" dirty="0" smtClean="0"/>
          </a:p>
          <a:p>
            <a:r>
              <a:rPr lang="en-US" dirty="0" smtClean="0">
                <a:effectLst/>
              </a:rPr>
              <a:t>One table is </a:t>
            </a:r>
            <a:r>
              <a:rPr lang="en-US" b="1" dirty="0" smtClean="0">
                <a:effectLst/>
              </a:rPr>
              <a:t>tiny</a:t>
            </a:r>
            <a:r>
              <a:rPr lang="en-US" dirty="0" smtClean="0">
                <a:effectLst/>
              </a:rPr>
              <a:t> (usually &lt; 10 MB).</a:t>
            </a:r>
            <a:endParaRPr lang="en-US" dirty="0" smtClean="0"/>
          </a:p>
          <a:p>
            <a:r>
              <a:rPr lang="en-US" dirty="0" smtClean="0">
                <a:effectLst/>
              </a:rPr>
              <a:t>Common in lookups or dimension joins (e.g., joining customer data with country codes).</a:t>
            </a:r>
            <a:endParaRPr lang="en-US" dirty="0" smtClean="0"/>
          </a:p>
          <a:p>
            <a:r>
              <a:rPr lang="en-US" b="1" dirty="0" smtClean="0">
                <a:effectLst/>
              </a:rPr>
              <a:t>Benefit:</a:t>
            </a:r>
            <a:endParaRPr lang="en-US" dirty="0" smtClean="0"/>
          </a:p>
          <a:p>
            <a:r>
              <a:rPr lang="en-US" b="1" dirty="0" smtClean="0">
                <a:effectLst/>
              </a:rPr>
              <a:t>Fastest join type</a:t>
            </a:r>
            <a:r>
              <a:rPr lang="en-US" dirty="0" smtClean="0">
                <a:effectLst/>
              </a:rPr>
              <a:t> when one dataset is small.</a:t>
            </a:r>
            <a:endParaRPr lang="en-US" dirty="0" smtClean="0"/>
          </a:p>
          <a:p>
            <a:r>
              <a:rPr lang="en-US" b="1" dirty="0" smtClean="0">
                <a:effectLst/>
              </a:rPr>
              <a:t>No shuffle</a:t>
            </a:r>
            <a:r>
              <a:rPr lang="en-US" dirty="0" smtClean="0">
                <a:effectLst/>
              </a:rPr>
              <a:t>, minimal network overhead.</a:t>
            </a:r>
            <a:endParaRPr lang="en-US" dirty="0" smtClean="0"/>
          </a:p>
          <a:p>
            <a:endParaRPr lang="en-US" dirty="0" smtClean="0"/>
          </a:p>
          <a:p>
            <a:r>
              <a:rPr lang="en-US" dirty="0" smtClean="0"/>
              <a:t>-----------------------------------------------------------------------------------------------</a:t>
            </a:r>
          </a:p>
          <a:p>
            <a:endParaRPr lang="en-US" dirty="0" smtClean="0"/>
          </a:p>
          <a:p>
            <a:r>
              <a:rPr lang="en-US" b="1" dirty="0" smtClean="0"/>
              <a:t>🔹 2. Shuffle Hash Join</a:t>
            </a:r>
          </a:p>
          <a:p>
            <a:r>
              <a:rPr lang="en-US" b="1" dirty="0" smtClean="0">
                <a:effectLst/>
              </a:rPr>
              <a:t>Concept:</a:t>
            </a:r>
            <a:r>
              <a:rPr lang="en-US" dirty="0" smtClean="0">
                <a:effectLst/>
              </a:rPr>
              <a:t> Spark partitions both datasets by the join key, then performs a hash-based join on each partition.</a:t>
            </a:r>
            <a:endParaRPr lang="en-US" dirty="0" smtClean="0"/>
          </a:p>
          <a:p>
            <a:r>
              <a:rPr lang="en-US" b="1" dirty="0" smtClean="0">
                <a:effectLst/>
              </a:rPr>
              <a:t>How it works:</a:t>
            </a:r>
            <a:endParaRPr lang="en-US" dirty="0" smtClean="0"/>
          </a:p>
          <a:p>
            <a:r>
              <a:rPr lang="en-US" dirty="0" smtClean="0">
                <a:effectLst/>
              </a:rPr>
              <a:t>Each dataset is </a:t>
            </a:r>
            <a:r>
              <a:rPr lang="en-US" b="1" dirty="0" smtClean="0">
                <a:effectLst/>
              </a:rPr>
              <a:t>shuffled</a:t>
            </a:r>
            <a:r>
              <a:rPr lang="en-US" dirty="0" smtClean="0">
                <a:effectLst/>
              </a:rPr>
              <a:t> so that rows with the same join key end up on the same node.</a:t>
            </a:r>
            <a:endParaRPr lang="en-US" dirty="0" smtClean="0"/>
          </a:p>
          <a:p>
            <a:r>
              <a:rPr lang="en-US" dirty="0" smtClean="0">
                <a:effectLst/>
              </a:rPr>
              <a:t>Spark builds a hash table for one dataset and probes it with the other.</a:t>
            </a:r>
            <a:endParaRPr lang="en-US" dirty="0" smtClean="0"/>
          </a:p>
          <a:p>
            <a:r>
              <a:rPr lang="en-US" dirty="0" smtClean="0">
                <a:effectLst/>
              </a:rPr>
              <a:t>Works well when both datasets fit in memory after partitioning.</a:t>
            </a:r>
            <a:endParaRPr lang="en-US" dirty="0" smtClean="0"/>
          </a:p>
          <a:p>
            <a:r>
              <a:rPr lang="en-US" b="1" dirty="0" smtClean="0">
                <a:effectLst/>
              </a:rPr>
              <a:t>When to use:</a:t>
            </a:r>
            <a:endParaRPr lang="en-US" dirty="0" smtClean="0"/>
          </a:p>
          <a:p>
            <a:r>
              <a:rPr lang="en-US" dirty="0" smtClean="0">
                <a:effectLst/>
              </a:rPr>
              <a:t>Both datasets are </a:t>
            </a:r>
            <a:r>
              <a:rPr lang="en-US" b="1" dirty="0" smtClean="0">
                <a:effectLst/>
              </a:rPr>
              <a:t>moderately large</a:t>
            </a:r>
            <a:r>
              <a:rPr lang="en-US" dirty="0" smtClean="0">
                <a:effectLst/>
              </a:rPr>
              <a:t> and not sorted.</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The join keys are evenly distributed (no data skew).</a:t>
            </a:r>
            <a:endParaRPr lang="en-US" dirty="0" smtClean="0"/>
          </a:p>
          <a:p>
            <a:r>
              <a:rPr lang="en-US" b="1" dirty="0" smtClean="0">
                <a:effectLst/>
              </a:rPr>
              <a:t>Benefit:</a:t>
            </a:r>
            <a:endParaRPr lang="en-US" dirty="0" smtClean="0"/>
          </a:p>
          <a:p>
            <a:r>
              <a:rPr lang="en-US" dirty="0" smtClean="0">
                <a:effectLst/>
              </a:rPr>
              <a:t>Efficient for medium-sized data.</a:t>
            </a:r>
            <a:endParaRPr lang="en-US" dirty="0" smtClean="0"/>
          </a:p>
          <a:p>
            <a:r>
              <a:rPr lang="en-US" dirty="0" smtClean="0">
                <a:effectLst/>
              </a:rPr>
              <a:t>Parallel execution across partitions.</a:t>
            </a:r>
            <a:endParaRPr lang="en-US" dirty="0" smtClean="0"/>
          </a:p>
          <a:p>
            <a:r>
              <a:rPr lang="en-US" b="1" dirty="0" smtClean="0">
                <a:effectLst/>
              </a:rPr>
              <a:t>Drawback:</a:t>
            </a:r>
            <a:endParaRPr lang="en-US" dirty="0" smtClean="0"/>
          </a:p>
          <a:p>
            <a:r>
              <a:rPr lang="en-US" dirty="0" smtClean="0">
                <a:effectLst/>
              </a:rPr>
              <a:t>Requires shuffling, which can be costly if data is unevenly distributed.</a:t>
            </a:r>
            <a:endParaRPr lang="en-US" dirty="0" smtClean="0"/>
          </a:p>
          <a:p>
            <a:endParaRPr lang="en-US" dirty="0" smtClean="0"/>
          </a:p>
          <a:p>
            <a:r>
              <a:rPr lang="en-US" dirty="0" smtClean="0"/>
              <a:t>-------------------------------------------------------------------------------</a:t>
            </a:r>
          </a:p>
          <a:p>
            <a:r>
              <a:rPr lang="en-US" b="1" dirty="0" smtClean="0"/>
              <a:t>🔹 3. Sort Merge Join</a:t>
            </a:r>
          </a:p>
          <a:p>
            <a:r>
              <a:rPr lang="en-US" b="1" dirty="0" smtClean="0">
                <a:effectLst/>
              </a:rPr>
              <a:t>Concept:</a:t>
            </a:r>
            <a:r>
              <a:rPr lang="en-US" dirty="0" smtClean="0">
                <a:effectLst/>
              </a:rPr>
              <a:t> Spark sorts both datasets by the join key, then merges them efficiently — similar to merging two sorted lists.</a:t>
            </a:r>
            <a:endParaRPr lang="en-US" dirty="0" smtClean="0"/>
          </a:p>
          <a:p>
            <a:r>
              <a:rPr lang="en-US" b="1" dirty="0" smtClean="0">
                <a:effectLst/>
              </a:rPr>
              <a:t>How it works:</a:t>
            </a:r>
            <a:endParaRPr lang="en-US" dirty="0" smtClean="0"/>
          </a:p>
          <a:p>
            <a:r>
              <a:rPr lang="en-US" dirty="0" smtClean="0">
                <a:effectLst/>
              </a:rPr>
              <a:t>Each dataset is </a:t>
            </a:r>
            <a:r>
              <a:rPr lang="en-US" b="1" dirty="0" smtClean="0">
                <a:effectLst/>
              </a:rPr>
              <a:t>sorted</a:t>
            </a:r>
            <a:r>
              <a:rPr lang="en-US" dirty="0" smtClean="0">
                <a:effectLst/>
              </a:rPr>
              <a:t> on the join key.</a:t>
            </a:r>
            <a:endParaRPr lang="en-US" dirty="0" smtClean="0"/>
          </a:p>
          <a:p>
            <a:r>
              <a:rPr lang="en-US" dirty="0" smtClean="0">
                <a:effectLst/>
              </a:rPr>
              <a:t>Spark scans both sorted datasets simultaneously, matching keys as it goes.</a:t>
            </a:r>
            <a:endParaRPr lang="en-US" dirty="0" smtClean="0"/>
          </a:p>
          <a:p>
            <a:r>
              <a:rPr lang="en-US" dirty="0" smtClean="0">
                <a:effectLst/>
              </a:rPr>
              <a:t>Ideal for large, already sorted data (like time-series or range joins).</a:t>
            </a:r>
            <a:endParaRPr lang="en-US" dirty="0" smtClean="0"/>
          </a:p>
          <a:p>
            <a:r>
              <a:rPr lang="en-US" b="1" dirty="0" smtClean="0">
                <a:effectLst/>
              </a:rPr>
              <a:t>When to use:</a:t>
            </a:r>
            <a:endParaRPr lang="en-US" dirty="0" smtClean="0"/>
          </a:p>
          <a:p>
            <a:r>
              <a:rPr lang="en-US" dirty="0" smtClean="0">
                <a:effectLst/>
              </a:rPr>
              <a:t>Both datasets are </a:t>
            </a:r>
            <a:r>
              <a:rPr lang="en-US" b="1" dirty="0" smtClean="0">
                <a:effectLst/>
              </a:rPr>
              <a:t>large</a:t>
            </a:r>
            <a:r>
              <a:rPr lang="en-US" dirty="0" smtClean="0">
                <a:effectLst/>
              </a:rPr>
              <a:t> and already sorted or can be sorted efficiently.</a:t>
            </a:r>
            <a:endParaRPr lang="en-US" dirty="0" smtClean="0"/>
          </a:p>
          <a:p>
            <a:r>
              <a:rPr lang="en-US" dirty="0" smtClean="0">
                <a:effectLst/>
              </a:rPr>
              <a:t>Common in ETL pipelines or joins on timestamp/range columns.</a:t>
            </a:r>
            <a:endParaRPr lang="en-US" dirty="0" smtClean="0"/>
          </a:p>
          <a:p>
            <a:r>
              <a:rPr lang="en-US" b="1" dirty="0" smtClean="0">
                <a:effectLst/>
              </a:rPr>
              <a:t>Example:</a:t>
            </a:r>
            <a:r>
              <a:rPr lang="en-US" dirty="0" smtClean="0">
                <a:effectLst/>
              </a:rPr>
              <a:t> Joining two 100 GB logs on timestamp.</a:t>
            </a:r>
            <a:endParaRPr lang="en-US" dirty="0" smtClean="0"/>
          </a:p>
          <a:p>
            <a:r>
              <a:rPr lang="en-US" b="1" dirty="0" smtClean="0">
                <a:effectLst/>
              </a:rPr>
              <a:t>Benefit:</a:t>
            </a:r>
            <a:endParaRPr lang="en-US" dirty="0" smtClean="0"/>
          </a:p>
          <a:p>
            <a:r>
              <a:rPr lang="en-US" dirty="0" smtClean="0">
                <a:effectLst/>
              </a:rPr>
              <a:t>Handles very large datasets.</a:t>
            </a:r>
            <a:endParaRPr lang="en-US" dirty="0" smtClean="0"/>
          </a:p>
          <a:p>
            <a:r>
              <a:rPr lang="en-US" dirty="0" smtClean="0">
                <a:effectLst/>
              </a:rPr>
              <a:t>Efficient when data is pre-sorted.</a:t>
            </a:r>
            <a:endParaRPr lang="en-US" dirty="0" smtClean="0"/>
          </a:p>
          <a:p>
            <a:r>
              <a:rPr lang="en-US" dirty="0" smtClean="0">
                <a:effectLst/>
              </a:rPr>
              <a:t>Works well with </a:t>
            </a:r>
            <a:r>
              <a:rPr lang="en-US" b="1" dirty="0" smtClean="0">
                <a:effectLst/>
              </a:rPr>
              <a:t>range joins</a:t>
            </a:r>
            <a:r>
              <a:rPr lang="en-US" dirty="0" smtClean="0">
                <a:effectLst/>
              </a:rPr>
              <a:t>.</a:t>
            </a:r>
            <a:endParaRPr lang="en-US" dirty="0" smtClean="0"/>
          </a:p>
          <a:p>
            <a:r>
              <a:rPr lang="en-US" b="1" dirty="0" smtClean="0">
                <a:effectLst/>
              </a:rPr>
              <a:t>Drawback:</a:t>
            </a:r>
            <a:endParaRPr lang="en-US" dirty="0" smtClean="0"/>
          </a:p>
          <a:p>
            <a:r>
              <a:rPr lang="en-US" dirty="0" smtClean="0">
                <a:effectLst/>
              </a:rPr>
              <a:t>Sorting is expensive if data isn’t already sorted.</a:t>
            </a:r>
            <a:endParaRPr lang="en-US" dirty="0" smtClean="0"/>
          </a:p>
          <a:p>
            <a:r>
              <a:rPr lang="en-US" dirty="0" smtClean="0">
                <a:effectLst/>
              </a:rPr>
              <a:t>More memory-intensive than broadcast joins.</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20</a:t>
            </a:fld>
            <a:endParaRPr lang="en-US"/>
          </a:p>
        </p:txBody>
      </p:sp>
    </p:spTree>
    <p:extLst>
      <p:ext uri="{BB962C8B-B14F-4D97-AF65-F5344CB8AC3E}">
        <p14:creationId xmlns:p14="http://schemas.microsoft.com/office/powerpoint/2010/main" val="3486394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https://medium.com/@sharanharsoor/optimization-in-spark-ca3b75f5cffe</a:t>
            </a:r>
          </a:p>
          <a:p>
            <a:endParaRPr lang="en-US" dirty="0" smtClean="0"/>
          </a:p>
          <a:p>
            <a:r>
              <a:rPr lang="en-US" sz="1200" b="0" i="0" kern="1200" dirty="0" smtClean="0">
                <a:solidFill>
                  <a:schemeClr val="tx1"/>
                </a:solidFill>
                <a:effectLst/>
                <a:latin typeface="+mn-lt"/>
                <a:ea typeface="+mn-ea"/>
                <a:cs typeface="+mn-cs"/>
              </a:rPr>
              <a:t>logical plan that is generated from a user program</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21</a:t>
            </a:fld>
            <a:endParaRPr lang="en-US"/>
          </a:p>
        </p:txBody>
      </p:sp>
    </p:spTree>
    <p:extLst>
      <p:ext uri="{BB962C8B-B14F-4D97-AF65-F5344CB8AC3E}">
        <p14:creationId xmlns:p14="http://schemas.microsoft.com/office/powerpoint/2010/main" val="3585124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Catalyst optimized plan </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22</a:t>
            </a:fld>
            <a:endParaRPr lang="en-US"/>
          </a:p>
        </p:txBody>
      </p:sp>
    </p:spTree>
    <p:extLst>
      <p:ext uri="{BB962C8B-B14F-4D97-AF65-F5344CB8AC3E}">
        <p14:creationId xmlns:p14="http://schemas.microsoft.com/office/powerpoint/2010/main" val="2909904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https://medium.com/towards-data-engineering/understanding-rdds-in-apache-spark-the-foundation-of-distributed-computing-b6becac1de43</a:t>
            </a:r>
          </a:p>
          <a:p>
            <a:endParaRPr lang="en-US" dirty="0" smtClean="0"/>
          </a:p>
          <a:p>
            <a:r>
              <a:rPr lang="en-US" b="1" dirty="0" smtClean="0"/>
              <a:t>Step 1: Create Logical Plan</a:t>
            </a:r>
          </a:p>
          <a:p>
            <a:pPr marL="171450" indent="-171450">
              <a:buFont typeface="Arial" panose="020B0604020202020204" pitchFamily="34" charset="0"/>
              <a:buChar char="•"/>
            </a:pPr>
            <a:r>
              <a:rPr lang="en-US" dirty="0" smtClean="0">
                <a:effectLst/>
              </a:rPr>
              <a:t>When you write DataFrame or SQL code, Spark builds a </a:t>
            </a:r>
            <a:r>
              <a:rPr lang="en-US" b="1" dirty="0" smtClean="0">
                <a:effectLst/>
              </a:rPr>
              <a:t>logical plan</a:t>
            </a:r>
            <a:r>
              <a:rPr lang="en-US" dirty="0" smtClean="0">
                <a:effectLst/>
              </a:rPr>
              <a:t>.</a:t>
            </a:r>
            <a:endParaRPr lang="en-US" dirty="0" smtClean="0"/>
          </a:p>
          <a:p>
            <a:pPr marL="171450" indent="-171450">
              <a:buFont typeface="Arial" panose="020B0604020202020204" pitchFamily="34" charset="0"/>
              <a:buChar char="•"/>
            </a:pPr>
            <a:r>
              <a:rPr lang="en-US" dirty="0" smtClean="0">
                <a:effectLst/>
              </a:rPr>
              <a:t>This plan is a </a:t>
            </a:r>
            <a:r>
              <a:rPr lang="en-US" b="1" dirty="0" smtClean="0">
                <a:effectLst/>
              </a:rPr>
              <a:t>tree representation</a:t>
            </a:r>
            <a:r>
              <a:rPr lang="en-US" dirty="0" smtClean="0">
                <a:effectLst/>
              </a:rPr>
              <a:t> of </a:t>
            </a:r>
            <a:r>
              <a:rPr lang="en-US" i="1" dirty="0" smtClean="0">
                <a:effectLst/>
              </a:rPr>
              <a:t>what</a:t>
            </a:r>
            <a:r>
              <a:rPr lang="en-US" dirty="0" smtClean="0">
                <a:effectLst/>
              </a:rPr>
              <a:t> you want to compute, not </a:t>
            </a:r>
            <a:r>
              <a:rPr lang="en-US" i="1" dirty="0" smtClean="0">
                <a:effectLst/>
              </a:rPr>
              <a:t>how</a:t>
            </a:r>
            <a:r>
              <a:rPr lang="en-US" dirty="0" smtClean="0">
                <a:effectLst/>
              </a:rPr>
              <a:t>.</a:t>
            </a:r>
            <a:endParaRPr lang="en-US" dirty="0" smtClean="0"/>
          </a:p>
          <a:p>
            <a:pPr marL="171450" indent="-171450">
              <a:buFont typeface="Arial" panose="020B0604020202020204" pitchFamily="34" charset="0"/>
              <a:buChar char="•"/>
            </a:pPr>
            <a:r>
              <a:rPr lang="en-US" dirty="0" smtClean="0">
                <a:effectLst/>
              </a:rPr>
              <a:t>It’s </a:t>
            </a:r>
            <a:r>
              <a:rPr lang="en-US" b="1" dirty="0" smtClean="0">
                <a:effectLst/>
              </a:rPr>
              <a:t>lazy</a:t>
            </a:r>
            <a:r>
              <a:rPr lang="en-US" dirty="0" smtClean="0">
                <a:effectLst/>
              </a:rPr>
              <a:t> — no data is processed yet.</a:t>
            </a:r>
            <a:endParaRPr lang="en-US" dirty="0" smtClean="0"/>
          </a:p>
          <a:p>
            <a:endParaRPr lang="en-US" dirty="0" smtClean="0"/>
          </a:p>
          <a:p>
            <a:r>
              <a:rPr lang="en-US" b="1" dirty="0" smtClean="0"/>
              <a:t>Step 2: Optimize Logical Plan</a:t>
            </a:r>
          </a:p>
          <a:p>
            <a:pPr marL="171450" indent="-171450">
              <a:buFont typeface="Arial" panose="020B0604020202020204" pitchFamily="34" charset="0"/>
              <a:buChar char="•"/>
            </a:pPr>
            <a:r>
              <a:rPr lang="en-US" dirty="0" smtClean="0">
                <a:effectLst/>
              </a:rPr>
              <a:t>Spark’s </a:t>
            </a:r>
            <a:r>
              <a:rPr lang="en-US" b="1" dirty="0" smtClean="0">
                <a:effectLst/>
              </a:rPr>
              <a:t>Catalyst Optimizer</a:t>
            </a:r>
            <a:r>
              <a:rPr lang="en-US" dirty="0" smtClean="0">
                <a:effectLst/>
              </a:rPr>
              <a:t> applies transformation rules to improve efficiency.</a:t>
            </a:r>
            <a:endParaRPr lang="en-US" dirty="0" smtClean="0"/>
          </a:p>
          <a:p>
            <a:pPr marL="171450" indent="-171450">
              <a:buFont typeface="Arial" panose="020B0604020202020204" pitchFamily="34" charset="0"/>
              <a:buChar char="•"/>
            </a:pPr>
            <a:r>
              <a:rPr lang="en-US" dirty="0" smtClean="0">
                <a:effectLst/>
              </a:rPr>
              <a:t>Common optimizations:</a:t>
            </a:r>
            <a:endParaRPr lang="en-US" dirty="0" smtClean="0"/>
          </a:p>
          <a:p>
            <a:pPr marL="628650" lvl="1" indent="-171450">
              <a:buFont typeface="Arial" panose="020B0604020202020204" pitchFamily="34" charset="0"/>
              <a:buChar char="•"/>
            </a:pPr>
            <a:r>
              <a:rPr lang="en-US" b="1" dirty="0" smtClean="0">
                <a:effectLst/>
              </a:rPr>
              <a:t>Predicate Pushdown</a:t>
            </a:r>
            <a:r>
              <a:rPr lang="en-US" dirty="0" smtClean="0">
                <a:effectLst/>
              </a:rPr>
              <a:t> → filters applied early</a:t>
            </a:r>
            <a:endParaRPr lang="en-US" dirty="0" smtClean="0"/>
          </a:p>
          <a:p>
            <a:pPr marL="628650" lvl="1" indent="-171450">
              <a:buFont typeface="Arial" panose="020B0604020202020204" pitchFamily="34" charset="0"/>
              <a:buChar char="•"/>
            </a:pPr>
            <a:r>
              <a:rPr lang="en-US" b="1" dirty="0" smtClean="0">
                <a:effectLst/>
              </a:rPr>
              <a:t>Column Pruning</a:t>
            </a:r>
            <a:r>
              <a:rPr lang="en-US" dirty="0" smtClean="0">
                <a:effectLst/>
              </a:rPr>
              <a:t> → only needed columns read</a:t>
            </a:r>
            <a:endParaRPr lang="en-US" dirty="0" smtClean="0"/>
          </a:p>
          <a:p>
            <a:pPr marL="628650" lvl="1" indent="-171450">
              <a:buFont typeface="Arial" panose="020B0604020202020204" pitchFamily="34" charset="0"/>
              <a:buChar char="•"/>
            </a:pPr>
            <a:r>
              <a:rPr lang="en-US" b="1" dirty="0" smtClean="0">
                <a:effectLst/>
              </a:rPr>
              <a:t>Constant Folding</a:t>
            </a:r>
            <a:r>
              <a:rPr lang="en-US" dirty="0" smtClean="0">
                <a:effectLst/>
              </a:rPr>
              <a:t> → pre‑computes constants</a:t>
            </a:r>
            <a:endParaRPr lang="en-US" dirty="0" smtClean="0"/>
          </a:p>
          <a:p>
            <a:pPr marL="628650" lvl="1" indent="-171450">
              <a:buFont typeface="Arial" panose="020B0604020202020204" pitchFamily="34" charset="0"/>
              <a:buChar char="•"/>
            </a:pPr>
            <a:r>
              <a:rPr lang="en-US" b="1" dirty="0" smtClean="0">
                <a:effectLst/>
              </a:rPr>
              <a:t>Join Reordering</a:t>
            </a:r>
            <a:r>
              <a:rPr lang="en-US" dirty="0" smtClean="0">
                <a:effectLst/>
              </a:rPr>
              <a:t> → minimizes shuffle and data movement</a:t>
            </a:r>
            <a:endParaRPr lang="en-US" dirty="0" smtClean="0"/>
          </a:p>
          <a:p>
            <a:pPr marL="171450" indent="-171450">
              <a:buFont typeface="Arial" panose="020B0604020202020204" pitchFamily="34" charset="0"/>
              <a:buChar char="•"/>
            </a:pPr>
            <a:r>
              <a:rPr lang="en-US" dirty="0" smtClean="0">
                <a:effectLst/>
              </a:rPr>
              <a:t>Result: an </a:t>
            </a:r>
            <a:r>
              <a:rPr lang="en-US" b="1" dirty="0" smtClean="0">
                <a:effectLst/>
              </a:rPr>
              <a:t>optimized logical plan</a:t>
            </a:r>
            <a:r>
              <a:rPr lang="en-US" dirty="0" smtClean="0">
                <a:effectLst/>
              </a:rPr>
              <a:t> ready for execution planning.</a:t>
            </a:r>
            <a:endParaRPr lang="en-US" dirty="0" smtClean="0"/>
          </a:p>
          <a:p>
            <a:pPr marL="0" indent="0">
              <a:buFont typeface="Arial" panose="020B0604020202020204" pitchFamily="34" charset="0"/>
              <a:buNone/>
            </a:pPr>
            <a:endParaRPr lang="en-US" dirty="0" smtClean="0"/>
          </a:p>
          <a:p>
            <a:r>
              <a:rPr lang="en-US" b="1" dirty="0" smtClean="0"/>
              <a:t>Step 3: Generate Physical Plan</a:t>
            </a:r>
          </a:p>
          <a:p>
            <a:pPr marL="171450" indent="-171450">
              <a:buFont typeface="Arial" panose="020B0604020202020204" pitchFamily="34" charset="0"/>
              <a:buChar char="•"/>
            </a:pPr>
            <a:r>
              <a:rPr lang="en-US" dirty="0" smtClean="0">
                <a:effectLst/>
              </a:rPr>
              <a:t>Spark converts the optimized logical plan into a </a:t>
            </a:r>
            <a:r>
              <a:rPr lang="en-US" b="1" dirty="0" smtClean="0">
                <a:effectLst/>
              </a:rPr>
              <a:t>physical plan</a:t>
            </a:r>
            <a:r>
              <a:rPr lang="en-US" dirty="0" smtClean="0">
                <a:effectLst/>
              </a:rPr>
              <a:t>.</a:t>
            </a:r>
            <a:endParaRPr lang="en-US" dirty="0" smtClean="0"/>
          </a:p>
          <a:p>
            <a:pPr marL="171450" indent="-171450">
              <a:buFont typeface="Arial" panose="020B0604020202020204" pitchFamily="34" charset="0"/>
              <a:buChar char="•"/>
            </a:pPr>
            <a:r>
              <a:rPr lang="en-US" dirty="0" smtClean="0">
                <a:effectLst/>
              </a:rPr>
              <a:t>This defines </a:t>
            </a:r>
            <a:r>
              <a:rPr lang="en-US" i="1" dirty="0" smtClean="0">
                <a:effectLst/>
              </a:rPr>
              <a:t>how</a:t>
            </a:r>
            <a:r>
              <a:rPr lang="en-US" dirty="0" smtClean="0">
                <a:effectLst/>
              </a:rPr>
              <a:t> computations will run:</a:t>
            </a:r>
            <a:endParaRPr lang="en-US" dirty="0" smtClean="0"/>
          </a:p>
          <a:p>
            <a:pPr marL="628650" lvl="1" indent="-171450">
              <a:buFont typeface="Arial" panose="020B0604020202020204" pitchFamily="34" charset="0"/>
              <a:buChar char="•"/>
            </a:pPr>
            <a:r>
              <a:rPr lang="en-US" dirty="0" smtClean="0">
                <a:effectLst/>
              </a:rPr>
              <a:t>Partitioning strategies</a:t>
            </a:r>
            <a:endParaRPr lang="en-US" dirty="0" smtClean="0"/>
          </a:p>
          <a:p>
            <a:pPr marL="628650" lvl="1" indent="-171450">
              <a:buFont typeface="Arial" panose="020B0604020202020204" pitchFamily="34" charset="0"/>
              <a:buChar char="•"/>
            </a:pPr>
            <a:r>
              <a:rPr lang="en-US" dirty="0" smtClean="0">
                <a:effectLst/>
              </a:rPr>
              <a:t>Narrow vs. wide dependencies</a:t>
            </a:r>
            <a:endParaRPr lang="en-US" dirty="0" smtClean="0"/>
          </a:p>
          <a:p>
            <a:pPr marL="628650" lvl="1" indent="-171450">
              <a:buFont typeface="Arial" panose="020B0604020202020204" pitchFamily="34" charset="0"/>
              <a:buChar char="•"/>
            </a:pPr>
            <a:r>
              <a:rPr lang="en-US" dirty="0" smtClean="0">
                <a:effectLst/>
              </a:rPr>
              <a:t>Shuffle operations</a:t>
            </a:r>
            <a:endParaRPr lang="en-US" dirty="0" smtClean="0"/>
          </a:p>
          <a:p>
            <a:pPr marL="171450" indent="-171450">
              <a:buFont typeface="Arial" panose="020B0604020202020204" pitchFamily="34" charset="0"/>
              <a:buChar char="•"/>
            </a:pPr>
            <a:r>
              <a:rPr lang="en-US" dirty="0" smtClean="0">
                <a:effectLst/>
              </a:rPr>
              <a:t>Multiple physical plans may be tested; Spark picks the most efficient one.</a:t>
            </a:r>
            <a:endParaRPr lang="en-US" dirty="0" smtClean="0"/>
          </a:p>
          <a:p>
            <a:pPr marL="0" indent="0">
              <a:buFont typeface="Arial" panose="020B0604020202020204" pitchFamily="34" charset="0"/>
              <a:buNone/>
            </a:pPr>
            <a:endParaRPr lang="en-US" dirty="0" smtClean="0"/>
          </a:p>
          <a:p>
            <a:r>
              <a:rPr lang="en-US" b="1" dirty="0" smtClean="0"/>
              <a:t>Step 4: Translate to RDD Operations</a:t>
            </a:r>
          </a:p>
          <a:p>
            <a:pPr marL="171450" indent="-171450">
              <a:buFont typeface="Arial" panose="020B0604020202020204" pitchFamily="34" charset="0"/>
              <a:buChar char="•"/>
            </a:pPr>
            <a:r>
              <a:rPr lang="en-US" dirty="0" smtClean="0">
                <a:effectLst/>
              </a:rPr>
              <a:t>The chosen physical plan is </a:t>
            </a:r>
            <a:r>
              <a:rPr lang="en-US" b="1" dirty="0" smtClean="0">
                <a:effectLst/>
              </a:rPr>
              <a:t>translated into RDD transformations</a:t>
            </a:r>
            <a:r>
              <a:rPr lang="en-US" dirty="0" smtClean="0">
                <a:effectLst/>
              </a:rPr>
              <a:t>.</a:t>
            </a:r>
            <a:endParaRPr lang="en-US" dirty="0" smtClean="0"/>
          </a:p>
          <a:p>
            <a:pPr marL="171450" indent="-171450">
              <a:buFont typeface="Arial" panose="020B0604020202020204" pitchFamily="34" charset="0"/>
              <a:buChar char="•"/>
            </a:pPr>
            <a:r>
              <a:rPr lang="en-US" dirty="0" smtClean="0">
                <a:effectLst/>
              </a:rPr>
              <a:t>Spark records </a:t>
            </a:r>
            <a:r>
              <a:rPr lang="en-US" b="1" dirty="0" smtClean="0">
                <a:effectLst/>
              </a:rPr>
              <a:t>lineage</a:t>
            </a:r>
            <a:r>
              <a:rPr lang="en-US" dirty="0" smtClean="0">
                <a:effectLst/>
              </a:rPr>
              <a:t> (the dependency chain of RDDs).</a:t>
            </a:r>
            <a:endParaRPr lang="en-US" dirty="0" smtClean="0"/>
          </a:p>
          <a:p>
            <a:pPr marL="171450" indent="-171450">
              <a:buFont typeface="Arial" panose="020B0604020202020204" pitchFamily="34" charset="0"/>
              <a:buChar char="•"/>
            </a:pPr>
            <a:r>
              <a:rPr lang="en-US" dirty="0" smtClean="0">
                <a:effectLst/>
              </a:rPr>
              <a:t>At this stage, everything is expressed as RDD operations like map, filter, </a:t>
            </a:r>
            <a:r>
              <a:rPr lang="en-US" dirty="0" err="1" smtClean="0">
                <a:effectLst/>
              </a:rPr>
              <a:t>reduceByKey</a:t>
            </a:r>
            <a:r>
              <a:rPr lang="en-US" dirty="0" smtClean="0">
                <a:effectLst/>
              </a:rPr>
              <a:t>.</a:t>
            </a:r>
            <a:endParaRPr lang="en-US" dirty="0" smtClean="0"/>
          </a:p>
          <a:p>
            <a:r>
              <a:rPr lang="en-US" b="1" dirty="0" smtClean="0"/>
              <a:t>Step 5: Execution</a:t>
            </a:r>
          </a:p>
          <a:p>
            <a:pPr marL="171450" indent="-171450">
              <a:buFont typeface="Arial" panose="020B0604020202020204" pitchFamily="34" charset="0"/>
              <a:buChar char="•"/>
            </a:pPr>
            <a:r>
              <a:rPr lang="en-US" dirty="0" smtClean="0">
                <a:effectLst/>
              </a:rPr>
              <a:t>When an action (e.g., count(), show()) is triggered, Spark executes the RDD lineage.</a:t>
            </a:r>
            <a:endParaRPr lang="en-US" dirty="0" smtClean="0"/>
          </a:p>
          <a:p>
            <a:pPr marL="171450" indent="-171450">
              <a:buFont typeface="Arial" panose="020B0604020202020204" pitchFamily="34" charset="0"/>
              <a:buChar char="•"/>
            </a:pPr>
            <a:r>
              <a:rPr lang="en-US" dirty="0" smtClean="0">
                <a:effectLst/>
              </a:rPr>
              <a:t>Tasks are distributed across the cluster, and results are computed.</a:t>
            </a:r>
            <a:endParaRPr lang="en-US" dirty="0" smtClean="0"/>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23</a:t>
            </a:fld>
            <a:endParaRPr lang="en-US"/>
          </a:p>
        </p:txBody>
      </p:sp>
    </p:spTree>
    <p:extLst>
      <p:ext uri="{BB962C8B-B14F-4D97-AF65-F5344CB8AC3E}">
        <p14:creationId xmlns:p14="http://schemas.microsoft.com/office/powerpoint/2010/main" val="21250950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effectLst/>
              </a:rPr>
              <a:t>RDDs</a:t>
            </a:r>
            <a:r>
              <a:rPr lang="en-US" dirty="0" smtClean="0">
                <a:effectLst/>
              </a:rPr>
              <a:t> → offer flexibility and control but require manual optimization.</a:t>
            </a:r>
            <a:endParaRPr lang="en-US" dirty="0" smtClean="0"/>
          </a:p>
          <a:p>
            <a:r>
              <a:rPr lang="en-US" b="1" dirty="0" err="1" smtClean="0">
                <a:effectLst/>
              </a:rPr>
              <a:t>DataFrames</a:t>
            </a:r>
            <a:r>
              <a:rPr lang="en-US" dirty="0" smtClean="0">
                <a:effectLst/>
              </a:rPr>
              <a:t> → provide structure, automatic optimization, and ease of use.</a:t>
            </a:r>
            <a:endParaRPr lang="en-US" dirty="0" smtClean="0"/>
          </a:p>
          <a:p>
            <a:r>
              <a:rPr lang="en-US" dirty="0" smtClean="0">
                <a:effectLst/>
              </a:rPr>
              <a:t>In modern Spark, </a:t>
            </a:r>
            <a:r>
              <a:rPr lang="en-US" b="1" dirty="0" err="1" smtClean="0">
                <a:effectLst/>
              </a:rPr>
              <a:t>DataFrames</a:t>
            </a:r>
            <a:r>
              <a:rPr lang="en-US" b="1" dirty="0" smtClean="0">
                <a:effectLst/>
              </a:rPr>
              <a:t> (and Spark SQL)</a:t>
            </a:r>
            <a:r>
              <a:rPr lang="en-US" dirty="0" smtClean="0">
                <a:effectLst/>
              </a:rPr>
              <a:t> are the default choice; </a:t>
            </a:r>
            <a:r>
              <a:rPr lang="en-US" b="1" dirty="0" smtClean="0">
                <a:effectLst/>
              </a:rPr>
              <a:t>RDDs</a:t>
            </a:r>
            <a:r>
              <a:rPr lang="en-US" dirty="0" smtClean="0">
                <a:effectLst/>
              </a:rPr>
              <a:t> are reserved for niche, low‑level tasks.</a:t>
            </a: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29</a:t>
            </a:fld>
            <a:endParaRPr lang="en-US"/>
          </a:p>
        </p:txBody>
      </p:sp>
    </p:spTree>
    <p:extLst>
      <p:ext uri="{BB962C8B-B14F-4D97-AF65-F5344CB8AC3E}">
        <p14:creationId xmlns:p14="http://schemas.microsoft.com/office/powerpoint/2010/main" val="18887993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effectLst/>
              </a:rPr>
              <a:t>RDDs</a:t>
            </a:r>
            <a:r>
              <a:rPr lang="en-US" dirty="0" smtClean="0">
                <a:effectLst/>
              </a:rPr>
              <a:t> → offer flexibility and control but require manual optimization.</a:t>
            </a:r>
            <a:endParaRPr lang="en-US" dirty="0" smtClean="0"/>
          </a:p>
          <a:p>
            <a:r>
              <a:rPr lang="en-US" b="1" dirty="0" err="1" smtClean="0">
                <a:effectLst/>
              </a:rPr>
              <a:t>DataFrames</a:t>
            </a:r>
            <a:r>
              <a:rPr lang="en-US" dirty="0" smtClean="0">
                <a:effectLst/>
              </a:rPr>
              <a:t> → provide structure, automatic optimization, and ease of use.</a:t>
            </a:r>
            <a:endParaRPr lang="en-US" dirty="0" smtClean="0"/>
          </a:p>
          <a:p>
            <a:r>
              <a:rPr lang="en-US" dirty="0" smtClean="0">
                <a:effectLst/>
              </a:rPr>
              <a:t>In modern Spark, </a:t>
            </a:r>
            <a:r>
              <a:rPr lang="en-US" b="1" dirty="0" err="1" smtClean="0">
                <a:effectLst/>
              </a:rPr>
              <a:t>DataFrames</a:t>
            </a:r>
            <a:r>
              <a:rPr lang="en-US" b="1" dirty="0" smtClean="0">
                <a:effectLst/>
              </a:rPr>
              <a:t> (and Spark SQL)</a:t>
            </a:r>
            <a:r>
              <a:rPr lang="en-US" dirty="0" smtClean="0">
                <a:effectLst/>
              </a:rPr>
              <a:t> are the default choice; </a:t>
            </a:r>
            <a:r>
              <a:rPr lang="en-US" b="1" dirty="0" smtClean="0">
                <a:effectLst/>
              </a:rPr>
              <a:t>RDDs</a:t>
            </a:r>
            <a:r>
              <a:rPr lang="en-US" dirty="0" smtClean="0">
                <a:effectLst/>
              </a:rPr>
              <a:t> are reserved for niche, low‑level tasks.</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30</a:t>
            </a:fld>
            <a:endParaRPr lang="en-US"/>
          </a:p>
        </p:txBody>
      </p:sp>
    </p:spTree>
    <p:extLst>
      <p:ext uri="{BB962C8B-B14F-4D97-AF65-F5344CB8AC3E}">
        <p14:creationId xmlns:p14="http://schemas.microsoft.com/office/powerpoint/2010/main" val="377659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5797D48-18D6-46A1-BFDC-9D5A26102823}"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5652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2429846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797D48-18D6-46A1-BFDC-9D5A26102823}"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4186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5797D48-18D6-46A1-BFDC-9D5A26102823}"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388982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5797D48-18D6-46A1-BFDC-9D5A26102823}"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2789544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5797D48-18D6-46A1-BFDC-9D5A26102823}"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3640393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797D48-18D6-46A1-BFDC-9D5A26102823}"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85206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5797D48-18D6-46A1-BFDC-9D5A26102823}"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550910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797D48-18D6-46A1-BFDC-9D5A26102823}"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840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668647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22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5797D48-18D6-46A1-BFDC-9D5A26102823}" type="datetimeFigureOut">
              <a:rPr lang="en-US" smtClean="0"/>
              <a:t>4/16/2026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01C03CC-440E-473E-81B8-A9146396321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173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586588"/>
            <a:ext cx="8229600" cy="1463040"/>
          </a:xfrm>
        </p:spPr>
        <p:txBody>
          <a:bodyPr>
            <a:normAutofit/>
          </a:bodyPr>
          <a:lstStyle/>
          <a:p>
            <a:pPr algn="ctr"/>
            <a:r>
              <a:rPr lang="en-US" sz="4800" b="1" dirty="0" err="1" smtClean="0">
                <a:latin typeface="Times New Roman" panose="02020603050405020304" pitchFamily="18" charset="0"/>
                <a:cs typeface="Times New Roman" panose="02020603050405020304" pitchFamily="18" charset="0"/>
              </a:rPr>
              <a:t>Sparksql</a:t>
            </a:r>
            <a:r>
              <a:rPr lang="en-US" sz="4800" b="1" dirty="0" smtClean="0">
                <a:latin typeface="Times New Roman" panose="02020603050405020304" pitchFamily="18" charset="0"/>
                <a:cs typeface="Times New Roman" panose="02020603050405020304" pitchFamily="18" charset="0"/>
              </a:rPr>
              <a:t> and </a:t>
            </a:r>
            <a:r>
              <a:rPr lang="en-US" sz="4800" b="1" dirty="0" err="1" smtClean="0">
                <a:latin typeface="Times New Roman" panose="02020603050405020304" pitchFamily="18" charset="0"/>
                <a:cs typeface="Times New Roman" panose="02020603050405020304" pitchFamily="18" charset="0"/>
              </a:rPr>
              <a:t>dataframes</a:t>
            </a:r>
            <a:endParaRPr lang="en-US" sz="36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326120" y="4472457"/>
            <a:ext cx="4109720" cy="1463040"/>
          </a:xfrm>
        </p:spPr>
        <p:txBody>
          <a:bodyPr>
            <a:normAutofit/>
          </a:bodyPr>
          <a:lstStyle/>
          <a:p>
            <a:pPr algn="ctr"/>
            <a:r>
              <a:rPr lang="en-US" sz="3200" b="1" dirty="0" smtClean="0">
                <a:latin typeface="Times New Roman" panose="02020603050405020304" pitchFamily="18" charset="0"/>
                <a:cs typeface="Times New Roman" panose="02020603050405020304" pitchFamily="18" charset="0"/>
              </a:rPr>
              <a:t>Spring 2026</a:t>
            </a:r>
          </a:p>
          <a:p>
            <a:r>
              <a:rPr lang="en-US" sz="3200" b="1" dirty="0" err="1" smtClean="0">
                <a:solidFill>
                  <a:srgbClr val="C00000"/>
                </a:solidFill>
                <a:latin typeface="Times New Roman" panose="02020603050405020304" pitchFamily="18" charset="0"/>
                <a:cs typeface="Times New Roman" panose="02020603050405020304" pitchFamily="18" charset="0"/>
              </a:rPr>
              <a:t>Dr</a:t>
            </a:r>
            <a:r>
              <a:rPr lang="en-US" sz="3200" b="1" dirty="0" smtClean="0">
                <a:solidFill>
                  <a:srgbClr val="C00000"/>
                </a:solidFill>
                <a:latin typeface="Times New Roman" panose="02020603050405020304" pitchFamily="18" charset="0"/>
                <a:cs typeface="Times New Roman" panose="02020603050405020304" pitchFamily="18" charset="0"/>
              </a:rPr>
              <a:t> </a:t>
            </a:r>
            <a:r>
              <a:rPr lang="en-US" sz="3200" b="1" dirty="0" err="1" smtClean="0">
                <a:solidFill>
                  <a:srgbClr val="C00000"/>
                </a:solidFill>
                <a:latin typeface="Times New Roman" panose="02020603050405020304" pitchFamily="18" charset="0"/>
                <a:cs typeface="Times New Roman" panose="02020603050405020304" pitchFamily="18" charset="0"/>
              </a:rPr>
              <a:t>Mayada</a:t>
            </a:r>
            <a:r>
              <a:rPr lang="en-US" sz="3200" b="1" dirty="0" smtClean="0">
                <a:solidFill>
                  <a:srgbClr val="C00000"/>
                </a:solidFill>
                <a:latin typeface="Times New Roman" panose="02020603050405020304" pitchFamily="18" charset="0"/>
                <a:cs typeface="Times New Roman" panose="02020603050405020304" pitchFamily="18" charset="0"/>
              </a:rPr>
              <a:t> </a:t>
            </a:r>
            <a:r>
              <a:rPr lang="en-US" sz="3200" b="1" dirty="0" err="1" smtClean="0">
                <a:solidFill>
                  <a:srgbClr val="C00000"/>
                </a:solidFill>
                <a:latin typeface="Times New Roman" panose="02020603050405020304" pitchFamily="18" charset="0"/>
                <a:cs typeface="Times New Roman" panose="02020603050405020304" pitchFamily="18" charset="0"/>
              </a:rPr>
              <a:t>Hadhoud</a:t>
            </a:r>
            <a:r>
              <a:rPr lang="en-US" sz="3200" b="1" dirty="0" smtClean="0">
                <a:solidFill>
                  <a:srgbClr val="C00000"/>
                </a:solidFill>
                <a:latin typeface="Times New Roman" panose="02020603050405020304" pitchFamily="18" charset="0"/>
                <a:cs typeface="Times New Roman" panose="02020603050405020304" pitchFamily="18" charset="0"/>
              </a:rPr>
              <a:t> </a:t>
            </a:r>
            <a:endParaRPr lang="en-US" sz="32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6017091"/>
            <a:ext cx="3474976" cy="812172"/>
          </a:xfrm>
          <a:prstGeom prst="rect">
            <a:avLst/>
          </a:prstGeom>
        </p:spPr>
      </p:pic>
    </p:spTree>
    <p:extLst>
      <p:ext uri="{BB962C8B-B14F-4D97-AF65-F5344CB8AC3E}">
        <p14:creationId xmlns:p14="http://schemas.microsoft.com/office/powerpoint/2010/main" val="11466674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outline</a:t>
            </a:r>
            <a:endParaRPr lang="en-US" b="1" dirty="0"/>
          </a:p>
        </p:txBody>
      </p:sp>
      <p:sp>
        <p:nvSpPr>
          <p:cNvPr id="3" name="Content Placeholder 2"/>
          <p:cNvSpPr>
            <a:spLocks noGrp="1"/>
          </p:cNvSpPr>
          <p:nvPr>
            <p:ph idx="1"/>
          </p:nvPr>
        </p:nvSpPr>
        <p:spPr>
          <a:xfrm>
            <a:off x="1024128" y="1708879"/>
            <a:ext cx="10012840" cy="4868384"/>
          </a:xfrm>
        </p:spPr>
        <p:txBody>
          <a:bodyPr>
            <a:normAutofit/>
          </a:bodyPr>
          <a:lstStyle/>
          <a:p>
            <a:pPr>
              <a:lnSpc>
                <a:spcPct val="110000"/>
              </a:lnSpc>
              <a:spcBef>
                <a:spcPts val="0"/>
              </a:spcBef>
              <a:spcAft>
                <a:spcPts val="0"/>
              </a:spcAft>
              <a:buFont typeface="Wingdings" panose="05000000000000000000" pitchFamily="2" charset="2"/>
              <a:buChar char="q"/>
            </a:pPr>
            <a:r>
              <a:rPr lang="en-US" sz="2600" dirty="0" smtClean="0"/>
              <a:t>Structured </a:t>
            </a:r>
            <a:r>
              <a:rPr lang="en-US" sz="2600" dirty="0"/>
              <a:t>Data Processing in </a:t>
            </a:r>
            <a:r>
              <a:rPr lang="en-US" sz="2600" dirty="0" smtClean="0"/>
              <a:t>Spark</a:t>
            </a:r>
          </a:p>
          <a:p>
            <a:pPr>
              <a:lnSpc>
                <a:spcPct val="110000"/>
              </a:lnSpc>
              <a:spcBef>
                <a:spcPts val="0"/>
              </a:spcBef>
              <a:spcAft>
                <a:spcPts val="0"/>
              </a:spcAft>
              <a:buFont typeface="Wingdings" panose="05000000000000000000" pitchFamily="2" charset="2"/>
              <a:buChar char="q"/>
            </a:pPr>
            <a:r>
              <a:rPr lang="en-US" sz="2600" dirty="0" smtClean="0"/>
              <a:t>Spark </a:t>
            </a:r>
            <a:r>
              <a:rPr lang="en-US" sz="2600" dirty="0" err="1" smtClean="0"/>
              <a:t>Dataframe</a:t>
            </a:r>
            <a:r>
              <a:rPr lang="en-US" sz="2600" dirty="0" smtClean="0"/>
              <a:t> </a:t>
            </a:r>
          </a:p>
          <a:p>
            <a:pPr>
              <a:lnSpc>
                <a:spcPct val="110000"/>
              </a:lnSpc>
              <a:spcBef>
                <a:spcPts val="0"/>
              </a:spcBef>
              <a:spcAft>
                <a:spcPts val="0"/>
              </a:spcAft>
              <a:buFont typeface="Wingdings" panose="05000000000000000000" pitchFamily="2" charset="2"/>
              <a:buChar char="q"/>
            </a:pPr>
            <a:r>
              <a:rPr lang="en-US" sz="2600" dirty="0" smtClean="0"/>
              <a:t>Why </a:t>
            </a:r>
            <a:r>
              <a:rPr lang="en-US" sz="2600" dirty="0" err="1" smtClean="0"/>
              <a:t>Dataframe</a:t>
            </a:r>
            <a:r>
              <a:rPr lang="en-US" sz="2600" dirty="0" smtClean="0"/>
              <a:t>?</a:t>
            </a:r>
          </a:p>
          <a:p>
            <a:pPr>
              <a:lnSpc>
                <a:spcPct val="110000"/>
              </a:lnSpc>
              <a:spcBef>
                <a:spcPts val="0"/>
              </a:spcBef>
              <a:spcAft>
                <a:spcPts val="0"/>
              </a:spcAft>
              <a:buFont typeface="Wingdings" panose="05000000000000000000" pitchFamily="2" charset="2"/>
              <a:buChar char="q"/>
            </a:pPr>
            <a:r>
              <a:rPr lang="en-US" sz="2600" dirty="0" err="1"/>
              <a:t>Dataframes</a:t>
            </a:r>
            <a:r>
              <a:rPr lang="en-US" sz="2600" dirty="0"/>
              <a:t> </a:t>
            </a:r>
            <a:r>
              <a:rPr lang="en-US" sz="2600" dirty="0" smtClean="0"/>
              <a:t>vs. </a:t>
            </a:r>
            <a:r>
              <a:rPr lang="en-US" sz="2600" dirty="0"/>
              <a:t>RDD </a:t>
            </a:r>
            <a:endParaRPr lang="en-US" sz="2600" dirty="0" smtClean="0"/>
          </a:p>
          <a:p>
            <a:pPr>
              <a:lnSpc>
                <a:spcPct val="110000"/>
              </a:lnSpc>
              <a:spcBef>
                <a:spcPts val="0"/>
              </a:spcBef>
              <a:spcAft>
                <a:spcPts val="0"/>
              </a:spcAft>
              <a:buFont typeface="Wingdings" panose="05000000000000000000" pitchFamily="2" charset="2"/>
              <a:buChar char="q"/>
            </a:pPr>
            <a:r>
              <a:rPr lang="en-US" sz="2600" dirty="0" err="1" smtClean="0"/>
              <a:t>Dataframe</a:t>
            </a:r>
            <a:r>
              <a:rPr lang="en-US" sz="2600" dirty="0" smtClean="0"/>
              <a:t> Operations </a:t>
            </a:r>
          </a:p>
          <a:p>
            <a:pPr>
              <a:lnSpc>
                <a:spcPct val="110000"/>
              </a:lnSpc>
              <a:spcBef>
                <a:spcPts val="0"/>
              </a:spcBef>
              <a:spcAft>
                <a:spcPts val="0"/>
              </a:spcAft>
              <a:buFont typeface="Wingdings" panose="05000000000000000000" pitchFamily="2" charset="2"/>
              <a:buChar char="q"/>
            </a:pPr>
            <a:r>
              <a:rPr lang="en-US" sz="2600" dirty="0" smtClean="0"/>
              <a:t>Spark SQL Query Optimization </a:t>
            </a:r>
          </a:p>
        </p:txBody>
      </p:sp>
    </p:spTree>
    <p:extLst>
      <p:ext uri="{BB962C8B-B14F-4D97-AF65-F5344CB8AC3E}">
        <p14:creationId xmlns:p14="http://schemas.microsoft.com/office/powerpoint/2010/main" val="1651801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483062" cy="1499616"/>
          </a:xfrm>
        </p:spPr>
        <p:txBody>
          <a:bodyPr>
            <a:normAutofit fontScale="90000"/>
          </a:bodyPr>
          <a:lstStyle/>
          <a:p>
            <a:pPr>
              <a:lnSpc>
                <a:spcPct val="100000"/>
              </a:lnSpc>
              <a:spcBef>
                <a:spcPts val="0"/>
              </a:spcBef>
              <a:spcAft>
                <a:spcPts val="0"/>
              </a:spcAft>
            </a:pPr>
            <a:r>
              <a:rPr lang="en-US" sz="5400" b="1" dirty="0" smtClean="0"/>
              <a:t>Structured data processing in spark </a:t>
            </a:r>
            <a:endParaRPr lang="en-US" sz="5400" b="1" dirty="0"/>
          </a:p>
        </p:txBody>
      </p:sp>
      <p:sp>
        <p:nvSpPr>
          <p:cNvPr id="3" name="Content Placeholder 2"/>
          <p:cNvSpPr>
            <a:spLocks noGrp="1"/>
          </p:cNvSpPr>
          <p:nvPr>
            <p:ph idx="1"/>
          </p:nvPr>
        </p:nvSpPr>
        <p:spPr>
          <a:xfrm>
            <a:off x="1024127" y="2024743"/>
            <a:ext cx="9948673" cy="4023360"/>
          </a:xfrm>
        </p:spPr>
        <p:txBody>
          <a:bodyPr>
            <a:noAutofit/>
          </a:bodyPr>
          <a:lstStyle/>
          <a:p>
            <a:pPr>
              <a:lnSpc>
                <a:spcPct val="100000"/>
              </a:lnSpc>
              <a:spcBef>
                <a:spcPts val="0"/>
              </a:spcBef>
              <a:spcAft>
                <a:spcPts val="0"/>
              </a:spcAft>
              <a:buFont typeface="Wingdings" panose="05000000000000000000" pitchFamily="2" charset="2"/>
              <a:buChar char="q"/>
            </a:pPr>
            <a:r>
              <a:rPr lang="en-US" sz="2600" dirty="0" smtClean="0"/>
              <a:t>Structured </a:t>
            </a:r>
            <a:r>
              <a:rPr lang="en-US" sz="2600" dirty="0"/>
              <a:t>APIs (</a:t>
            </a:r>
            <a:r>
              <a:rPr lang="en-US" sz="2600" b="1" i="1" dirty="0" err="1"/>
              <a:t>DataFrames</a:t>
            </a:r>
            <a:r>
              <a:rPr lang="en-US" sz="2600" b="1" i="1" dirty="0"/>
              <a:t> and </a:t>
            </a:r>
            <a:r>
              <a:rPr lang="en-US" sz="2600" b="1" i="1" dirty="0" smtClean="0"/>
              <a:t>Datasets</a:t>
            </a:r>
            <a:r>
              <a:rPr lang="en-US" sz="2600" dirty="0" smtClean="0"/>
              <a:t>) introduced </a:t>
            </a:r>
            <a:r>
              <a:rPr lang="en-US" sz="2600" dirty="0"/>
              <a:t>in Spark 1.3 to simplify </a:t>
            </a:r>
            <a:r>
              <a:rPr lang="en-US" sz="2600" dirty="0" smtClean="0"/>
              <a:t>data analytics and enable automatic optimization.</a:t>
            </a:r>
            <a:endParaRPr lang="en-US" sz="2600" b="1" dirty="0" smtClean="0"/>
          </a:p>
          <a:p>
            <a:pPr marL="0" indent="0">
              <a:lnSpc>
                <a:spcPct val="100000"/>
              </a:lnSpc>
              <a:spcBef>
                <a:spcPts val="0"/>
              </a:spcBef>
              <a:spcAft>
                <a:spcPts val="0"/>
              </a:spcAft>
              <a:buNone/>
            </a:pPr>
            <a:r>
              <a:rPr lang="en-US" sz="2600" b="1" dirty="0"/>
              <a:t>Why Structured APIs</a:t>
            </a:r>
            <a:r>
              <a:rPr lang="en-US" sz="2600" b="1" dirty="0" smtClean="0"/>
              <a:t>?</a:t>
            </a:r>
            <a:endParaRPr lang="en-US" sz="2600" dirty="0" smtClean="0"/>
          </a:p>
          <a:p>
            <a:pPr marL="514350" indent="-514350">
              <a:lnSpc>
                <a:spcPct val="100000"/>
              </a:lnSpc>
              <a:spcBef>
                <a:spcPts val="0"/>
              </a:spcBef>
              <a:spcAft>
                <a:spcPts val="0"/>
              </a:spcAft>
              <a:buFont typeface="+mj-lt"/>
              <a:buAutoNum type="arabicPeriod"/>
            </a:pPr>
            <a:r>
              <a:rPr lang="en-US" sz="2600" dirty="0" smtClean="0"/>
              <a:t>Represent </a:t>
            </a:r>
            <a:r>
              <a:rPr lang="en-US" sz="2600" dirty="0"/>
              <a:t>data as tables with named columns and types</a:t>
            </a:r>
            <a:r>
              <a:rPr lang="en-US" sz="2600" dirty="0" smtClean="0"/>
              <a:t>.</a:t>
            </a:r>
          </a:p>
          <a:p>
            <a:pPr marL="514350" indent="-514350">
              <a:lnSpc>
                <a:spcPct val="100000"/>
              </a:lnSpc>
              <a:spcBef>
                <a:spcPts val="0"/>
              </a:spcBef>
              <a:spcAft>
                <a:spcPts val="0"/>
              </a:spcAft>
              <a:buFont typeface="+mj-lt"/>
              <a:buAutoNum type="arabicPeriod"/>
            </a:pPr>
            <a:r>
              <a:rPr lang="en-US" sz="2600" dirty="0" smtClean="0"/>
              <a:t>Enable </a:t>
            </a:r>
            <a:r>
              <a:rPr lang="en-US" sz="2600" b="1" dirty="0"/>
              <a:t>schema awareness</a:t>
            </a:r>
            <a:r>
              <a:rPr lang="en-US" sz="2600" dirty="0"/>
              <a:t> for better optimization</a:t>
            </a:r>
            <a:r>
              <a:rPr lang="en-US" sz="2600" dirty="0" smtClean="0"/>
              <a:t>.</a:t>
            </a:r>
          </a:p>
          <a:p>
            <a:pPr marL="514350" indent="-514350">
              <a:lnSpc>
                <a:spcPct val="100000"/>
              </a:lnSpc>
              <a:spcBef>
                <a:spcPts val="0"/>
              </a:spcBef>
              <a:spcAft>
                <a:spcPts val="0"/>
              </a:spcAft>
              <a:buFont typeface="+mj-lt"/>
              <a:buAutoNum type="arabicPeriod"/>
            </a:pPr>
            <a:r>
              <a:rPr lang="en-US" sz="2600" dirty="0" smtClean="0"/>
              <a:t>Built </a:t>
            </a:r>
            <a:r>
              <a:rPr lang="en-US" sz="2600" dirty="0"/>
              <a:t>on top of RDDs but simplify code and improve performance.</a:t>
            </a:r>
            <a:endParaRPr lang="en-US" sz="2600" dirty="0" smtClean="0"/>
          </a:p>
          <a:p>
            <a:pPr marL="0" indent="0">
              <a:lnSpc>
                <a:spcPct val="100000"/>
              </a:lnSpc>
              <a:spcBef>
                <a:spcPts val="0"/>
              </a:spcBef>
              <a:spcAft>
                <a:spcPts val="0"/>
              </a:spcAft>
              <a:buNone/>
            </a:pPr>
            <a:r>
              <a:rPr lang="en-US" sz="2600" b="1" dirty="0" smtClean="0"/>
              <a:t>Limitations of RDDs </a:t>
            </a:r>
          </a:p>
          <a:p>
            <a:pPr marL="514350" indent="-514350">
              <a:lnSpc>
                <a:spcPct val="100000"/>
              </a:lnSpc>
              <a:spcBef>
                <a:spcPts val="0"/>
              </a:spcBef>
              <a:spcAft>
                <a:spcPts val="0"/>
              </a:spcAft>
              <a:buFont typeface="+mj-lt"/>
              <a:buAutoNum type="arabicPeriod"/>
            </a:pPr>
            <a:r>
              <a:rPr lang="en-US" sz="2600" dirty="0"/>
              <a:t>Verbose code for simple queries.</a:t>
            </a:r>
          </a:p>
          <a:p>
            <a:pPr marL="514350" indent="-514350">
              <a:lnSpc>
                <a:spcPct val="100000"/>
              </a:lnSpc>
              <a:spcBef>
                <a:spcPts val="0"/>
              </a:spcBef>
              <a:spcAft>
                <a:spcPts val="0"/>
              </a:spcAft>
              <a:buFont typeface="+mj-lt"/>
              <a:buAutoNum type="arabicPeriod"/>
            </a:pPr>
            <a:r>
              <a:rPr lang="en-US" sz="2600" dirty="0"/>
              <a:t>No automatic query optimization.</a:t>
            </a:r>
          </a:p>
          <a:p>
            <a:pPr marL="514350" indent="-514350">
              <a:lnSpc>
                <a:spcPct val="100000"/>
              </a:lnSpc>
              <a:spcBef>
                <a:spcPts val="0"/>
              </a:spcBef>
              <a:spcAft>
                <a:spcPts val="0"/>
              </a:spcAft>
              <a:buFont typeface="+mj-lt"/>
              <a:buAutoNum type="arabicPeriod"/>
            </a:pPr>
            <a:r>
              <a:rPr lang="en-US" sz="2600" dirty="0"/>
              <a:t>Harder integration with SQL</a:t>
            </a:r>
            <a:r>
              <a:rPr lang="en-US" sz="2600" dirty="0" smtClean="0"/>
              <a:t>.</a:t>
            </a:r>
            <a:endParaRPr lang="en-US" sz="2600" dirty="0"/>
          </a:p>
        </p:txBody>
      </p:sp>
      <p:pic>
        <p:nvPicPr>
          <p:cNvPr id="5" name="Picture 4"/>
          <p:cNvPicPr>
            <a:picLocks noChangeAspect="1"/>
          </p:cNvPicPr>
          <p:nvPr/>
        </p:nvPicPr>
        <p:blipFill>
          <a:blip r:embed="rId3"/>
          <a:stretch>
            <a:fillRect/>
          </a:stretch>
        </p:blipFill>
        <p:spPr>
          <a:xfrm>
            <a:off x="6265659" y="4756754"/>
            <a:ext cx="4502381" cy="1511378"/>
          </a:xfrm>
          <a:prstGeom prst="rect">
            <a:avLst/>
          </a:prstGeom>
        </p:spPr>
      </p:pic>
    </p:spTree>
    <p:extLst>
      <p:ext uri="{BB962C8B-B14F-4D97-AF65-F5344CB8AC3E}">
        <p14:creationId xmlns:p14="http://schemas.microsoft.com/office/powerpoint/2010/main" val="19643410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483062" cy="1499616"/>
          </a:xfrm>
        </p:spPr>
        <p:txBody>
          <a:bodyPr>
            <a:normAutofit/>
          </a:bodyPr>
          <a:lstStyle/>
          <a:p>
            <a:pPr>
              <a:lnSpc>
                <a:spcPct val="100000"/>
              </a:lnSpc>
              <a:spcBef>
                <a:spcPts val="0"/>
              </a:spcBef>
              <a:spcAft>
                <a:spcPts val="0"/>
              </a:spcAft>
            </a:pPr>
            <a:r>
              <a:rPr lang="en-US" sz="5400" b="1" dirty="0" smtClean="0"/>
              <a:t>Spark </a:t>
            </a:r>
            <a:r>
              <a:rPr lang="en-US" sz="5400" b="1" dirty="0" err="1" smtClean="0"/>
              <a:t>dataframe</a:t>
            </a:r>
            <a:endParaRPr lang="en-US" sz="5400" b="1" dirty="0"/>
          </a:p>
        </p:txBody>
      </p:sp>
      <p:sp>
        <p:nvSpPr>
          <p:cNvPr id="3" name="Content Placeholder 2"/>
          <p:cNvSpPr>
            <a:spLocks noGrp="1"/>
          </p:cNvSpPr>
          <p:nvPr>
            <p:ph idx="1"/>
          </p:nvPr>
        </p:nvSpPr>
        <p:spPr>
          <a:xfrm>
            <a:off x="952874" y="1882953"/>
            <a:ext cx="10471187" cy="4023360"/>
          </a:xfrm>
        </p:spPr>
        <p:txBody>
          <a:bodyPr>
            <a:noAutofit/>
          </a:bodyPr>
          <a:lstStyle/>
          <a:p>
            <a:pPr marL="0" indent="0">
              <a:lnSpc>
                <a:spcPct val="100000"/>
              </a:lnSpc>
              <a:spcBef>
                <a:spcPts val="0"/>
              </a:spcBef>
              <a:spcAft>
                <a:spcPts val="0"/>
              </a:spcAft>
              <a:buNone/>
            </a:pPr>
            <a:r>
              <a:rPr lang="en-US" sz="2400" b="1" dirty="0" smtClean="0">
                <a:solidFill>
                  <a:srgbClr val="C00000"/>
                </a:solidFill>
              </a:rPr>
              <a:t>What is </a:t>
            </a:r>
            <a:r>
              <a:rPr lang="en-US" sz="2400" b="1" dirty="0" err="1" smtClean="0">
                <a:solidFill>
                  <a:srgbClr val="C00000"/>
                </a:solidFill>
              </a:rPr>
              <a:t>Dataframe</a:t>
            </a:r>
            <a:r>
              <a:rPr lang="en-US" sz="2400" b="1" dirty="0" smtClean="0">
                <a:solidFill>
                  <a:srgbClr val="C00000"/>
                </a:solidFill>
              </a:rPr>
              <a:t>?</a:t>
            </a:r>
          </a:p>
          <a:p>
            <a:pPr marL="0" indent="0">
              <a:lnSpc>
                <a:spcPct val="100000"/>
              </a:lnSpc>
              <a:spcBef>
                <a:spcPts val="0"/>
              </a:spcBef>
              <a:spcAft>
                <a:spcPts val="0"/>
              </a:spcAft>
              <a:buNone/>
            </a:pPr>
            <a:r>
              <a:rPr lang="en-US" sz="2400" dirty="0"/>
              <a:t>A DataFrame is a </a:t>
            </a:r>
            <a:r>
              <a:rPr lang="en-US" sz="2400" b="1" dirty="0"/>
              <a:t>structured</a:t>
            </a:r>
            <a:r>
              <a:rPr lang="en-US" sz="2400" dirty="0"/>
              <a:t>, </a:t>
            </a:r>
            <a:r>
              <a:rPr lang="en-US" sz="2400" b="1" dirty="0"/>
              <a:t>distributed dataset with schema,</a:t>
            </a:r>
            <a:r>
              <a:rPr lang="en-US" sz="2400" dirty="0"/>
              <a:t> providing a </a:t>
            </a:r>
            <a:r>
              <a:rPr lang="en-US" sz="2400" b="1" dirty="0"/>
              <a:t>high-level abstraction</a:t>
            </a:r>
            <a:r>
              <a:rPr lang="en-US" sz="2400" dirty="0"/>
              <a:t> and </a:t>
            </a:r>
            <a:r>
              <a:rPr lang="en-US" sz="2400" b="1" dirty="0"/>
              <a:t>optimized processing</a:t>
            </a:r>
            <a:r>
              <a:rPr lang="en-US" sz="2400" dirty="0"/>
              <a:t> for big data.</a:t>
            </a:r>
          </a:p>
          <a:p>
            <a:pPr marL="0" indent="0">
              <a:lnSpc>
                <a:spcPct val="100000"/>
              </a:lnSpc>
              <a:spcBef>
                <a:spcPts val="0"/>
              </a:spcBef>
              <a:spcAft>
                <a:spcPts val="0"/>
              </a:spcAft>
              <a:buNone/>
            </a:pPr>
            <a:r>
              <a:rPr lang="en-US" sz="2400" b="1" dirty="0" smtClean="0">
                <a:solidFill>
                  <a:srgbClr val="C00000"/>
                </a:solidFill>
              </a:rPr>
              <a:t>Key </a:t>
            </a:r>
            <a:r>
              <a:rPr lang="en-US" sz="2400" b="1" dirty="0">
                <a:solidFill>
                  <a:srgbClr val="C00000"/>
                </a:solidFill>
              </a:rPr>
              <a:t>Idea</a:t>
            </a:r>
          </a:p>
          <a:p>
            <a:pPr>
              <a:lnSpc>
                <a:spcPct val="100000"/>
              </a:lnSpc>
              <a:spcBef>
                <a:spcPts val="0"/>
              </a:spcBef>
              <a:spcAft>
                <a:spcPts val="0"/>
              </a:spcAft>
            </a:pPr>
            <a:r>
              <a:rPr lang="en-US" sz="2400" dirty="0"/>
              <a:t>Data is structured like a </a:t>
            </a:r>
            <a:r>
              <a:rPr lang="en-US" sz="2400" b="1" dirty="0" smtClean="0"/>
              <a:t>table</a:t>
            </a:r>
          </a:p>
          <a:p>
            <a:pPr marL="0" indent="0">
              <a:lnSpc>
                <a:spcPct val="100000"/>
              </a:lnSpc>
              <a:spcBef>
                <a:spcPts val="0"/>
              </a:spcBef>
              <a:spcAft>
                <a:spcPts val="0"/>
              </a:spcAft>
              <a:buNone/>
            </a:pPr>
            <a:r>
              <a:rPr lang="en-US" sz="2400" b="1" dirty="0"/>
              <a:t>DataFrame is similar to</a:t>
            </a:r>
            <a:r>
              <a:rPr lang="en-US" sz="2400" b="1" dirty="0" smtClean="0"/>
              <a:t>:</a:t>
            </a:r>
          </a:p>
          <a:p>
            <a:pPr marL="457200" indent="-457200">
              <a:lnSpc>
                <a:spcPct val="100000"/>
              </a:lnSpc>
              <a:spcBef>
                <a:spcPts val="0"/>
              </a:spcBef>
              <a:spcAft>
                <a:spcPts val="0"/>
              </a:spcAft>
              <a:buFont typeface="+mj-lt"/>
              <a:buAutoNum type="arabicPeriod"/>
            </a:pPr>
            <a:r>
              <a:rPr lang="en-US" sz="2400" dirty="0" smtClean="0"/>
              <a:t>Relational </a:t>
            </a:r>
            <a:r>
              <a:rPr lang="en-US" sz="2400" dirty="0"/>
              <a:t>database </a:t>
            </a:r>
            <a:r>
              <a:rPr lang="en-US" sz="2400" dirty="0" smtClean="0"/>
              <a:t>table</a:t>
            </a:r>
          </a:p>
          <a:p>
            <a:pPr marL="457200" indent="-457200">
              <a:lnSpc>
                <a:spcPct val="100000"/>
              </a:lnSpc>
              <a:spcBef>
                <a:spcPts val="0"/>
              </a:spcBef>
              <a:spcAft>
                <a:spcPts val="0"/>
              </a:spcAft>
              <a:buFont typeface="+mj-lt"/>
              <a:buAutoNum type="arabicPeriod"/>
            </a:pPr>
            <a:r>
              <a:rPr lang="en-US" sz="2400" dirty="0" smtClean="0"/>
              <a:t>Python </a:t>
            </a:r>
            <a:r>
              <a:rPr lang="en-US" sz="2400" dirty="0"/>
              <a:t>pandas </a:t>
            </a:r>
            <a:r>
              <a:rPr lang="en-US" sz="2400" dirty="0" smtClean="0"/>
              <a:t>DataFrame</a:t>
            </a:r>
          </a:p>
          <a:p>
            <a:pPr marL="457200" indent="-457200">
              <a:lnSpc>
                <a:spcPct val="100000"/>
              </a:lnSpc>
              <a:spcBef>
                <a:spcPts val="0"/>
              </a:spcBef>
              <a:spcAft>
                <a:spcPts val="0"/>
              </a:spcAft>
              <a:buFont typeface="+mj-lt"/>
              <a:buAutoNum type="arabicPeriod"/>
            </a:pPr>
            <a:r>
              <a:rPr lang="en-US" sz="2400" dirty="0" smtClean="0"/>
              <a:t>SQL table</a:t>
            </a:r>
          </a:p>
          <a:p>
            <a:pPr marL="0" indent="0">
              <a:lnSpc>
                <a:spcPct val="100000"/>
              </a:lnSpc>
              <a:spcBef>
                <a:spcPts val="0"/>
              </a:spcBef>
              <a:spcAft>
                <a:spcPts val="0"/>
              </a:spcAft>
              <a:buNone/>
            </a:pPr>
            <a:r>
              <a:rPr lang="en-US" b="1" dirty="0" err="1"/>
              <a:t>Dataframe</a:t>
            </a:r>
            <a:r>
              <a:rPr lang="en-US" b="1" dirty="0"/>
              <a:t> Advantages:</a:t>
            </a:r>
          </a:p>
          <a:p>
            <a:pPr marL="457200" indent="-457200">
              <a:lnSpc>
                <a:spcPct val="100000"/>
              </a:lnSpc>
              <a:spcBef>
                <a:spcPts val="0"/>
              </a:spcBef>
              <a:spcAft>
                <a:spcPts val="0"/>
              </a:spcAft>
              <a:buFont typeface="+mj-lt"/>
              <a:buAutoNum type="arabicPeriod"/>
            </a:pPr>
            <a:r>
              <a:rPr lang="en-US" sz="2400" dirty="0" smtClean="0"/>
              <a:t>Easy to understand </a:t>
            </a:r>
          </a:p>
          <a:p>
            <a:pPr marL="457200" indent="-457200">
              <a:lnSpc>
                <a:spcPct val="100000"/>
              </a:lnSpc>
              <a:spcBef>
                <a:spcPts val="0"/>
              </a:spcBef>
              <a:spcAft>
                <a:spcPts val="0"/>
              </a:spcAft>
              <a:buFont typeface="+mj-lt"/>
              <a:buAutoNum type="arabicPeriod"/>
            </a:pPr>
            <a:r>
              <a:rPr lang="en-US" sz="2400" dirty="0" smtClean="0"/>
              <a:t>Easy to query using SQL like code </a:t>
            </a:r>
          </a:p>
          <a:p>
            <a:pPr marL="457200" indent="-457200">
              <a:lnSpc>
                <a:spcPct val="100000"/>
              </a:lnSpc>
              <a:spcBef>
                <a:spcPts val="0"/>
              </a:spcBef>
              <a:spcAft>
                <a:spcPts val="0"/>
              </a:spcAft>
              <a:buFont typeface="+mj-lt"/>
              <a:buAutoNum type="arabicPeriod"/>
            </a:pPr>
            <a:r>
              <a:rPr lang="en-US" sz="2400" dirty="0" smtClean="0"/>
              <a:t>Familiar to most users </a:t>
            </a:r>
            <a:endParaRPr lang="en-US" sz="2400" dirty="0"/>
          </a:p>
          <a:p>
            <a:pPr marL="0" indent="0">
              <a:lnSpc>
                <a:spcPct val="100000"/>
              </a:lnSpc>
              <a:spcBef>
                <a:spcPts val="0"/>
              </a:spcBef>
              <a:spcAft>
                <a:spcPts val="0"/>
              </a:spcAft>
              <a:buNone/>
            </a:pPr>
            <a:endParaRPr lang="en-US" sz="2400" dirty="0"/>
          </a:p>
          <a:p>
            <a:pPr marL="128016" lvl="1" indent="0">
              <a:lnSpc>
                <a:spcPct val="100000"/>
              </a:lnSpc>
              <a:spcBef>
                <a:spcPts val="0"/>
              </a:spcBef>
              <a:spcAft>
                <a:spcPts val="0"/>
              </a:spcAft>
              <a:buNone/>
            </a:pPr>
            <a:endParaRPr lang="en-US" sz="2400" dirty="0"/>
          </a:p>
        </p:txBody>
      </p:sp>
      <p:sp>
        <p:nvSpPr>
          <p:cNvPr id="7" name="Rectangle 6"/>
          <p:cNvSpPr/>
          <p:nvPr/>
        </p:nvSpPr>
        <p:spPr>
          <a:xfrm>
            <a:off x="6793549" y="3564967"/>
            <a:ext cx="3454856" cy="1815882"/>
          </a:xfrm>
          <a:prstGeom prst="rect">
            <a:avLst/>
          </a:prstGeom>
        </p:spPr>
        <p:txBody>
          <a:bodyPr wrap="square">
            <a:spAutoFit/>
          </a:bodyPr>
          <a:lstStyle/>
          <a:p>
            <a:pPr algn="ctr"/>
            <a:r>
              <a:rPr lang="en-US" sz="2800" b="1" i="1" dirty="0" smtClean="0">
                <a:solidFill>
                  <a:srgbClr val="C00000"/>
                </a:solidFill>
              </a:rPr>
              <a:t>Simply, </a:t>
            </a:r>
            <a:r>
              <a:rPr lang="en-US" sz="2800" b="1" i="1" dirty="0" err="1" smtClean="0">
                <a:solidFill>
                  <a:srgbClr val="C00000"/>
                </a:solidFill>
              </a:rPr>
              <a:t>Dataframe</a:t>
            </a:r>
            <a:r>
              <a:rPr lang="en-US" sz="2800" b="1" i="1" dirty="0" smtClean="0">
                <a:solidFill>
                  <a:srgbClr val="C00000"/>
                </a:solidFill>
              </a:rPr>
              <a:t> </a:t>
            </a:r>
            <a:r>
              <a:rPr lang="en-US" sz="2800" b="1" i="1" dirty="0">
                <a:solidFill>
                  <a:srgbClr val="C00000"/>
                </a:solidFill>
              </a:rPr>
              <a:t>is a relational table with good optimization technique.</a:t>
            </a:r>
            <a:endParaRPr lang="en-US" sz="2800" i="1" dirty="0"/>
          </a:p>
        </p:txBody>
      </p:sp>
    </p:spTree>
    <p:extLst>
      <p:ext uri="{BB962C8B-B14F-4D97-AF65-F5344CB8AC3E}">
        <p14:creationId xmlns:p14="http://schemas.microsoft.com/office/powerpoint/2010/main" val="17818987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RDD vs </a:t>
            </a:r>
            <a:r>
              <a:rPr lang="en-US" b="1" dirty="0" err="1" smtClean="0"/>
              <a:t>dataframe</a:t>
            </a:r>
            <a:r>
              <a:rPr lang="en-US" b="1" dirty="0" smtClean="0"/>
              <a:t> code </a:t>
            </a:r>
            <a:endParaRPr lang="en-US" b="1" dirty="0"/>
          </a:p>
        </p:txBody>
      </p:sp>
      <p:pic>
        <p:nvPicPr>
          <p:cNvPr id="4" name="Picture 3"/>
          <p:cNvPicPr>
            <a:picLocks noChangeAspect="1"/>
          </p:cNvPicPr>
          <p:nvPr/>
        </p:nvPicPr>
        <p:blipFill>
          <a:blip r:embed="rId3"/>
          <a:stretch>
            <a:fillRect/>
          </a:stretch>
        </p:blipFill>
        <p:spPr>
          <a:xfrm>
            <a:off x="265103" y="2025574"/>
            <a:ext cx="8860607" cy="2095014"/>
          </a:xfrm>
          <a:prstGeom prst="rect">
            <a:avLst/>
          </a:prstGeom>
        </p:spPr>
      </p:pic>
      <p:pic>
        <p:nvPicPr>
          <p:cNvPr id="5" name="Picture 4"/>
          <p:cNvPicPr>
            <a:picLocks noChangeAspect="1"/>
          </p:cNvPicPr>
          <p:nvPr/>
        </p:nvPicPr>
        <p:blipFill>
          <a:blip r:embed="rId4"/>
          <a:stretch>
            <a:fillRect/>
          </a:stretch>
        </p:blipFill>
        <p:spPr>
          <a:xfrm>
            <a:off x="2397530" y="4297032"/>
            <a:ext cx="5521726" cy="2034320"/>
          </a:xfrm>
          <a:prstGeom prst="rect">
            <a:avLst/>
          </a:prstGeom>
        </p:spPr>
      </p:pic>
      <p:sp>
        <p:nvSpPr>
          <p:cNvPr id="6" name="Rectangle 1"/>
          <p:cNvSpPr>
            <a:spLocks noChangeArrowheads="1"/>
          </p:cNvSpPr>
          <p:nvPr/>
        </p:nvSpPr>
        <p:spPr bwMode="auto">
          <a:xfrm>
            <a:off x="8889366" y="2317778"/>
            <a:ext cx="349555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solidFill>
                  <a:srgbClr val="C00000"/>
                </a:solidFill>
                <a:effectLst/>
              </a:rPr>
              <a:t>RDD API</a:t>
            </a:r>
            <a:endParaRPr lang="en-US" altLang="en-US" sz="2400" dirty="0">
              <a:solidFill>
                <a:srgbClr val="C00000"/>
              </a:solidFill>
            </a:endParaRPr>
          </a:p>
          <a:p>
            <a:pPr marL="0" marR="0" lvl="0" indent="0" algn="ctr"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rgbClr val="C00000"/>
                </a:solidFill>
                <a:effectLst/>
              </a:rPr>
              <a:t>Low‑level, manual, verbose, less optimized.</a:t>
            </a:r>
          </a:p>
        </p:txBody>
      </p:sp>
      <p:sp>
        <p:nvSpPr>
          <p:cNvPr id="7" name="Rectangle 6"/>
          <p:cNvSpPr/>
          <p:nvPr/>
        </p:nvSpPr>
        <p:spPr>
          <a:xfrm>
            <a:off x="8082987" y="4484921"/>
            <a:ext cx="376949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sz="2400" b="1" dirty="0">
                <a:solidFill>
                  <a:srgbClr val="C00000"/>
                </a:solidFill>
              </a:rPr>
              <a:t>DataFrame </a:t>
            </a:r>
            <a:r>
              <a:rPr lang="en-US" sz="2400" b="1" dirty="0" smtClean="0">
                <a:solidFill>
                  <a:srgbClr val="C00000"/>
                </a:solidFill>
              </a:rPr>
              <a:t>API</a:t>
            </a:r>
          </a:p>
          <a:p>
            <a:pPr algn="ctr" eaLnBrk="0" fontAlgn="base" hangingPunct="0">
              <a:spcBef>
                <a:spcPct val="0"/>
              </a:spcBef>
              <a:spcAft>
                <a:spcPct val="0"/>
              </a:spcAft>
            </a:pPr>
            <a:r>
              <a:rPr lang="en-US" sz="2400" dirty="0" smtClean="0">
                <a:solidFill>
                  <a:srgbClr val="C00000"/>
                </a:solidFill>
              </a:rPr>
              <a:t>High‑level</a:t>
            </a:r>
            <a:r>
              <a:rPr lang="en-US" sz="2400" dirty="0">
                <a:solidFill>
                  <a:srgbClr val="C00000"/>
                </a:solidFill>
              </a:rPr>
              <a:t>, declarative, concise, automatically </a:t>
            </a:r>
            <a:r>
              <a:rPr lang="en-US" sz="2400" dirty="0" smtClean="0">
                <a:solidFill>
                  <a:srgbClr val="C00000"/>
                </a:solidFill>
              </a:rPr>
              <a:t>optimized</a:t>
            </a:r>
            <a:endParaRPr lang="en-US" sz="2400" dirty="0">
              <a:solidFill>
                <a:srgbClr val="C00000"/>
              </a:solidFill>
            </a:endParaRPr>
          </a:p>
        </p:txBody>
      </p:sp>
    </p:spTree>
    <p:extLst>
      <p:ext uri="{BB962C8B-B14F-4D97-AF65-F5344CB8AC3E}">
        <p14:creationId xmlns:p14="http://schemas.microsoft.com/office/powerpoint/2010/main" val="328303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483062" cy="1499616"/>
          </a:xfrm>
        </p:spPr>
        <p:txBody>
          <a:bodyPr>
            <a:normAutofit/>
          </a:bodyPr>
          <a:lstStyle/>
          <a:p>
            <a:pPr>
              <a:lnSpc>
                <a:spcPct val="100000"/>
              </a:lnSpc>
              <a:spcBef>
                <a:spcPts val="0"/>
              </a:spcBef>
              <a:spcAft>
                <a:spcPts val="0"/>
              </a:spcAft>
            </a:pPr>
            <a:r>
              <a:rPr lang="en-US" sz="5400" b="1" dirty="0" smtClean="0"/>
              <a:t>Spark </a:t>
            </a:r>
            <a:r>
              <a:rPr lang="en-US" sz="5400" b="1" dirty="0" err="1" smtClean="0"/>
              <a:t>dataframe</a:t>
            </a:r>
            <a:endParaRPr lang="en-US" sz="5400" b="1" dirty="0"/>
          </a:p>
        </p:txBody>
      </p:sp>
      <p:sp>
        <p:nvSpPr>
          <p:cNvPr id="3" name="Content Placeholder 2"/>
          <p:cNvSpPr>
            <a:spLocks noGrp="1"/>
          </p:cNvSpPr>
          <p:nvPr>
            <p:ph idx="1"/>
          </p:nvPr>
        </p:nvSpPr>
        <p:spPr>
          <a:xfrm>
            <a:off x="917251" y="2084832"/>
            <a:ext cx="8476132" cy="4023360"/>
          </a:xfrm>
        </p:spPr>
        <p:txBody>
          <a:bodyPr>
            <a:noAutofit/>
          </a:bodyPr>
          <a:lstStyle/>
          <a:p>
            <a:pPr marL="0" indent="0">
              <a:lnSpc>
                <a:spcPct val="100000"/>
              </a:lnSpc>
              <a:spcBef>
                <a:spcPts val="0"/>
              </a:spcBef>
              <a:spcAft>
                <a:spcPts val="0"/>
              </a:spcAft>
              <a:buNone/>
            </a:pPr>
            <a:r>
              <a:rPr lang="en-US" sz="2600" b="1" dirty="0" err="1" smtClean="0">
                <a:solidFill>
                  <a:srgbClr val="C00000"/>
                </a:solidFill>
              </a:rPr>
              <a:t>Dataframe</a:t>
            </a:r>
            <a:r>
              <a:rPr lang="en-US" sz="2600" b="1" dirty="0">
                <a:solidFill>
                  <a:srgbClr val="C00000"/>
                </a:solidFill>
              </a:rPr>
              <a:t> </a:t>
            </a:r>
            <a:r>
              <a:rPr lang="en-US" sz="2600" b="1" dirty="0" smtClean="0">
                <a:solidFill>
                  <a:srgbClr val="C00000"/>
                </a:solidFill>
              </a:rPr>
              <a:t>Characteristics</a:t>
            </a:r>
          </a:p>
          <a:p>
            <a:pPr marL="457200" indent="-457200">
              <a:lnSpc>
                <a:spcPct val="100000"/>
              </a:lnSpc>
              <a:spcBef>
                <a:spcPts val="0"/>
              </a:spcBef>
              <a:spcAft>
                <a:spcPts val="0"/>
              </a:spcAft>
              <a:buFont typeface="+mj-lt"/>
              <a:buAutoNum type="arabicPeriod"/>
            </a:pPr>
            <a:r>
              <a:rPr lang="en-US" sz="2600" b="1" dirty="0" smtClean="0"/>
              <a:t>Structured Data </a:t>
            </a:r>
            <a:r>
              <a:rPr lang="en-US" sz="2600" dirty="0" smtClean="0">
                <a:sym typeface="Wingdings" panose="05000000000000000000" pitchFamily="2" charset="2"/>
              </a:rPr>
              <a:t> </a:t>
            </a:r>
            <a:r>
              <a:rPr lang="en-US" sz="2600" dirty="0" smtClean="0"/>
              <a:t>Works </a:t>
            </a:r>
            <a:r>
              <a:rPr lang="en-US" sz="2600" dirty="0"/>
              <a:t>with tabular </a:t>
            </a:r>
            <a:r>
              <a:rPr lang="en-US" sz="2600" dirty="0" smtClean="0"/>
              <a:t>data</a:t>
            </a:r>
            <a:endParaRPr lang="en-US" sz="2600" dirty="0"/>
          </a:p>
          <a:p>
            <a:pPr marL="457200" indent="-457200">
              <a:lnSpc>
                <a:spcPct val="100000"/>
              </a:lnSpc>
              <a:spcBef>
                <a:spcPts val="0"/>
              </a:spcBef>
              <a:spcAft>
                <a:spcPts val="0"/>
              </a:spcAft>
              <a:buFont typeface="+mj-lt"/>
              <a:buAutoNum type="arabicPeriod"/>
            </a:pPr>
            <a:r>
              <a:rPr lang="en-US" sz="2600" b="1" dirty="0" smtClean="0"/>
              <a:t>Schema-based</a:t>
            </a:r>
            <a:r>
              <a:rPr lang="en-US" sz="2600" dirty="0" smtClean="0"/>
              <a:t> </a:t>
            </a:r>
            <a:r>
              <a:rPr lang="en-US" sz="2600" dirty="0" smtClean="0">
                <a:sym typeface="Wingdings" panose="05000000000000000000" pitchFamily="2" charset="2"/>
              </a:rPr>
              <a:t> </a:t>
            </a:r>
            <a:r>
              <a:rPr lang="en-US" sz="2600" dirty="0" smtClean="0"/>
              <a:t>Every </a:t>
            </a:r>
            <a:r>
              <a:rPr lang="en-US" sz="2600" dirty="0"/>
              <a:t>column has a defined </a:t>
            </a:r>
            <a:r>
              <a:rPr lang="en-US" sz="2600" dirty="0" smtClean="0"/>
              <a:t>type</a:t>
            </a:r>
            <a:endParaRPr lang="en-US" sz="2600" dirty="0"/>
          </a:p>
          <a:p>
            <a:pPr marL="457200" indent="-457200">
              <a:lnSpc>
                <a:spcPct val="100000"/>
              </a:lnSpc>
              <a:spcBef>
                <a:spcPts val="0"/>
              </a:spcBef>
              <a:spcAft>
                <a:spcPts val="0"/>
              </a:spcAft>
              <a:buFont typeface="+mj-lt"/>
              <a:buAutoNum type="arabicPeriod"/>
            </a:pPr>
            <a:r>
              <a:rPr lang="en-US" sz="2600" b="1" dirty="0" smtClean="0"/>
              <a:t>Distributed</a:t>
            </a:r>
            <a:r>
              <a:rPr lang="en-US" sz="2600" dirty="0" smtClean="0"/>
              <a:t> </a:t>
            </a:r>
            <a:r>
              <a:rPr lang="en-US" sz="2600" dirty="0" smtClean="0">
                <a:sym typeface="Wingdings" panose="05000000000000000000" pitchFamily="2" charset="2"/>
              </a:rPr>
              <a:t> </a:t>
            </a:r>
            <a:r>
              <a:rPr lang="en-US" sz="2600" dirty="0" smtClean="0"/>
              <a:t>Data </a:t>
            </a:r>
            <a:r>
              <a:rPr lang="en-US" sz="2600" dirty="0"/>
              <a:t>is split across multiple </a:t>
            </a:r>
            <a:r>
              <a:rPr lang="en-US" sz="2600" dirty="0" smtClean="0"/>
              <a:t>nodes</a:t>
            </a:r>
            <a:endParaRPr lang="en-US" sz="2600" dirty="0"/>
          </a:p>
          <a:p>
            <a:pPr marL="457200" indent="-457200">
              <a:lnSpc>
                <a:spcPct val="100000"/>
              </a:lnSpc>
              <a:spcBef>
                <a:spcPts val="0"/>
              </a:spcBef>
              <a:spcAft>
                <a:spcPts val="0"/>
              </a:spcAft>
              <a:buFont typeface="+mj-lt"/>
              <a:buAutoNum type="arabicPeriod"/>
            </a:pPr>
            <a:r>
              <a:rPr lang="en-US" sz="2600" b="1" dirty="0" smtClean="0"/>
              <a:t>Immutable</a:t>
            </a:r>
            <a:r>
              <a:rPr lang="en-US" sz="2600" dirty="0" smtClean="0"/>
              <a:t> </a:t>
            </a:r>
            <a:r>
              <a:rPr lang="en-US" sz="2600" dirty="0" smtClean="0">
                <a:sym typeface="Wingdings" panose="05000000000000000000" pitchFamily="2" charset="2"/>
              </a:rPr>
              <a:t> </a:t>
            </a:r>
            <a:r>
              <a:rPr lang="en-US" sz="2600" dirty="0" smtClean="0"/>
              <a:t>Cannot </a:t>
            </a:r>
            <a:r>
              <a:rPr lang="en-US" sz="2600" dirty="0"/>
              <a:t>modify → create new DataFrame</a:t>
            </a:r>
          </a:p>
        </p:txBody>
      </p:sp>
    </p:spTree>
    <p:extLst>
      <p:ext uri="{BB962C8B-B14F-4D97-AF65-F5344CB8AC3E}">
        <p14:creationId xmlns:p14="http://schemas.microsoft.com/office/powerpoint/2010/main" val="40875982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Why </a:t>
            </a:r>
            <a:r>
              <a:rPr lang="en-US" b="1" dirty="0" err="1" smtClean="0"/>
              <a:t>dataframe</a:t>
            </a:r>
            <a:r>
              <a:rPr lang="en-US" b="1" dirty="0" smtClean="0"/>
              <a:t>?</a:t>
            </a:r>
            <a:endParaRPr lang="en-US" b="1" dirty="0"/>
          </a:p>
        </p:txBody>
      </p:sp>
      <p:sp>
        <p:nvSpPr>
          <p:cNvPr id="3" name="Content Placeholder 2"/>
          <p:cNvSpPr>
            <a:spLocks noGrp="1"/>
          </p:cNvSpPr>
          <p:nvPr>
            <p:ph idx="1"/>
          </p:nvPr>
        </p:nvSpPr>
        <p:spPr>
          <a:xfrm>
            <a:off x="834123" y="1989116"/>
            <a:ext cx="10497492" cy="4023360"/>
          </a:xfrm>
        </p:spPr>
        <p:txBody>
          <a:bodyPr>
            <a:noAutofit/>
          </a:bodyPr>
          <a:lstStyle/>
          <a:p>
            <a:pPr algn="just">
              <a:lnSpc>
                <a:spcPct val="100000"/>
              </a:lnSpc>
              <a:spcBef>
                <a:spcPts val="0"/>
              </a:spcBef>
              <a:spcAft>
                <a:spcPts val="0"/>
              </a:spcAft>
              <a:buFont typeface="Wingdings" panose="05000000000000000000" pitchFamily="2" charset="2"/>
              <a:buChar char="q"/>
            </a:pPr>
            <a:r>
              <a:rPr lang="en-US" sz="2600" b="1" dirty="0" smtClean="0">
                <a:solidFill>
                  <a:srgbClr val="C00000"/>
                </a:solidFill>
              </a:rPr>
              <a:t> DataFrame </a:t>
            </a:r>
            <a:r>
              <a:rPr lang="en-US" sz="2600" b="1" dirty="0">
                <a:solidFill>
                  <a:srgbClr val="C00000"/>
                </a:solidFill>
              </a:rPr>
              <a:t>is one step ahead of </a:t>
            </a:r>
            <a:r>
              <a:rPr lang="en-US" sz="2600" b="1" dirty="0" smtClean="0">
                <a:solidFill>
                  <a:srgbClr val="C00000"/>
                </a:solidFill>
              </a:rPr>
              <a:t>RDD </a:t>
            </a:r>
            <a:r>
              <a:rPr lang="en-US" sz="2600" b="1" i="1" dirty="0" smtClean="0">
                <a:solidFill>
                  <a:srgbClr val="C00000"/>
                </a:solidFill>
              </a:rPr>
              <a:t>(</a:t>
            </a:r>
            <a:r>
              <a:rPr lang="en-US" sz="2600" b="1" i="1" dirty="0">
                <a:solidFill>
                  <a:srgbClr val="C00000"/>
                </a:solidFill>
              </a:rPr>
              <a:t>H</a:t>
            </a:r>
            <a:r>
              <a:rPr lang="en-US" sz="2600" b="1" i="1" dirty="0" smtClean="0">
                <a:solidFill>
                  <a:srgbClr val="C00000"/>
                </a:solidFill>
              </a:rPr>
              <a:t>igher </a:t>
            </a:r>
            <a:r>
              <a:rPr lang="en-US" sz="2600" b="1" i="1" dirty="0">
                <a:solidFill>
                  <a:srgbClr val="C00000"/>
                </a:solidFill>
              </a:rPr>
              <a:t>L</a:t>
            </a:r>
            <a:r>
              <a:rPr lang="en-US" sz="2600" b="1" i="1" dirty="0" smtClean="0">
                <a:solidFill>
                  <a:srgbClr val="C00000"/>
                </a:solidFill>
              </a:rPr>
              <a:t>evel Abstraction).</a:t>
            </a:r>
          </a:p>
          <a:p>
            <a:pPr marL="0" indent="0" algn="just">
              <a:lnSpc>
                <a:spcPct val="100000"/>
              </a:lnSpc>
              <a:spcBef>
                <a:spcPts val="0"/>
              </a:spcBef>
              <a:spcAft>
                <a:spcPts val="0"/>
              </a:spcAft>
              <a:buNone/>
            </a:pPr>
            <a:r>
              <a:rPr lang="en-US" sz="2600" b="1" i="1" dirty="0" smtClean="0"/>
              <a:t>RDD is a collection of generic objects</a:t>
            </a:r>
            <a:r>
              <a:rPr lang="en-US" sz="2600" dirty="0" smtClean="0"/>
              <a:t>, a </a:t>
            </a:r>
            <a:r>
              <a:rPr lang="en-US" sz="2600" b="1" i="1" dirty="0" smtClean="0"/>
              <a:t>DataFrame is like a distributed table with named columns and data types</a:t>
            </a:r>
            <a:r>
              <a:rPr lang="en-US" sz="2600" dirty="0" smtClean="0"/>
              <a:t> (a "Schema").</a:t>
            </a:r>
          </a:p>
          <a:p>
            <a:pPr marL="0" indent="0" algn="just">
              <a:lnSpc>
                <a:spcPct val="100000"/>
              </a:lnSpc>
              <a:spcBef>
                <a:spcPts val="0"/>
              </a:spcBef>
              <a:spcAft>
                <a:spcPts val="0"/>
              </a:spcAft>
              <a:buNone/>
            </a:pPr>
            <a:endParaRPr lang="en-US" sz="2600" dirty="0" smtClean="0"/>
          </a:p>
          <a:p>
            <a:pPr algn="just">
              <a:lnSpc>
                <a:spcPct val="100000"/>
              </a:lnSpc>
              <a:spcBef>
                <a:spcPts val="0"/>
              </a:spcBef>
              <a:spcAft>
                <a:spcPts val="0"/>
              </a:spcAft>
              <a:buFont typeface="Wingdings" panose="05000000000000000000" pitchFamily="2" charset="2"/>
              <a:buChar char="q"/>
            </a:pPr>
            <a:r>
              <a:rPr lang="en-US" sz="2600" dirty="0" smtClean="0"/>
              <a:t> </a:t>
            </a:r>
            <a:r>
              <a:rPr lang="en-US" sz="2600" dirty="0" err="1" smtClean="0"/>
              <a:t>Dataframe</a:t>
            </a:r>
            <a:r>
              <a:rPr lang="en-US" sz="2600" dirty="0" smtClean="0"/>
              <a:t> </a:t>
            </a:r>
            <a:r>
              <a:rPr lang="en-US" sz="2600" u="sng" dirty="0"/>
              <a:t>introduces </a:t>
            </a:r>
            <a:r>
              <a:rPr lang="en-US" sz="2600" b="1" u="sng" dirty="0" smtClean="0"/>
              <a:t>structure</a:t>
            </a:r>
            <a:r>
              <a:rPr lang="en-US" sz="2600" u="sng" dirty="0" smtClean="0"/>
              <a:t> </a:t>
            </a:r>
            <a:r>
              <a:rPr lang="en-US" sz="2600" u="sng" dirty="0"/>
              <a:t>to distributed </a:t>
            </a:r>
            <a:r>
              <a:rPr lang="en-US" sz="2600" u="sng" dirty="0" smtClean="0"/>
              <a:t>data</a:t>
            </a:r>
            <a:r>
              <a:rPr lang="en-US" sz="2600" dirty="0" smtClean="0"/>
              <a:t>. This </a:t>
            </a:r>
            <a:r>
              <a:rPr lang="en-US" sz="2600" dirty="0"/>
              <a:t>structured view </a:t>
            </a:r>
            <a:r>
              <a:rPr lang="en-US" sz="2600" b="1" u="sng" dirty="0" smtClean="0"/>
              <a:t>allows </a:t>
            </a:r>
            <a:r>
              <a:rPr lang="en-US" sz="2600" b="1" u="sng" dirty="0"/>
              <a:t>Spark to "peek" into your data and apply clever optimizations</a:t>
            </a:r>
            <a:r>
              <a:rPr lang="en-US" sz="2600" dirty="0"/>
              <a:t> that are </a:t>
            </a:r>
            <a:r>
              <a:rPr lang="en-US" sz="2600" i="1" dirty="0">
                <a:solidFill>
                  <a:srgbClr val="C00000"/>
                </a:solidFill>
              </a:rPr>
              <a:t>impossible with the "black box" nature of RDDs</a:t>
            </a:r>
            <a:r>
              <a:rPr lang="en-US" sz="2600" dirty="0" smtClean="0"/>
              <a:t>.</a:t>
            </a:r>
          </a:p>
          <a:p>
            <a:pPr algn="just">
              <a:lnSpc>
                <a:spcPct val="100000"/>
              </a:lnSpc>
              <a:spcBef>
                <a:spcPts val="0"/>
              </a:spcBef>
              <a:spcAft>
                <a:spcPts val="0"/>
              </a:spcAft>
              <a:buFont typeface="Wingdings" panose="05000000000000000000" pitchFamily="2" charset="2"/>
              <a:buChar char="q"/>
            </a:pPr>
            <a:r>
              <a:rPr lang="en-US" sz="2600" dirty="0" err="1" smtClean="0"/>
              <a:t>Dataframes</a:t>
            </a:r>
            <a:r>
              <a:rPr lang="en-US" sz="2600" dirty="0" smtClean="0"/>
              <a:t> enabled developers to focus on “</a:t>
            </a:r>
            <a:r>
              <a:rPr lang="en-US" sz="2600" b="1" dirty="0" smtClean="0"/>
              <a:t>What</a:t>
            </a:r>
            <a:r>
              <a:rPr lang="en-US" sz="2600" dirty="0" smtClean="0"/>
              <a:t>” to process instead of “</a:t>
            </a:r>
            <a:r>
              <a:rPr lang="en-US" sz="2600" b="1" dirty="0" smtClean="0"/>
              <a:t>How</a:t>
            </a:r>
            <a:r>
              <a:rPr lang="en-US" sz="2600" dirty="0" smtClean="0"/>
              <a:t>” to process it (</a:t>
            </a:r>
            <a:r>
              <a:rPr lang="en-US" sz="2600" i="1" dirty="0" smtClean="0"/>
              <a:t>low level programming</a:t>
            </a:r>
            <a:r>
              <a:rPr lang="en-US" sz="2600" dirty="0" smtClean="0"/>
              <a:t>)</a:t>
            </a:r>
          </a:p>
        </p:txBody>
      </p:sp>
    </p:spTree>
    <p:extLst>
      <p:ext uri="{BB962C8B-B14F-4D97-AF65-F5344CB8AC3E}">
        <p14:creationId xmlns:p14="http://schemas.microsoft.com/office/powerpoint/2010/main" val="22420309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Why </a:t>
            </a:r>
            <a:r>
              <a:rPr lang="en-US" b="1" dirty="0" err="1" smtClean="0"/>
              <a:t>dataframe</a:t>
            </a:r>
            <a:r>
              <a:rPr lang="en-US" b="1" dirty="0" smtClean="0"/>
              <a:t>?</a:t>
            </a:r>
            <a:endParaRPr lang="en-US" b="1" dirty="0"/>
          </a:p>
        </p:txBody>
      </p:sp>
      <p:sp>
        <p:nvSpPr>
          <p:cNvPr id="3" name="Content Placeholder 2"/>
          <p:cNvSpPr>
            <a:spLocks noGrp="1"/>
          </p:cNvSpPr>
          <p:nvPr>
            <p:ph idx="1"/>
          </p:nvPr>
        </p:nvSpPr>
        <p:spPr>
          <a:xfrm>
            <a:off x="834123" y="1989116"/>
            <a:ext cx="10497492" cy="4023360"/>
          </a:xfrm>
        </p:spPr>
        <p:txBody>
          <a:bodyPr>
            <a:noAutofit/>
          </a:bodyPr>
          <a:lstStyle/>
          <a:p>
            <a:pPr marL="0" indent="0" algn="just">
              <a:lnSpc>
                <a:spcPct val="100000"/>
              </a:lnSpc>
              <a:spcBef>
                <a:spcPts val="0"/>
              </a:spcBef>
              <a:spcAft>
                <a:spcPts val="0"/>
              </a:spcAft>
              <a:buNone/>
            </a:pPr>
            <a:r>
              <a:rPr lang="en-US" sz="2400" b="1" u="sng" dirty="0" smtClean="0"/>
              <a:t>The </a:t>
            </a:r>
            <a:r>
              <a:rPr lang="en-US" sz="2400" b="1" u="sng" dirty="0" err="1" smtClean="0"/>
              <a:t>DataFrame</a:t>
            </a:r>
            <a:r>
              <a:rPr lang="en-US" sz="2400" b="1" u="sng" dirty="0" smtClean="0"/>
              <a:t> API provides two critical low-level enhancements:</a:t>
            </a:r>
          </a:p>
          <a:p>
            <a:pPr algn="just">
              <a:lnSpc>
                <a:spcPct val="100000"/>
              </a:lnSpc>
              <a:spcBef>
                <a:spcPts val="0"/>
              </a:spcBef>
              <a:spcAft>
                <a:spcPts val="0"/>
              </a:spcAft>
            </a:pPr>
            <a:r>
              <a:rPr lang="en-US" sz="2400" b="1" dirty="0" smtClean="0"/>
              <a:t>a. Custom Memory Management (Project Tungsten):</a:t>
            </a:r>
            <a:r>
              <a:rPr lang="en-US" sz="2400" dirty="0" smtClean="0"/>
              <a:t> reduces RAM usage and garbage collection overhead.</a:t>
            </a:r>
          </a:p>
          <a:p>
            <a:pPr algn="just">
              <a:lnSpc>
                <a:spcPct val="100000"/>
              </a:lnSpc>
              <a:spcBef>
                <a:spcPts val="0"/>
              </a:spcBef>
              <a:spcAft>
                <a:spcPts val="0"/>
              </a:spcAft>
            </a:pPr>
            <a:r>
              <a:rPr lang="en-US" sz="2400" b="1" dirty="0" smtClean="0"/>
              <a:t>b. Optimized Execution Plans (Catalyst Optimizer):</a:t>
            </a:r>
            <a:r>
              <a:rPr lang="en-US" sz="2400" dirty="0" smtClean="0"/>
              <a:t> Automatically determines the fastest way to run your query before any data is processed.</a:t>
            </a:r>
            <a:endParaRPr lang="en-US" sz="2400" dirty="0"/>
          </a:p>
        </p:txBody>
      </p:sp>
    </p:spTree>
    <p:extLst>
      <p:ext uri="{BB962C8B-B14F-4D97-AF65-F5344CB8AC3E}">
        <p14:creationId xmlns:p14="http://schemas.microsoft.com/office/powerpoint/2010/main" val="162392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latin typeface="+mn-lt"/>
              </a:rPr>
              <a:t>Dataframe</a:t>
            </a:r>
            <a:r>
              <a:rPr lang="en-US" b="1" dirty="0" smtClean="0">
                <a:latin typeface="+mn-lt"/>
              </a:rPr>
              <a:t> vs </a:t>
            </a:r>
            <a:r>
              <a:rPr lang="en-US" b="1" dirty="0" err="1" smtClean="0">
                <a:latin typeface="+mn-lt"/>
              </a:rPr>
              <a:t>rdd</a:t>
            </a:r>
            <a:endParaRPr lang="en-US" b="1" dirty="0">
              <a:latin typeface="+mn-lt"/>
            </a:endParaRPr>
          </a:p>
        </p:txBody>
      </p:sp>
      <p:sp>
        <p:nvSpPr>
          <p:cNvPr id="4" name="Rectangle 1"/>
          <p:cNvSpPr>
            <a:spLocks noGrp="1" noChangeArrowheads="1"/>
          </p:cNvSpPr>
          <p:nvPr>
            <p:ph idx="1"/>
          </p:nvPr>
        </p:nvSpPr>
        <p:spPr bwMode="auto">
          <a:xfrm>
            <a:off x="1024128" y="2021898"/>
            <a:ext cx="701692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altLang="en-US" sz="2400" b="1" dirty="0" smtClean="0">
                <a:solidFill>
                  <a:srgbClr val="C00000"/>
                </a:solidFill>
              </a:rPr>
              <a:t>Both </a:t>
            </a:r>
            <a:r>
              <a:rPr lang="en-US" altLang="en-US" sz="2400" b="1" dirty="0">
                <a:solidFill>
                  <a:srgbClr val="C00000"/>
                </a:solidFill>
              </a:rPr>
              <a:t>DataFrame and RDD </a:t>
            </a:r>
            <a:r>
              <a:rPr lang="en-US" altLang="en-US" sz="2400" b="1" dirty="0" smtClean="0">
                <a:solidFill>
                  <a:srgbClr val="C00000"/>
                </a:solidFill>
              </a:rPr>
              <a:t>are:</a:t>
            </a:r>
            <a:endParaRPr lang="en-US" altLang="en-US" sz="2400" b="1" dirty="0">
              <a:solidFill>
                <a:srgbClr val="C00000"/>
              </a:solidFill>
            </a:endParaRPr>
          </a:p>
          <a:p>
            <a:pPr marL="457200" lvl="0" indent="-457200" eaLnBrk="0" fontAlgn="base" hangingPunct="0">
              <a:lnSpc>
                <a:spcPct val="100000"/>
              </a:lnSpc>
              <a:spcBef>
                <a:spcPct val="0"/>
              </a:spcBef>
              <a:spcAft>
                <a:spcPct val="0"/>
              </a:spcAft>
              <a:buClrTx/>
              <a:buSzTx/>
              <a:buFont typeface="+mj-lt"/>
              <a:buAutoNum type="arabicPeriod"/>
            </a:pPr>
            <a:r>
              <a:rPr lang="en-US" altLang="en-US" sz="2400" b="1" dirty="0"/>
              <a:t>In-Memory: </a:t>
            </a:r>
            <a:r>
              <a:rPr lang="en-US" altLang="en-US" sz="2400" dirty="0"/>
              <a:t>Active caching for speed.</a:t>
            </a:r>
          </a:p>
          <a:p>
            <a:pPr marL="457200" lvl="0" indent="-457200" eaLnBrk="0" fontAlgn="base" hangingPunct="0">
              <a:lnSpc>
                <a:spcPct val="100000"/>
              </a:lnSpc>
              <a:spcBef>
                <a:spcPct val="0"/>
              </a:spcBef>
              <a:spcAft>
                <a:spcPct val="0"/>
              </a:spcAft>
              <a:buClrTx/>
              <a:buSzTx/>
              <a:buFont typeface="+mj-lt"/>
              <a:buAutoNum type="arabicPeriod"/>
            </a:pPr>
            <a:r>
              <a:rPr lang="en-US" altLang="en-US" sz="2400" b="1" dirty="0"/>
              <a:t>Resilient: </a:t>
            </a:r>
            <a:r>
              <a:rPr lang="en-US" altLang="en-US" sz="2400" dirty="0"/>
              <a:t>Fault tolerant via lineage recovery.</a:t>
            </a:r>
          </a:p>
          <a:p>
            <a:pPr marL="457200" lvl="0" indent="-457200" eaLnBrk="0" fontAlgn="base" hangingPunct="0">
              <a:lnSpc>
                <a:spcPct val="100000"/>
              </a:lnSpc>
              <a:spcBef>
                <a:spcPct val="0"/>
              </a:spcBef>
              <a:spcAft>
                <a:spcPct val="0"/>
              </a:spcAft>
              <a:buClrTx/>
              <a:buSzTx/>
              <a:buFont typeface="+mj-lt"/>
              <a:buAutoNum type="arabicPeriod"/>
            </a:pPr>
            <a:r>
              <a:rPr lang="en-US" altLang="en-US" sz="2400" b="1" dirty="0"/>
              <a:t>Distributed: </a:t>
            </a:r>
            <a:r>
              <a:rPr lang="en-US" altLang="en-US" sz="2400" dirty="0"/>
              <a:t>Scalable parallel processing.</a:t>
            </a:r>
          </a:p>
          <a:p>
            <a:pPr marL="457200" lvl="0" indent="-457200" eaLnBrk="0" fontAlgn="base" hangingPunct="0">
              <a:lnSpc>
                <a:spcPct val="100000"/>
              </a:lnSpc>
              <a:spcBef>
                <a:spcPct val="0"/>
              </a:spcBef>
              <a:spcAft>
                <a:spcPct val="0"/>
              </a:spcAft>
              <a:buClrTx/>
              <a:buSzTx/>
              <a:buFont typeface="+mj-lt"/>
              <a:buAutoNum type="arabicPeriod"/>
            </a:pPr>
            <a:r>
              <a:rPr lang="en-US" altLang="en-US" sz="2400" b="1" dirty="0"/>
              <a:t>Immutable: </a:t>
            </a:r>
            <a:r>
              <a:rPr lang="en-US" altLang="en-US" sz="2400" dirty="0"/>
              <a:t>Locked-down, functional data objects</a:t>
            </a:r>
            <a:r>
              <a:rPr lang="en-US" altLang="en-US" sz="2400" dirty="0" smtClean="0"/>
              <a:t>.</a:t>
            </a:r>
            <a:endParaRPr lang="en-US"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1336525310"/>
              </p:ext>
            </p:extLst>
          </p:nvPr>
        </p:nvGraphicFramePr>
        <p:xfrm>
          <a:off x="1023939" y="4261736"/>
          <a:ext cx="9720260" cy="2286000"/>
        </p:xfrm>
        <a:graphic>
          <a:graphicData uri="http://schemas.openxmlformats.org/drawingml/2006/table">
            <a:tbl>
              <a:tblPr>
                <a:tableStyleId>{8799B23B-EC83-4686-B30A-512413B5E67A}</a:tableStyleId>
              </a:tblPr>
              <a:tblGrid>
                <a:gridCol w="2430065">
                  <a:extLst>
                    <a:ext uri="{9D8B030D-6E8A-4147-A177-3AD203B41FA5}">
                      <a16:colId xmlns:a16="http://schemas.microsoft.com/office/drawing/2014/main" val="603322173"/>
                    </a:ext>
                  </a:extLst>
                </a:gridCol>
                <a:gridCol w="2430065">
                  <a:extLst>
                    <a:ext uri="{9D8B030D-6E8A-4147-A177-3AD203B41FA5}">
                      <a16:colId xmlns:a16="http://schemas.microsoft.com/office/drawing/2014/main" val="785285795"/>
                    </a:ext>
                  </a:extLst>
                </a:gridCol>
                <a:gridCol w="2430065">
                  <a:extLst>
                    <a:ext uri="{9D8B030D-6E8A-4147-A177-3AD203B41FA5}">
                      <a16:colId xmlns:a16="http://schemas.microsoft.com/office/drawing/2014/main" val="2278053538"/>
                    </a:ext>
                  </a:extLst>
                </a:gridCol>
                <a:gridCol w="2430065">
                  <a:extLst>
                    <a:ext uri="{9D8B030D-6E8A-4147-A177-3AD203B41FA5}">
                      <a16:colId xmlns:a16="http://schemas.microsoft.com/office/drawing/2014/main" val="1898162765"/>
                    </a:ext>
                  </a:extLst>
                </a:gridCol>
              </a:tblGrid>
              <a:tr h="344685">
                <a:tc>
                  <a:txBody>
                    <a:bodyPr/>
                    <a:lstStyle/>
                    <a:p>
                      <a:pPr algn="ctr"/>
                      <a:r>
                        <a:rPr lang="en-US" sz="2400" b="1" dirty="0"/>
                        <a:t>Feature</a:t>
                      </a:r>
                    </a:p>
                  </a:txBody>
                  <a:tcPr anchor="ctr"/>
                </a:tc>
                <a:tc>
                  <a:txBody>
                    <a:bodyPr/>
                    <a:lstStyle/>
                    <a:p>
                      <a:pPr algn="ctr"/>
                      <a:r>
                        <a:rPr lang="en-US" sz="2400" b="1" dirty="0"/>
                        <a:t>RDD</a:t>
                      </a:r>
                    </a:p>
                  </a:txBody>
                  <a:tcPr anchor="ctr"/>
                </a:tc>
                <a:tc>
                  <a:txBody>
                    <a:bodyPr/>
                    <a:lstStyle/>
                    <a:p>
                      <a:pPr algn="ctr"/>
                      <a:r>
                        <a:rPr lang="en-US" sz="2400" b="1" dirty="0"/>
                        <a:t>DataFrame</a:t>
                      </a:r>
                    </a:p>
                  </a:txBody>
                  <a:tcPr anchor="ctr"/>
                </a:tc>
                <a:tc>
                  <a:txBody>
                    <a:bodyPr/>
                    <a:lstStyle/>
                    <a:p>
                      <a:pPr algn="ctr"/>
                      <a:r>
                        <a:rPr lang="en-US" sz="2400" b="1" dirty="0"/>
                        <a:t>SQL</a:t>
                      </a:r>
                    </a:p>
                  </a:txBody>
                  <a:tcPr anchor="ctr"/>
                </a:tc>
                <a:extLst>
                  <a:ext uri="{0D108BD9-81ED-4DB2-BD59-A6C34878D82A}">
                    <a16:rowId xmlns:a16="http://schemas.microsoft.com/office/drawing/2014/main" val="2017308240"/>
                  </a:ext>
                </a:extLst>
              </a:tr>
              <a:tr h="344685">
                <a:tc>
                  <a:txBody>
                    <a:bodyPr/>
                    <a:lstStyle/>
                    <a:p>
                      <a:pPr algn="ctr"/>
                      <a:r>
                        <a:rPr lang="en-US" sz="2400" b="1" dirty="0"/>
                        <a:t>Schema</a:t>
                      </a:r>
                    </a:p>
                  </a:txBody>
                  <a:tcPr anchor="ctr"/>
                </a:tc>
                <a:tc>
                  <a:txBody>
                    <a:bodyPr/>
                    <a:lstStyle/>
                    <a:p>
                      <a:pPr algn="ctr"/>
                      <a:r>
                        <a:rPr lang="en-US" sz="2400" dirty="0"/>
                        <a:t>None</a:t>
                      </a:r>
                    </a:p>
                  </a:txBody>
                  <a:tcPr anchor="ctr"/>
                </a:tc>
                <a:tc>
                  <a:txBody>
                    <a:bodyPr/>
                    <a:lstStyle/>
                    <a:p>
                      <a:pPr algn="ctr"/>
                      <a:r>
                        <a:rPr lang="en-US" sz="2400" dirty="0"/>
                        <a:t>Yes</a:t>
                      </a:r>
                    </a:p>
                  </a:txBody>
                  <a:tcPr anchor="ctr"/>
                </a:tc>
                <a:tc>
                  <a:txBody>
                    <a:bodyPr/>
                    <a:lstStyle/>
                    <a:p>
                      <a:pPr algn="ctr"/>
                      <a:r>
                        <a:rPr lang="en-US" sz="2400" dirty="0"/>
                        <a:t>Yes</a:t>
                      </a:r>
                    </a:p>
                  </a:txBody>
                  <a:tcPr anchor="ctr"/>
                </a:tc>
                <a:extLst>
                  <a:ext uri="{0D108BD9-81ED-4DB2-BD59-A6C34878D82A}">
                    <a16:rowId xmlns:a16="http://schemas.microsoft.com/office/drawing/2014/main" val="1004842815"/>
                  </a:ext>
                </a:extLst>
              </a:tr>
              <a:tr h="344685">
                <a:tc>
                  <a:txBody>
                    <a:bodyPr/>
                    <a:lstStyle/>
                    <a:p>
                      <a:pPr algn="ctr"/>
                      <a:r>
                        <a:rPr lang="en-US" sz="2400" b="1" dirty="0"/>
                        <a:t>Optimization</a:t>
                      </a:r>
                    </a:p>
                  </a:txBody>
                  <a:tcPr anchor="ctr"/>
                </a:tc>
                <a:tc>
                  <a:txBody>
                    <a:bodyPr/>
                    <a:lstStyle/>
                    <a:p>
                      <a:pPr algn="ctr"/>
                      <a:r>
                        <a:rPr lang="en-US" sz="2400"/>
                        <a:t>Manual</a:t>
                      </a:r>
                    </a:p>
                  </a:txBody>
                  <a:tcPr anchor="ctr"/>
                </a:tc>
                <a:tc>
                  <a:txBody>
                    <a:bodyPr/>
                    <a:lstStyle/>
                    <a:p>
                      <a:pPr algn="ctr"/>
                      <a:r>
                        <a:rPr lang="en-US" sz="2400"/>
                        <a:t>Automatic</a:t>
                      </a:r>
                    </a:p>
                  </a:txBody>
                  <a:tcPr anchor="ctr"/>
                </a:tc>
                <a:tc>
                  <a:txBody>
                    <a:bodyPr/>
                    <a:lstStyle/>
                    <a:p>
                      <a:pPr algn="ctr"/>
                      <a:r>
                        <a:rPr lang="en-US" sz="2400" dirty="0"/>
                        <a:t>Automatic</a:t>
                      </a:r>
                    </a:p>
                  </a:txBody>
                  <a:tcPr anchor="ctr"/>
                </a:tc>
                <a:extLst>
                  <a:ext uri="{0D108BD9-81ED-4DB2-BD59-A6C34878D82A}">
                    <a16:rowId xmlns:a16="http://schemas.microsoft.com/office/drawing/2014/main" val="2404822939"/>
                  </a:ext>
                </a:extLst>
              </a:tr>
              <a:tr h="344685">
                <a:tc>
                  <a:txBody>
                    <a:bodyPr/>
                    <a:lstStyle/>
                    <a:p>
                      <a:pPr algn="ctr"/>
                      <a:r>
                        <a:rPr lang="en-US" sz="2400" b="1" dirty="0"/>
                        <a:t>Syntax</a:t>
                      </a:r>
                    </a:p>
                  </a:txBody>
                  <a:tcPr anchor="ctr"/>
                </a:tc>
                <a:tc>
                  <a:txBody>
                    <a:bodyPr/>
                    <a:lstStyle/>
                    <a:p>
                      <a:pPr algn="ctr"/>
                      <a:r>
                        <a:rPr lang="en-US" sz="2400"/>
                        <a:t>Verbose</a:t>
                      </a:r>
                    </a:p>
                  </a:txBody>
                  <a:tcPr anchor="ctr"/>
                </a:tc>
                <a:tc>
                  <a:txBody>
                    <a:bodyPr/>
                    <a:lstStyle/>
                    <a:p>
                      <a:pPr algn="ctr"/>
                      <a:r>
                        <a:rPr lang="en-US" sz="2400" dirty="0"/>
                        <a:t>Concise</a:t>
                      </a:r>
                    </a:p>
                  </a:txBody>
                  <a:tcPr anchor="ctr"/>
                </a:tc>
                <a:tc>
                  <a:txBody>
                    <a:bodyPr/>
                    <a:lstStyle/>
                    <a:p>
                      <a:pPr algn="ctr"/>
                      <a:r>
                        <a:rPr lang="en-US" sz="2400" dirty="0"/>
                        <a:t>Familiar</a:t>
                      </a:r>
                    </a:p>
                  </a:txBody>
                  <a:tcPr anchor="ctr"/>
                </a:tc>
                <a:extLst>
                  <a:ext uri="{0D108BD9-81ED-4DB2-BD59-A6C34878D82A}">
                    <a16:rowId xmlns:a16="http://schemas.microsoft.com/office/drawing/2014/main" val="1544156713"/>
                  </a:ext>
                </a:extLst>
              </a:tr>
              <a:tr h="344685">
                <a:tc>
                  <a:txBody>
                    <a:bodyPr/>
                    <a:lstStyle/>
                    <a:p>
                      <a:pPr algn="ctr"/>
                      <a:r>
                        <a:rPr lang="en-US" sz="2400" b="1" dirty="0"/>
                        <a:t>Performance</a:t>
                      </a:r>
                    </a:p>
                  </a:txBody>
                  <a:tcPr anchor="ctr"/>
                </a:tc>
                <a:tc>
                  <a:txBody>
                    <a:bodyPr/>
                    <a:lstStyle/>
                    <a:p>
                      <a:pPr algn="ctr"/>
                      <a:r>
                        <a:rPr lang="en-US" sz="2400"/>
                        <a:t>Lower</a:t>
                      </a:r>
                    </a:p>
                  </a:txBody>
                  <a:tcPr anchor="ctr"/>
                </a:tc>
                <a:tc>
                  <a:txBody>
                    <a:bodyPr/>
                    <a:lstStyle/>
                    <a:p>
                      <a:pPr algn="ctr"/>
                      <a:r>
                        <a:rPr lang="en-US" sz="2400" dirty="0"/>
                        <a:t>Higher</a:t>
                      </a:r>
                    </a:p>
                  </a:txBody>
                  <a:tcPr anchor="ctr"/>
                </a:tc>
                <a:tc>
                  <a:txBody>
                    <a:bodyPr/>
                    <a:lstStyle/>
                    <a:p>
                      <a:pPr algn="ctr"/>
                      <a:r>
                        <a:rPr lang="en-US" sz="2400" dirty="0"/>
                        <a:t>Higher</a:t>
                      </a:r>
                    </a:p>
                  </a:txBody>
                  <a:tcPr anchor="ctr"/>
                </a:tc>
                <a:extLst>
                  <a:ext uri="{0D108BD9-81ED-4DB2-BD59-A6C34878D82A}">
                    <a16:rowId xmlns:a16="http://schemas.microsoft.com/office/drawing/2014/main" val="3755677754"/>
                  </a:ext>
                </a:extLst>
              </a:tr>
            </a:tbl>
          </a:graphicData>
        </a:graphic>
      </p:graphicFrame>
    </p:spTree>
    <p:extLst>
      <p:ext uri="{BB962C8B-B14F-4D97-AF65-F5344CB8AC3E}">
        <p14:creationId xmlns:p14="http://schemas.microsoft.com/office/powerpoint/2010/main" val="11542401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https://copilot.microsoft.com/th/id/BCO.1a88d522-6823-49c9-8ac0-3940bb68919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50" y="92356"/>
            <a:ext cx="9974077" cy="6649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8271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483062" cy="1499616"/>
          </a:xfrm>
        </p:spPr>
        <p:txBody>
          <a:bodyPr>
            <a:normAutofit/>
          </a:bodyPr>
          <a:lstStyle/>
          <a:p>
            <a:pPr>
              <a:lnSpc>
                <a:spcPct val="100000"/>
              </a:lnSpc>
              <a:spcBef>
                <a:spcPts val="0"/>
              </a:spcBef>
              <a:spcAft>
                <a:spcPts val="0"/>
              </a:spcAft>
            </a:pPr>
            <a:r>
              <a:rPr lang="en-US" sz="5400" b="1" dirty="0" err="1" smtClean="0"/>
              <a:t>Dataframes</a:t>
            </a:r>
            <a:r>
              <a:rPr lang="en-US" sz="5400" b="1" dirty="0" smtClean="0"/>
              <a:t> operations </a:t>
            </a:r>
            <a:endParaRPr lang="en-US" sz="5400" b="1" dirty="0"/>
          </a:p>
        </p:txBody>
      </p:sp>
      <p:sp>
        <p:nvSpPr>
          <p:cNvPr id="3" name="Content Placeholder 2"/>
          <p:cNvSpPr>
            <a:spLocks noGrp="1"/>
          </p:cNvSpPr>
          <p:nvPr>
            <p:ph idx="1"/>
          </p:nvPr>
        </p:nvSpPr>
        <p:spPr>
          <a:xfrm>
            <a:off x="1024126" y="2024743"/>
            <a:ext cx="10483063" cy="4023360"/>
          </a:xfrm>
        </p:spPr>
        <p:txBody>
          <a:bodyPr>
            <a:noAutofit/>
          </a:bodyPr>
          <a:lstStyle/>
          <a:p>
            <a:pPr marL="0" indent="0">
              <a:lnSpc>
                <a:spcPct val="100000"/>
              </a:lnSpc>
              <a:spcBef>
                <a:spcPts val="0"/>
              </a:spcBef>
              <a:spcAft>
                <a:spcPts val="0"/>
              </a:spcAft>
              <a:buNone/>
            </a:pPr>
            <a:r>
              <a:rPr lang="en-US" sz="2600" b="1" dirty="0" smtClean="0"/>
              <a:t>Basic </a:t>
            </a:r>
            <a:r>
              <a:rPr lang="en-US" sz="2600" b="1" dirty="0" err="1" smtClean="0"/>
              <a:t>dataframe</a:t>
            </a:r>
            <a:r>
              <a:rPr lang="en-US" sz="2600" b="1" dirty="0" smtClean="0"/>
              <a:t> operations examples </a:t>
            </a:r>
            <a:endParaRPr lang="en-US" altLang="en-US" sz="2600" dirty="0"/>
          </a:p>
          <a:p>
            <a:pPr marL="0" lvl="0" indent="0" eaLnBrk="0" fontAlgn="base" hangingPunct="0">
              <a:lnSpc>
                <a:spcPct val="100000"/>
              </a:lnSpc>
              <a:spcBef>
                <a:spcPct val="0"/>
              </a:spcBef>
              <a:spcAft>
                <a:spcPct val="0"/>
              </a:spcAft>
              <a:buClrTx/>
              <a:buSzTx/>
              <a:buFontTx/>
              <a:buChar char="•"/>
            </a:pPr>
            <a:r>
              <a:rPr lang="en-US" altLang="en-US" b="1" dirty="0" smtClean="0">
                <a:ea typeface="source-code-pro"/>
              </a:rPr>
              <a:t>Select</a:t>
            </a:r>
            <a:r>
              <a:rPr lang="en-US" altLang="en-US" b="1" dirty="0">
                <a:ea typeface="source-code-pro"/>
              </a:rPr>
              <a:t>()</a:t>
            </a:r>
            <a:r>
              <a:rPr lang="en-US" altLang="en-US" dirty="0">
                <a:ea typeface="source-serif-pro"/>
              </a:rPr>
              <a:t>: to pick </a:t>
            </a:r>
            <a:r>
              <a:rPr lang="en-US" altLang="en-US" dirty="0" smtClean="0">
                <a:ea typeface="source-serif-pro"/>
              </a:rPr>
              <a:t>columns</a:t>
            </a:r>
          </a:p>
          <a:p>
            <a:pPr marL="0" lvl="0" indent="0" eaLnBrk="0" fontAlgn="base" hangingPunct="0">
              <a:lnSpc>
                <a:spcPct val="100000"/>
              </a:lnSpc>
              <a:spcBef>
                <a:spcPct val="0"/>
              </a:spcBef>
              <a:spcAft>
                <a:spcPct val="0"/>
              </a:spcAft>
              <a:buClrTx/>
              <a:buSzTx/>
              <a:buFontTx/>
              <a:buChar char="•"/>
            </a:pPr>
            <a:r>
              <a:rPr lang="en-US" altLang="en-US" b="1" dirty="0" smtClean="0">
                <a:ea typeface="source-code-pro"/>
              </a:rPr>
              <a:t>Filter</a:t>
            </a:r>
            <a:r>
              <a:rPr lang="en-US" altLang="en-US" b="1" dirty="0">
                <a:ea typeface="source-code-pro"/>
              </a:rPr>
              <a:t>()</a:t>
            </a:r>
            <a:r>
              <a:rPr lang="en-US" altLang="en-US" dirty="0">
                <a:ea typeface="source-serif-pro"/>
              </a:rPr>
              <a:t> or </a:t>
            </a:r>
            <a:r>
              <a:rPr lang="en-US" altLang="en-US" b="1" dirty="0">
                <a:ea typeface="source-code-pro"/>
              </a:rPr>
              <a:t>where()</a:t>
            </a:r>
            <a:r>
              <a:rPr lang="en-US" altLang="en-US" dirty="0">
                <a:ea typeface="source-serif-pro"/>
              </a:rPr>
              <a:t>: to narrow down </a:t>
            </a:r>
            <a:r>
              <a:rPr lang="en-US" altLang="en-US" dirty="0" smtClean="0">
                <a:ea typeface="source-serif-pro"/>
              </a:rPr>
              <a:t>data</a:t>
            </a:r>
          </a:p>
          <a:p>
            <a:pPr marL="0" lvl="0" indent="0" eaLnBrk="0" fontAlgn="base" hangingPunct="0">
              <a:lnSpc>
                <a:spcPct val="100000"/>
              </a:lnSpc>
              <a:spcBef>
                <a:spcPct val="0"/>
              </a:spcBef>
              <a:spcAft>
                <a:spcPct val="0"/>
              </a:spcAft>
              <a:buClrTx/>
              <a:buSzTx/>
              <a:buFontTx/>
              <a:buChar char="•"/>
            </a:pPr>
            <a:r>
              <a:rPr lang="en-US" altLang="en-US" b="1" dirty="0" smtClean="0">
                <a:ea typeface="source-code-pro"/>
              </a:rPr>
              <a:t>Join</a:t>
            </a:r>
            <a:r>
              <a:rPr lang="en-US" altLang="en-US" b="1" dirty="0">
                <a:ea typeface="source-code-pro"/>
              </a:rPr>
              <a:t>()</a:t>
            </a:r>
            <a:r>
              <a:rPr lang="en-US" altLang="en-US" dirty="0">
                <a:ea typeface="source-serif-pro"/>
              </a:rPr>
              <a:t>: to combine </a:t>
            </a:r>
            <a:r>
              <a:rPr lang="en-US" altLang="en-US" dirty="0" smtClean="0">
                <a:ea typeface="source-serif-pro"/>
              </a:rPr>
              <a:t>datasets</a:t>
            </a:r>
            <a:endParaRPr lang="en-US" altLang="en-US" dirty="0"/>
          </a:p>
          <a:p>
            <a:pPr marL="0" lvl="0" indent="0" eaLnBrk="0" fontAlgn="base" hangingPunct="0">
              <a:lnSpc>
                <a:spcPct val="100000"/>
              </a:lnSpc>
              <a:spcBef>
                <a:spcPct val="0"/>
              </a:spcBef>
              <a:spcAft>
                <a:spcPct val="0"/>
              </a:spcAft>
              <a:buClrTx/>
              <a:buSzTx/>
              <a:buFontTx/>
              <a:buChar char="•"/>
            </a:pPr>
            <a:r>
              <a:rPr lang="en-US" altLang="en-US" b="1" dirty="0" err="1">
                <a:ea typeface="Google Sans"/>
              </a:rPr>
              <a:t>orderBy</a:t>
            </a:r>
            <a:r>
              <a:rPr lang="en-US" altLang="en-US" dirty="0">
                <a:ea typeface="Google Sans"/>
              </a:rPr>
              <a:t>(*cols) or </a:t>
            </a:r>
            <a:r>
              <a:rPr lang="en-US" altLang="en-US" b="1" dirty="0">
                <a:ea typeface="Google Sans"/>
              </a:rPr>
              <a:t>sort</a:t>
            </a:r>
            <a:r>
              <a:rPr lang="en-US" altLang="en-US" dirty="0">
                <a:ea typeface="Google Sans"/>
              </a:rPr>
              <a:t>(*cols): Sorts rows by one or more columns.</a:t>
            </a:r>
          </a:p>
          <a:p>
            <a:pPr marL="0" lvl="0" indent="0" eaLnBrk="0" fontAlgn="base" hangingPunct="0">
              <a:lnSpc>
                <a:spcPct val="100000"/>
              </a:lnSpc>
              <a:spcBef>
                <a:spcPct val="0"/>
              </a:spcBef>
              <a:spcAft>
                <a:spcPct val="0"/>
              </a:spcAft>
              <a:buClrTx/>
              <a:buSzTx/>
              <a:buFontTx/>
              <a:buChar char="•"/>
            </a:pPr>
            <a:r>
              <a:rPr lang="en-US" altLang="en-US" b="1" dirty="0">
                <a:ea typeface="Google Sans"/>
              </a:rPr>
              <a:t>distinct()</a:t>
            </a:r>
            <a:r>
              <a:rPr lang="en-US" altLang="en-US" dirty="0">
                <a:ea typeface="Google Sans"/>
              </a:rPr>
              <a:t>: Returns unique rows</a:t>
            </a:r>
            <a:r>
              <a:rPr lang="en-US" altLang="en-US" dirty="0" smtClean="0">
                <a:ea typeface="Google Sans"/>
              </a:rPr>
              <a:t>.</a:t>
            </a:r>
            <a:endParaRPr lang="en-US" altLang="en-US" dirty="0"/>
          </a:p>
          <a:p>
            <a:pPr marL="0" lvl="0" indent="0" eaLnBrk="0" fontAlgn="base" hangingPunct="0">
              <a:lnSpc>
                <a:spcPct val="100000"/>
              </a:lnSpc>
              <a:spcBef>
                <a:spcPct val="0"/>
              </a:spcBef>
              <a:spcAft>
                <a:spcPct val="0"/>
              </a:spcAft>
              <a:buClrTx/>
              <a:buSzTx/>
              <a:buFontTx/>
              <a:buChar char="•"/>
            </a:pPr>
            <a:r>
              <a:rPr lang="en-US" altLang="en-US" b="1" dirty="0" err="1">
                <a:ea typeface="Google Sans"/>
              </a:rPr>
              <a:t>groupBy</a:t>
            </a:r>
            <a:r>
              <a:rPr lang="en-US" altLang="en-US" b="1" dirty="0">
                <a:ea typeface="Google Sans"/>
              </a:rPr>
              <a:t>(</a:t>
            </a:r>
            <a:r>
              <a:rPr lang="en-US" altLang="en-US" dirty="0">
                <a:ea typeface="Google Sans"/>
              </a:rPr>
              <a:t>*cols): Groups data for aggregation</a:t>
            </a:r>
            <a:r>
              <a:rPr lang="en-US" altLang="en-US" dirty="0" smtClean="0">
                <a:ea typeface="Google Sans"/>
              </a:rPr>
              <a:t>.</a:t>
            </a:r>
          </a:p>
          <a:p>
            <a:pPr marL="0" indent="0" eaLnBrk="0" fontAlgn="base" hangingPunct="0">
              <a:lnSpc>
                <a:spcPct val="100000"/>
              </a:lnSpc>
              <a:spcBef>
                <a:spcPct val="0"/>
              </a:spcBef>
              <a:spcAft>
                <a:spcPct val="0"/>
              </a:spcAft>
              <a:buClrTx/>
              <a:buSzTx/>
              <a:buFontTx/>
              <a:buChar char="•"/>
            </a:pPr>
            <a:r>
              <a:rPr lang="en-US" altLang="en-US" b="1" dirty="0" smtClean="0"/>
              <a:t>union()</a:t>
            </a:r>
            <a:r>
              <a:rPr lang="en-US" altLang="en-US" dirty="0" smtClean="0">
                <a:ea typeface="Google Sans"/>
              </a:rPr>
              <a:t>: </a:t>
            </a:r>
            <a:r>
              <a:rPr lang="en-US" altLang="en-US" dirty="0">
                <a:ea typeface="Google Sans"/>
              </a:rPr>
              <a:t>Appends rows from another DataFrame</a:t>
            </a:r>
            <a:r>
              <a:rPr lang="en-US" altLang="en-US" dirty="0"/>
              <a:t> </a:t>
            </a:r>
          </a:p>
          <a:p>
            <a:pPr marL="0" lvl="0" indent="0" eaLnBrk="0" fontAlgn="base" hangingPunct="0">
              <a:lnSpc>
                <a:spcPct val="100000"/>
              </a:lnSpc>
              <a:spcBef>
                <a:spcPct val="0"/>
              </a:spcBef>
              <a:spcAft>
                <a:spcPct val="0"/>
              </a:spcAft>
              <a:buClrTx/>
              <a:buSzTx/>
              <a:buFontTx/>
              <a:buChar char="•"/>
            </a:pPr>
            <a:r>
              <a:rPr lang="en-US" altLang="en-US" b="1" dirty="0">
                <a:ea typeface="Google Sans"/>
              </a:rPr>
              <a:t>show(n)</a:t>
            </a:r>
            <a:r>
              <a:rPr lang="en-US" altLang="en-US" dirty="0">
                <a:ea typeface="Google Sans"/>
              </a:rPr>
              <a:t>: Prints the first n rows in tabular format.</a:t>
            </a:r>
          </a:p>
          <a:p>
            <a:pPr marL="0" lvl="0" indent="0" eaLnBrk="0" fontAlgn="base" hangingPunct="0">
              <a:lnSpc>
                <a:spcPct val="100000"/>
              </a:lnSpc>
              <a:spcBef>
                <a:spcPct val="0"/>
              </a:spcBef>
              <a:spcAft>
                <a:spcPct val="0"/>
              </a:spcAft>
              <a:buClrTx/>
              <a:buSzTx/>
              <a:buFontTx/>
              <a:buChar char="•"/>
            </a:pPr>
            <a:r>
              <a:rPr lang="en-US" altLang="en-US" b="1" dirty="0">
                <a:ea typeface="Google Sans"/>
              </a:rPr>
              <a:t>collect()</a:t>
            </a:r>
            <a:r>
              <a:rPr lang="en-US" altLang="en-US" dirty="0">
                <a:ea typeface="Google Sans"/>
              </a:rPr>
              <a:t>: Retrieves all data to the driver node (use with caution for large datasets).</a:t>
            </a:r>
          </a:p>
          <a:p>
            <a:pPr marL="0" lvl="0" indent="0" eaLnBrk="0" fontAlgn="base" hangingPunct="0">
              <a:lnSpc>
                <a:spcPct val="100000"/>
              </a:lnSpc>
              <a:spcBef>
                <a:spcPct val="0"/>
              </a:spcBef>
              <a:spcAft>
                <a:spcPct val="0"/>
              </a:spcAft>
              <a:buClrTx/>
              <a:buSzTx/>
              <a:buFontTx/>
              <a:buChar char="•"/>
            </a:pPr>
            <a:r>
              <a:rPr lang="en-US" altLang="en-US" b="1" dirty="0">
                <a:ea typeface="Google Sans"/>
              </a:rPr>
              <a:t>count()</a:t>
            </a:r>
            <a:r>
              <a:rPr lang="en-US" altLang="en-US" dirty="0">
                <a:ea typeface="Google Sans"/>
              </a:rPr>
              <a:t>: Returns the total number of rows.</a:t>
            </a:r>
          </a:p>
          <a:p>
            <a:pPr marL="0" lvl="0" indent="0" eaLnBrk="0" fontAlgn="base" hangingPunct="0">
              <a:lnSpc>
                <a:spcPct val="100000"/>
              </a:lnSpc>
              <a:spcBef>
                <a:spcPct val="0"/>
              </a:spcBef>
              <a:spcAft>
                <a:spcPct val="0"/>
              </a:spcAft>
              <a:buClrTx/>
              <a:buSzTx/>
              <a:buFontTx/>
              <a:buChar char="•"/>
            </a:pPr>
            <a:r>
              <a:rPr lang="en-US" altLang="en-US" b="1" dirty="0">
                <a:ea typeface="Google Sans"/>
              </a:rPr>
              <a:t>take(n) or head(n)</a:t>
            </a:r>
            <a:r>
              <a:rPr lang="en-US" altLang="en-US" dirty="0">
                <a:ea typeface="Google Sans"/>
              </a:rPr>
              <a:t>: Returns the first n rows as a list.</a:t>
            </a:r>
          </a:p>
          <a:p>
            <a:pPr marL="0" lvl="0" indent="0" eaLnBrk="0" fontAlgn="base" hangingPunct="0">
              <a:lnSpc>
                <a:spcPct val="100000"/>
              </a:lnSpc>
              <a:spcBef>
                <a:spcPct val="0"/>
              </a:spcBef>
              <a:spcAft>
                <a:spcPct val="0"/>
              </a:spcAft>
              <a:buClrTx/>
              <a:buSzTx/>
              <a:buNone/>
            </a:pPr>
            <a:endParaRPr lang="en-US" altLang="en-US" dirty="0"/>
          </a:p>
          <a:p>
            <a:pPr marL="0" lvl="0" indent="0" eaLnBrk="0" fontAlgn="base" hangingPunct="0">
              <a:lnSpc>
                <a:spcPct val="100000"/>
              </a:lnSpc>
              <a:spcBef>
                <a:spcPct val="0"/>
              </a:spcBef>
              <a:spcAft>
                <a:spcPct val="0"/>
              </a:spcAft>
              <a:buClrTx/>
              <a:buSzTx/>
              <a:buFontTx/>
              <a:buChar char="•"/>
            </a:pPr>
            <a:endParaRPr lang="en-US" altLang="en-US" dirty="0">
              <a:ea typeface="Google Sans"/>
            </a:endParaRPr>
          </a:p>
          <a:p>
            <a:pPr marL="0" lvl="0" indent="0" eaLnBrk="0" fontAlgn="base" hangingPunct="0">
              <a:lnSpc>
                <a:spcPct val="100000"/>
              </a:lnSpc>
              <a:spcBef>
                <a:spcPct val="0"/>
              </a:spcBef>
              <a:spcAft>
                <a:spcPct val="0"/>
              </a:spcAft>
              <a:buClrTx/>
              <a:buSzTx/>
              <a:buNone/>
            </a:pPr>
            <a:r>
              <a:rPr lang="en-US" altLang="en-US" dirty="0"/>
              <a:t/>
            </a:r>
            <a:br>
              <a:rPr lang="en-US" altLang="en-US" dirty="0"/>
            </a:br>
            <a:endParaRPr lang="en-US" altLang="en-US" dirty="0"/>
          </a:p>
          <a:p>
            <a:pPr marL="0" lvl="0" indent="0" eaLnBrk="0" fontAlgn="base" hangingPunct="0">
              <a:lnSpc>
                <a:spcPct val="100000"/>
              </a:lnSpc>
              <a:spcBef>
                <a:spcPct val="0"/>
              </a:spcBef>
              <a:spcAft>
                <a:spcPct val="0"/>
              </a:spcAft>
              <a:buClrTx/>
              <a:buSzTx/>
              <a:buFontTx/>
              <a:buChar char="•"/>
            </a:pPr>
            <a:endParaRPr lang="en-US" altLang="en-US" dirty="0" smtClean="0">
              <a:ea typeface="Google Sans"/>
            </a:endParaRPr>
          </a:p>
          <a:p>
            <a:pPr marL="0" lvl="0" indent="0" eaLnBrk="0" fontAlgn="base" hangingPunct="0">
              <a:lnSpc>
                <a:spcPct val="100000"/>
              </a:lnSpc>
              <a:spcBef>
                <a:spcPct val="0"/>
              </a:spcBef>
              <a:spcAft>
                <a:spcPct val="0"/>
              </a:spcAft>
              <a:buClrTx/>
              <a:buSzTx/>
              <a:buFontTx/>
              <a:buChar char="•"/>
            </a:pPr>
            <a:endParaRPr lang="en-US" altLang="en-US" dirty="0">
              <a:ea typeface="Google Sans"/>
            </a:endParaRPr>
          </a:p>
          <a:p>
            <a:pPr marL="0" lvl="0" indent="0" eaLnBrk="0" fontAlgn="base" hangingPunct="0">
              <a:lnSpc>
                <a:spcPct val="100000"/>
              </a:lnSpc>
              <a:spcBef>
                <a:spcPct val="0"/>
              </a:spcBef>
              <a:spcAft>
                <a:spcPct val="0"/>
              </a:spcAft>
              <a:buClrTx/>
              <a:buSzTx/>
              <a:buNone/>
            </a:pPr>
            <a:endParaRPr lang="en-US" altLang="en-US" dirty="0"/>
          </a:p>
          <a:p>
            <a:pPr marL="0" lvl="0" indent="0" eaLnBrk="0" fontAlgn="base" hangingPunct="0">
              <a:lnSpc>
                <a:spcPct val="100000"/>
              </a:lnSpc>
              <a:spcBef>
                <a:spcPct val="0"/>
              </a:spcBef>
              <a:spcAft>
                <a:spcPct val="0"/>
              </a:spcAft>
              <a:buClrTx/>
              <a:buSzTx/>
              <a:buFontTx/>
              <a:buChar char="•"/>
            </a:pPr>
            <a:endParaRPr lang="en-US" altLang="en-US" dirty="0" smtClean="0">
              <a:ea typeface="medium-content-sans-serif-font"/>
            </a:endParaRPr>
          </a:p>
        </p:txBody>
      </p:sp>
    </p:spTree>
    <p:extLst>
      <p:ext uri="{BB962C8B-B14F-4D97-AF65-F5344CB8AC3E}">
        <p14:creationId xmlns:p14="http://schemas.microsoft.com/office/powerpoint/2010/main" val="22219548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Sparksql</a:t>
            </a:r>
            <a:r>
              <a:rPr lang="en-US" b="1" dirty="0" smtClean="0"/>
              <a:t> module </a:t>
            </a:r>
            <a:endParaRPr lang="en-US" b="1" dirty="0"/>
          </a:p>
        </p:txBody>
      </p:sp>
      <p:sp>
        <p:nvSpPr>
          <p:cNvPr id="3" name="Content Placeholder 2"/>
          <p:cNvSpPr>
            <a:spLocks noGrp="1"/>
          </p:cNvSpPr>
          <p:nvPr>
            <p:ph idx="1"/>
          </p:nvPr>
        </p:nvSpPr>
        <p:spPr/>
        <p:txBody>
          <a:bodyPr>
            <a:normAutofit/>
          </a:bodyPr>
          <a:lstStyle/>
          <a:p>
            <a:r>
              <a:rPr lang="en-US" sz="2600" dirty="0"/>
              <a:t>Spark SQL is a module in Apache Spark that lets you query structured and semi‑structured data using </a:t>
            </a:r>
            <a:r>
              <a:rPr lang="en-US" sz="2600" b="1" dirty="0"/>
              <a:t>SQL syntax</a:t>
            </a:r>
            <a:r>
              <a:rPr lang="en-US" sz="2600" dirty="0"/>
              <a:t>.</a:t>
            </a:r>
          </a:p>
          <a:p>
            <a:r>
              <a:rPr lang="en-US" sz="2600" dirty="0"/>
              <a:t>It provides a </a:t>
            </a:r>
            <a:r>
              <a:rPr lang="en-US" sz="2600" b="1" dirty="0"/>
              <a:t>relational view</a:t>
            </a:r>
            <a:r>
              <a:rPr lang="en-US" sz="2600" dirty="0"/>
              <a:t> of distributed data, similar to working with tables in a database.</a:t>
            </a:r>
          </a:p>
        </p:txBody>
      </p:sp>
    </p:spTree>
    <p:extLst>
      <p:ext uri="{BB962C8B-B14F-4D97-AF65-F5344CB8AC3E}">
        <p14:creationId xmlns:p14="http://schemas.microsoft.com/office/powerpoint/2010/main" val="6079197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Sparksql</a:t>
            </a:r>
            <a:r>
              <a:rPr lang="en-US" b="1" dirty="0" smtClean="0"/>
              <a:t> vs </a:t>
            </a:r>
            <a:r>
              <a:rPr lang="en-US" b="1" dirty="0" err="1" smtClean="0"/>
              <a:t>dataframe</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1483015363"/>
              </p:ext>
            </p:extLst>
          </p:nvPr>
        </p:nvGraphicFramePr>
        <p:xfrm>
          <a:off x="445203" y="2084832"/>
          <a:ext cx="11168061" cy="3230880"/>
        </p:xfrm>
        <a:graphic>
          <a:graphicData uri="http://schemas.openxmlformats.org/drawingml/2006/table">
            <a:tbl>
              <a:tblPr>
                <a:tableStyleId>{8799B23B-EC83-4686-B30A-512413B5E67A}</a:tableStyleId>
              </a:tblPr>
              <a:tblGrid>
                <a:gridCol w="3722687">
                  <a:extLst>
                    <a:ext uri="{9D8B030D-6E8A-4147-A177-3AD203B41FA5}">
                      <a16:colId xmlns:a16="http://schemas.microsoft.com/office/drawing/2014/main" val="3254346135"/>
                    </a:ext>
                  </a:extLst>
                </a:gridCol>
                <a:gridCol w="3722687">
                  <a:extLst>
                    <a:ext uri="{9D8B030D-6E8A-4147-A177-3AD203B41FA5}">
                      <a16:colId xmlns:a16="http://schemas.microsoft.com/office/drawing/2014/main" val="3355731293"/>
                    </a:ext>
                  </a:extLst>
                </a:gridCol>
                <a:gridCol w="3722687">
                  <a:extLst>
                    <a:ext uri="{9D8B030D-6E8A-4147-A177-3AD203B41FA5}">
                      <a16:colId xmlns:a16="http://schemas.microsoft.com/office/drawing/2014/main" val="1812304724"/>
                    </a:ext>
                  </a:extLst>
                </a:gridCol>
              </a:tblGrid>
              <a:tr h="0">
                <a:tc>
                  <a:txBody>
                    <a:bodyPr/>
                    <a:lstStyle/>
                    <a:p>
                      <a:pPr algn="ctr"/>
                      <a:r>
                        <a:rPr lang="en-US" sz="2200" b="1" dirty="0"/>
                        <a:t>Aspect</a:t>
                      </a:r>
                    </a:p>
                  </a:txBody>
                  <a:tcPr anchor="ctr"/>
                </a:tc>
                <a:tc>
                  <a:txBody>
                    <a:bodyPr/>
                    <a:lstStyle/>
                    <a:p>
                      <a:pPr algn="ctr"/>
                      <a:r>
                        <a:rPr lang="en-US" sz="2200" b="1" dirty="0"/>
                        <a:t>Spark SQL</a:t>
                      </a:r>
                    </a:p>
                  </a:txBody>
                  <a:tcPr anchor="ctr"/>
                </a:tc>
                <a:tc>
                  <a:txBody>
                    <a:bodyPr/>
                    <a:lstStyle/>
                    <a:p>
                      <a:pPr algn="ctr"/>
                      <a:r>
                        <a:rPr lang="en-US" sz="2200" b="1" dirty="0"/>
                        <a:t>DataFrame API</a:t>
                      </a:r>
                    </a:p>
                  </a:txBody>
                  <a:tcPr anchor="ctr"/>
                </a:tc>
                <a:extLst>
                  <a:ext uri="{0D108BD9-81ED-4DB2-BD59-A6C34878D82A}">
                    <a16:rowId xmlns:a16="http://schemas.microsoft.com/office/drawing/2014/main" val="83507304"/>
                  </a:ext>
                </a:extLst>
              </a:tr>
              <a:tr h="0">
                <a:tc>
                  <a:txBody>
                    <a:bodyPr/>
                    <a:lstStyle/>
                    <a:p>
                      <a:pPr algn="ctr"/>
                      <a:r>
                        <a:rPr lang="en-US" sz="2200" b="1" dirty="0"/>
                        <a:t>Interface</a:t>
                      </a:r>
                    </a:p>
                  </a:txBody>
                  <a:tcPr anchor="ctr"/>
                </a:tc>
                <a:tc>
                  <a:txBody>
                    <a:bodyPr/>
                    <a:lstStyle/>
                    <a:p>
                      <a:r>
                        <a:rPr lang="en-US" sz="2200"/>
                        <a:t>SQL queries via spark.sql()</a:t>
                      </a:r>
                    </a:p>
                  </a:txBody>
                  <a:tcPr anchor="ctr"/>
                </a:tc>
                <a:tc>
                  <a:txBody>
                    <a:bodyPr/>
                    <a:lstStyle/>
                    <a:p>
                      <a:r>
                        <a:rPr lang="it-IT" sz="2200"/>
                        <a:t>Programmatic API in Scala, Python, Java, R</a:t>
                      </a:r>
                    </a:p>
                  </a:txBody>
                  <a:tcPr anchor="ctr"/>
                </a:tc>
                <a:extLst>
                  <a:ext uri="{0D108BD9-81ED-4DB2-BD59-A6C34878D82A}">
                    <a16:rowId xmlns:a16="http://schemas.microsoft.com/office/drawing/2014/main" val="1885438528"/>
                  </a:ext>
                </a:extLst>
              </a:tr>
              <a:tr h="0">
                <a:tc>
                  <a:txBody>
                    <a:bodyPr/>
                    <a:lstStyle/>
                    <a:p>
                      <a:pPr algn="ctr"/>
                      <a:r>
                        <a:rPr lang="en-US" sz="2200" b="1" dirty="0"/>
                        <a:t>Ease of Use</a:t>
                      </a:r>
                    </a:p>
                  </a:txBody>
                  <a:tcPr anchor="ctr"/>
                </a:tc>
                <a:tc>
                  <a:txBody>
                    <a:bodyPr/>
                    <a:lstStyle/>
                    <a:p>
                      <a:r>
                        <a:rPr lang="en-US" sz="2200"/>
                        <a:t>Concise for complex queries</a:t>
                      </a:r>
                    </a:p>
                  </a:txBody>
                  <a:tcPr anchor="ctr"/>
                </a:tc>
                <a:tc>
                  <a:txBody>
                    <a:bodyPr/>
                    <a:lstStyle/>
                    <a:p>
                      <a:r>
                        <a:rPr lang="en-US" sz="2200"/>
                        <a:t>Flexible for dynamic logic</a:t>
                      </a:r>
                    </a:p>
                  </a:txBody>
                  <a:tcPr anchor="ctr"/>
                </a:tc>
                <a:extLst>
                  <a:ext uri="{0D108BD9-81ED-4DB2-BD59-A6C34878D82A}">
                    <a16:rowId xmlns:a16="http://schemas.microsoft.com/office/drawing/2014/main" val="3800781642"/>
                  </a:ext>
                </a:extLst>
              </a:tr>
              <a:tr h="0">
                <a:tc>
                  <a:txBody>
                    <a:bodyPr/>
                    <a:lstStyle/>
                    <a:p>
                      <a:pPr algn="ctr"/>
                      <a:r>
                        <a:rPr lang="en-US" sz="2200" b="1" dirty="0"/>
                        <a:t>Audience</a:t>
                      </a:r>
                    </a:p>
                  </a:txBody>
                  <a:tcPr anchor="ctr"/>
                </a:tc>
                <a:tc>
                  <a:txBody>
                    <a:bodyPr/>
                    <a:lstStyle/>
                    <a:p>
                      <a:r>
                        <a:rPr lang="en-US" sz="2200"/>
                        <a:t>Analysts, BI users</a:t>
                      </a:r>
                    </a:p>
                  </a:txBody>
                  <a:tcPr anchor="ctr"/>
                </a:tc>
                <a:tc>
                  <a:txBody>
                    <a:bodyPr/>
                    <a:lstStyle/>
                    <a:p>
                      <a:r>
                        <a:rPr lang="en-US" sz="2200"/>
                        <a:t>Developers, data engineers</a:t>
                      </a:r>
                    </a:p>
                  </a:txBody>
                  <a:tcPr anchor="ctr"/>
                </a:tc>
                <a:extLst>
                  <a:ext uri="{0D108BD9-81ED-4DB2-BD59-A6C34878D82A}">
                    <a16:rowId xmlns:a16="http://schemas.microsoft.com/office/drawing/2014/main" val="1780540265"/>
                  </a:ext>
                </a:extLst>
              </a:tr>
              <a:tr h="0">
                <a:tc>
                  <a:txBody>
                    <a:bodyPr/>
                    <a:lstStyle/>
                    <a:p>
                      <a:pPr algn="ctr"/>
                      <a:r>
                        <a:rPr lang="en-US" sz="2200" b="1" dirty="0"/>
                        <a:t>Integration</a:t>
                      </a:r>
                    </a:p>
                  </a:txBody>
                  <a:tcPr anchor="ctr"/>
                </a:tc>
                <a:tc>
                  <a:txBody>
                    <a:bodyPr/>
                    <a:lstStyle/>
                    <a:p>
                      <a:r>
                        <a:rPr lang="en-US" sz="2200"/>
                        <a:t>Hive, external DBs, SQL views</a:t>
                      </a:r>
                    </a:p>
                  </a:txBody>
                  <a:tcPr anchor="ctr"/>
                </a:tc>
                <a:tc>
                  <a:txBody>
                    <a:bodyPr/>
                    <a:lstStyle/>
                    <a:p>
                      <a:r>
                        <a:rPr lang="en-US" sz="2200"/>
                        <a:t>MLlib, streaming, programmatic workflows</a:t>
                      </a:r>
                    </a:p>
                  </a:txBody>
                  <a:tcPr anchor="ctr"/>
                </a:tc>
                <a:extLst>
                  <a:ext uri="{0D108BD9-81ED-4DB2-BD59-A6C34878D82A}">
                    <a16:rowId xmlns:a16="http://schemas.microsoft.com/office/drawing/2014/main" val="703777355"/>
                  </a:ext>
                </a:extLst>
              </a:tr>
              <a:tr h="0">
                <a:tc>
                  <a:txBody>
                    <a:bodyPr/>
                    <a:lstStyle/>
                    <a:p>
                      <a:pPr algn="ctr"/>
                      <a:r>
                        <a:rPr lang="en-US" sz="2200" b="1" dirty="0"/>
                        <a:t>Performance</a:t>
                      </a:r>
                    </a:p>
                  </a:txBody>
                  <a:tcPr anchor="ctr"/>
                </a:tc>
                <a:tc gridSpan="2">
                  <a:txBody>
                    <a:bodyPr/>
                    <a:lstStyle/>
                    <a:p>
                      <a:pPr algn="ctr"/>
                      <a:r>
                        <a:rPr lang="en-US" sz="2200" b="1" dirty="0">
                          <a:solidFill>
                            <a:srgbClr val="C00000"/>
                          </a:solidFill>
                        </a:rPr>
                        <a:t>Same Catalyst + Tungsten </a:t>
                      </a:r>
                      <a:r>
                        <a:rPr lang="en-US" sz="2200" b="1" dirty="0" smtClean="0">
                          <a:solidFill>
                            <a:srgbClr val="C00000"/>
                          </a:solidFill>
                        </a:rPr>
                        <a:t>engine</a:t>
                      </a:r>
                      <a:endParaRPr lang="en-US" sz="2200" b="1" dirty="0">
                        <a:solidFill>
                          <a:srgbClr val="C00000"/>
                        </a:solidFill>
                      </a:endParaRPr>
                    </a:p>
                  </a:txBody>
                  <a:tcPr anchor="ctr"/>
                </a:tc>
                <a:tc hMerge="1">
                  <a:txBody>
                    <a:bodyPr/>
                    <a:lstStyle/>
                    <a:p>
                      <a:endParaRPr lang="en-US" sz="2200" dirty="0"/>
                    </a:p>
                  </a:txBody>
                  <a:tcPr anchor="ctr"/>
                </a:tc>
                <a:extLst>
                  <a:ext uri="{0D108BD9-81ED-4DB2-BD59-A6C34878D82A}">
                    <a16:rowId xmlns:a16="http://schemas.microsoft.com/office/drawing/2014/main" val="3730830878"/>
                  </a:ext>
                </a:extLst>
              </a:tr>
            </a:tbl>
          </a:graphicData>
        </a:graphic>
      </p:graphicFrame>
    </p:spTree>
    <p:extLst>
      <p:ext uri="{BB962C8B-B14F-4D97-AF65-F5344CB8AC3E}">
        <p14:creationId xmlns:p14="http://schemas.microsoft.com/office/powerpoint/2010/main" val="41854033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Sparksql</a:t>
            </a:r>
            <a:r>
              <a:rPr lang="en-US" b="1" dirty="0" smtClean="0"/>
              <a:t>: Query optimization </a:t>
            </a:r>
            <a:endParaRPr lang="en-US" b="1" dirty="0"/>
          </a:p>
        </p:txBody>
      </p:sp>
      <p:sp>
        <p:nvSpPr>
          <p:cNvPr id="3" name="Content Placeholder 2"/>
          <p:cNvSpPr>
            <a:spLocks noGrp="1"/>
          </p:cNvSpPr>
          <p:nvPr>
            <p:ph idx="1"/>
          </p:nvPr>
        </p:nvSpPr>
        <p:spPr/>
        <p:txBody>
          <a:bodyPr>
            <a:normAutofit/>
          </a:bodyPr>
          <a:lstStyle/>
          <a:p>
            <a:pPr marL="0" indent="0">
              <a:lnSpc>
                <a:spcPct val="100000"/>
              </a:lnSpc>
              <a:spcBef>
                <a:spcPts val="0"/>
              </a:spcBef>
              <a:spcAft>
                <a:spcPts val="0"/>
              </a:spcAft>
              <a:buNone/>
            </a:pPr>
            <a:r>
              <a:rPr lang="en-US" sz="2600" b="1" dirty="0"/>
              <a:t>Spark SQL Optimization</a:t>
            </a:r>
            <a:r>
              <a:rPr lang="en-US" sz="2600" dirty="0"/>
              <a:t> improves query performance and reduces resource </a:t>
            </a:r>
            <a:r>
              <a:rPr lang="en-US" sz="2600" dirty="0" smtClean="0"/>
              <a:t>usage</a:t>
            </a:r>
          </a:p>
          <a:p>
            <a:pPr marL="0" indent="0">
              <a:lnSpc>
                <a:spcPct val="100000"/>
              </a:lnSpc>
              <a:spcBef>
                <a:spcPts val="0"/>
              </a:spcBef>
              <a:spcAft>
                <a:spcPts val="0"/>
              </a:spcAft>
              <a:buNone/>
            </a:pPr>
            <a:r>
              <a:rPr lang="en-US" sz="2600" dirty="0" smtClean="0"/>
              <a:t>It </a:t>
            </a:r>
            <a:r>
              <a:rPr lang="en-US" sz="2600" dirty="0"/>
              <a:t>is powered by the </a:t>
            </a:r>
            <a:r>
              <a:rPr lang="en-US" sz="2600" b="1" dirty="0"/>
              <a:t>Catalyst Optimizer</a:t>
            </a:r>
            <a:r>
              <a:rPr lang="en-US" sz="2600" dirty="0"/>
              <a:t>, which automatically rewrites queries for efficiency. </a:t>
            </a:r>
          </a:p>
          <a:p>
            <a:pPr marL="0" indent="0">
              <a:lnSpc>
                <a:spcPct val="100000"/>
              </a:lnSpc>
              <a:spcBef>
                <a:spcPts val="0"/>
              </a:spcBef>
              <a:spcAft>
                <a:spcPts val="0"/>
              </a:spcAft>
              <a:buNone/>
            </a:pPr>
            <a:r>
              <a:rPr lang="en-US" sz="2600" b="1" dirty="0"/>
              <a:t>Catalyst uses: </a:t>
            </a:r>
          </a:p>
          <a:p>
            <a:pPr marL="514350" indent="-514350">
              <a:lnSpc>
                <a:spcPct val="100000"/>
              </a:lnSpc>
              <a:spcBef>
                <a:spcPts val="0"/>
              </a:spcBef>
              <a:spcAft>
                <a:spcPts val="0"/>
              </a:spcAft>
              <a:buFont typeface="+mj-lt"/>
              <a:buAutoNum type="arabicPeriod"/>
            </a:pPr>
            <a:r>
              <a:rPr lang="en-US" sz="2600" dirty="0"/>
              <a:t>Rule-based optimization (</a:t>
            </a:r>
            <a:r>
              <a:rPr lang="en-US" sz="2600" i="1" dirty="0"/>
              <a:t>apply predefined rules</a:t>
            </a:r>
            <a:r>
              <a:rPr lang="en-US" sz="2600" dirty="0"/>
              <a:t>) </a:t>
            </a:r>
          </a:p>
          <a:p>
            <a:pPr marL="514350" indent="-514350">
              <a:lnSpc>
                <a:spcPct val="100000"/>
              </a:lnSpc>
              <a:spcBef>
                <a:spcPts val="0"/>
              </a:spcBef>
              <a:spcAft>
                <a:spcPts val="0"/>
              </a:spcAft>
              <a:buFont typeface="+mj-lt"/>
              <a:buAutoNum type="arabicPeriod"/>
            </a:pPr>
            <a:r>
              <a:rPr lang="en-US" sz="2600" dirty="0"/>
              <a:t>Cost-based optimization (</a:t>
            </a:r>
            <a:r>
              <a:rPr lang="en-US" sz="2600" i="1" dirty="0"/>
              <a:t>choose best plan based on cost</a:t>
            </a:r>
            <a:r>
              <a:rPr lang="en-US" sz="2600" dirty="0"/>
              <a:t>)</a:t>
            </a:r>
          </a:p>
          <a:p>
            <a:pPr>
              <a:lnSpc>
                <a:spcPct val="100000"/>
              </a:lnSpc>
              <a:spcBef>
                <a:spcPts val="0"/>
              </a:spcBef>
              <a:spcAft>
                <a:spcPts val="0"/>
              </a:spcAft>
            </a:pPr>
            <a:endParaRPr lang="en-US" sz="2600" dirty="0"/>
          </a:p>
          <a:p>
            <a:pPr>
              <a:lnSpc>
                <a:spcPct val="100000"/>
              </a:lnSpc>
              <a:spcBef>
                <a:spcPts val="0"/>
              </a:spcBef>
              <a:spcAft>
                <a:spcPts val="0"/>
              </a:spcAft>
            </a:pPr>
            <a:endParaRPr lang="en-US" sz="2600" dirty="0"/>
          </a:p>
        </p:txBody>
      </p:sp>
    </p:spTree>
    <p:extLst>
      <p:ext uri="{BB962C8B-B14F-4D97-AF65-F5344CB8AC3E}">
        <p14:creationId xmlns:p14="http://schemas.microsoft.com/office/powerpoint/2010/main" val="5588568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data-flair.training/blogs/wp-content/uploads/sites/2/2017/05/Spark-SQL-Optimiz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505" y="282634"/>
            <a:ext cx="11701744" cy="6143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9682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Catalyst optimizer </a:t>
            </a:r>
            <a:endParaRPr lang="en-US" b="1" dirty="0"/>
          </a:p>
        </p:txBody>
      </p:sp>
      <p:sp>
        <p:nvSpPr>
          <p:cNvPr id="3" name="Content Placeholder 2"/>
          <p:cNvSpPr>
            <a:spLocks noGrp="1"/>
          </p:cNvSpPr>
          <p:nvPr>
            <p:ph idx="1"/>
          </p:nvPr>
        </p:nvSpPr>
        <p:spPr>
          <a:xfrm>
            <a:off x="1024128" y="1894112"/>
            <a:ext cx="10423685" cy="4023360"/>
          </a:xfrm>
        </p:spPr>
        <p:txBody>
          <a:bodyPr>
            <a:normAutofit/>
          </a:bodyPr>
          <a:lstStyle/>
          <a:p>
            <a:pPr>
              <a:lnSpc>
                <a:spcPct val="100000"/>
              </a:lnSpc>
              <a:spcBef>
                <a:spcPts val="0"/>
              </a:spcBef>
              <a:spcAft>
                <a:spcPts val="0"/>
              </a:spcAft>
              <a:buFont typeface="Wingdings" panose="05000000000000000000" pitchFamily="2" charset="2"/>
              <a:buChar char="§"/>
            </a:pPr>
            <a:r>
              <a:rPr lang="en-US" sz="2400" b="1" dirty="0"/>
              <a:t>Catalyst Optimizer</a:t>
            </a:r>
            <a:r>
              <a:rPr lang="en-US" sz="2400" dirty="0"/>
              <a:t> is the </a:t>
            </a:r>
            <a:r>
              <a:rPr lang="en-US" sz="2400" b="1" dirty="0"/>
              <a:t>core engine</a:t>
            </a:r>
            <a:r>
              <a:rPr lang="en-US" sz="2400" dirty="0"/>
              <a:t> that powers query optimization in Spark SQL.</a:t>
            </a:r>
          </a:p>
          <a:p>
            <a:pPr>
              <a:lnSpc>
                <a:spcPct val="100000"/>
              </a:lnSpc>
              <a:spcBef>
                <a:spcPts val="0"/>
              </a:spcBef>
              <a:spcAft>
                <a:spcPts val="0"/>
              </a:spcAft>
              <a:buFont typeface="Wingdings" panose="05000000000000000000" pitchFamily="2" charset="2"/>
              <a:buChar char="§"/>
            </a:pPr>
            <a:r>
              <a:rPr lang="en-US" sz="2400" dirty="0"/>
              <a:t>Built using </a:t>
            </a:r>
            <a:r>
              <a:rPr lang="en-US" sz="2400" b="1" dirty="0"/>
              <a:t>functional programming principles in Scala</a:t>
            </a:r>
            <a:r>
              <a:rPr lang="en-US" sz="2400" dirty="0"/>
              <a:t>, it leverages </a:t>
            </a:r>
            <a:r>
              <a:rPr lang="en-US" sz="2400" b="1" dirty="0"/>
              <a:t>immutable data structures</a:t>
            </a:r>
            <a:r>
              <a:rPr lang="en-US" sz="2400" dirty="0"/>
              <a:t> and </a:t>
            </a:r>
            <a:r>
              <a:rPr lang="en-US" sz="2400" b="1" dirty="0"/>
              <a:t>pattern matching</a:t>
            </a:r>
            <a:r>
              <a:rPr lang="en-US" sz="2400" dirty="0"/>
              <a:t> to transform queries efficiently.</a:t>
            </a:r>
          </a:p>
          <a:p>
            <a:pPr>
              <a:lnSpc>
                <a:spcPct val="100000"/>
              </a:lnSpc>
              <a:spcBef>
                <a:spcPts val="0"/>
              </a:spcBef>
              <a:spcAft>
                <a:spcPts val="0"/>
              </a:spcAft>
              <a:buFont typeface="Wingdings" panose="05000000000000000000" pitchFamily="2" charset="2"/>
              <a:buChar char="§"/>
            </a:pPr>
            <a:r>
              <a:rPr lang="en-US" sz="2400" dirty="0"/>
              <a:t>It operates on a </a:t>
            </a:r>
            <a:r>
              <a:rPr lang="en-US" sz="2400" b="1" dirty="0"/>
              <a:t>tree representation</a:t>
            </a:r>
            <a:r>
              <a:rPr lang="en-US" sz="2400" dirty="0"/>
              <a:t> of queries — each node represents an operation (e.g., filter, join, aggregation</a:t>
            </a:r>
            <a:r>
              <a:rPr lang="en-US" sz="2400" dirty="0" smtClean="0"/>
              <a:t>).</a:t>
            </a:r>
          </a:p>
          <a:p>
            <a:pPr>
              <a:lnSpc>
                <a:spcPct val="100000"/>
              </a:lnSpc>
              <a:spcBef>
                <a:spcPts val="0"/>
              </a:spcBef>
              <a:spcAft>
                <a:spcPts val="0"/>
              </a:spcAft>
            </a:pP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2977994372"/>
              </p:ext>
            </p:extLst>
          </p:nvPr>
        </p:nvGraphicFramePr>
        <p:xfrm>
          <a:off x="679554" y="4297680"/>
          <a:ext cx="10922640" cy="2286000"/>
        </p:xfrm>
        <a:graphic>
          <a:graphicData uri="http://schemas.openxmlformats.org/drawingml/2006/table">
            <a:tbl>
              <a:tblPr>
                <a:tableStyleId>{8799B23B-EC83-4686-B30A-512413B5E67A}</a:tableStyleId>
              </a:tblPr>
              <a:tblGrid>
                <a:gridCol w="3640880">
                  <a:extLst>
                    <a:ext uri="{9D8B030D-6E8A-4147-A177-3AD203B41FA5}">
                      <a16:colId xmlns:a16="http://schemas.microsoft.com/office/drawing/2014/main" val="1056320918"/>
                    </a:ext>
                  </a:extLst>
                </a:gridCol>
                <a:gridCol w="3640880">
                  <a:extLst>
                    <a:ext uri="{9D8B030D-6E8A-4147-A177-3AD203B41FA5}">
                      <a16:colId xmlns:a16="http://schemas.microsoft.com/office/drawing/2014/main" val="2099937907"/>
                    </a:ext>
                  </a:extLst>
                </a:gridCol>
                <a:gridCol w="3640880">
                  <a:extLst>
                    <a:ext uri="{9D8B030D-6E8A-4147-A177-3AD203B41FA5}">
                      <a16:colId xmlns:a16="http://schemas.microsoft.com/office/drawing/2014/main" val="682601351"/>
                    </a:ext>
                  </a:extLst>
                </a:gridCol>
              </a:tblGrid>
              <a:tr h="0">
                <a:tc>
                  <a:txBody>
                    <a:bodyPr/>
                    <a:lstStyle/>
                    <a:p>
                      <a:pPr algn="ctr"/>
                      <a:r>
                        <a:rPr lang="en-US" sz="2200" b="1" dirty="0" smtClean="0"/>
                        <a:t>Optimization Type</a:t>
                      </a:r>
                      <a:endParaRPr lang="en-US" sz="2200" b="1" dirty="0"/>
                    </a:p>
                  </a:txBody>
                  <a:tcPr anchor="ctr"/>
                </a:tc>
                <a:tc>
                  <a:txBody>
                    <a:bodyPr/>
                    <a:lstStyle/>
                    <a:p>
                      <a:pPr algn="ctr"/>
                      <a:r>
                        <a:rPr lang="en-US" sz="2200" b="1" dirty="0"/>
                        <a:t>Description</a:t>
                      </a:r>
                    </a:p>
                  </a:txBody>
                  <a:tcPr anchor="ctr"/>
                </a:tc>
                <a:tc>
                  <a:txBody>
                    <a:bodyPr/>
                    <a:lstStyle/>
                    <a:p>
                      <a:pPr algn="ctr"/>
                      <a:r>
                        <a:rPr lang="en-US" sz="2200" b="1" dirty="0"/>
                        <a:t>Example</a:t>
                      </a:r>
                    </a:p>
                  </a:txBody>
                  <a:tcPr anchor="ctr"/>
                </a:tc>
                <a:extLst>
                  <a:ext uri="{0D108BD9-81ED-4DB2-BD59-A6C34878D82A}">
                    <a16:rowId xmlns:a16="http://schemas.microsoft.com/office/drawing/2014/main" val="921383469"/>
                  </a:ext>
                </a:extLst>
              </a:tr>
              <a:tr h="0">
                <a:tc>
                  <a:txBody>
                    <a:bodyPr/>
                    <a:lstStyle/>
                    <a:p>
                      <a:pPr algn="ctr"/>
                      <a:r>
                        <a:rPr lang="en-US" sz="2200" b="1" dirty="0"/>
                        <a:t>Rule-Based Optimization (RBO)</a:t>
                      </a:r>
                    </a:p>
                  </a:txBody>
                  <a:tcPr anchor="ctr"/>
                </a:tc>
                <a:tc>
                  <a:txBody>
                    <a:bodyPr/>
                    <a:lstStyle/>
                    <a:p>
                      <a:r>
                        <a:rPr lang="en-US" sz="2200"/>
                        <a:t>Applies deterministic rewrite rules to simplify queries.</a:t>
                      </a:r>
                    </a:p>
                  </a:txBody>
                  <a:tcPr anchor="ctr"/>
                </a:tc>
                <a:tc>
                  <a:txBody>
                    <a:bodyPr/>
                    <a:lstStyle/>
                    <a:p>
                      <a:r>
                        <a:rPr lang="en-US" sz="2200"/>
                        <a:t>Push filters before joins, remove redundant projections.</a:t>
                      </a:r>
                    </a:p>
                  </a:txBody>
                  <a:tcPr anchor="ctr"/>
                </a:tc>
                <a:extLst>
                  <a:ext uri="{0D108BD9-81ED-4DB2-BD59-A6C34878D82A}">
                    <a16:rowId xmlns:a16="http://schemas.microsoft.com/office/drawing/2014/main" val="2793110384"/>
                  </a:ext>
                </a:extLst>
              </a:tr>
              <a:tr h="0">
                <a:tc>
                  <a:txBody>
                    <a:bodyPr/>
                    <a:lstStyle/>
                    <a:p>
                      <a:pPr algn="ctr"/>
                      <a:r>
                        <a:rPr lang="en-US" sz="2200" b="1" dirty="0"/>
                        <a:t>Cost-Based Optimization (CBO)</a:t>
                      </a:r>
                    </a:p>
                  </a:txBody>
                  <a:tcPr anchor="ctr"/>
                </a:tc>
                <a:tc>
                  <a:txBody>
                    <a:bodyPr/>
                    <a:lstStyle/>
                    <a:p>
                      <a:r>
                        <a:rPr lang="en-US" sz="2200"/>
                        <a:t>Uses statistics (row counts, data size) to choose the most efficient plan.</a:t>
                      </a:r>
                    </a:p>
                  </a:txBody>
                  <a:tcPr anchor="ctr"/>
                </a:tc>
                <a:tc>
                  <a:txBody>
                    <a:bodyPr/>
                    <a:lstStyle/>
                    <a:p>
                      <a:r>
                        <a:rPr lang="en-US" sz="2200" dirty="0"/>
                        <a:t>Selects join strategy (broadcast vs shuffle) based on data size.</a:t>
                      </a:r>
                    </a:p>
                  </a:txBody>
                  <a:tcPr anchor="ctr"/>
                </a:tc>
                <a:extLst>
                  <a:ext uri="{0D108BD9-81ED-4DB2-BD59-A6C34878D82A}">
                    <a16:rowId xmlns:a16="http://schemas.microsoft.com/office/drawing/2014/main" val="3021512203"/>
                  </a:ext>
                </a:extLst>
              </a:tr>
            </a:tbl>
          </a:graphicData>
        </a:graphic>
      </p:graphicFrame>
    </p:spTree>
    <p:extLst>
      <p:ext uri="{BB962C8B-B14F-4D97-AF65-F5344CB8AC3E}">
        <p14:creationId xmlns:p14="http://schemas.microsoft.com/office/powerpoint/2010/main" val="29940665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Catalyst: The </a:t>
            </a:r>
            <a:r>
              <a:rPr lang="en-US" b="1" dirty="0"/>
              <a:t>Optimization </a:t>
            </a:r>
            <a:r>
              <a:rPr lang="en-US" b="1" dirty="0" smtClean="0"/>
              <a:t>Pipeline </a:t>
            </a:r>
            <a:endParaRPr lang="en-US" b="1" dirty="0"/>
          </a:p>
        </p:txBody>
      </p:sp>
      <p:pic>
        <p:nvPicPr>
          <p:cNvPr id="13314" name="Picture 2" descr="https://miro.medium.com/v2/resize:fit:1050/1*AXZ3Q4GgDuNKDncw0bb-UQ.png"/>
          <p:cNvPicPr>
            <a:picLocks noChangeAspect="1" noChangeArrowheads="1"/>
          </p:cNvPicPr>
          <p:nvPr/>
        </p:nvPicPr>
        <p:blipFill rotWithShape="1">
          <a:blip r:embed="rId3">
            <a:extLst>
              <a:ext uri="{28A0092B-C50C-407E-A947-70E740481C1C}">
                <a14:useLocalDpi xmlns:a14="http://schemas.microsoft.com/office/drawing/2010/main" val="0"/>
              </a:ext>
            </a:extLst>
          </a:blip>
          <a:srcRect l="6600" t="8594" r="2942" b="4373"/>
          <a:stretch/>
        </p:blipFill>
        <p:spPr bwMode="auto">
          <a:xfrm>
            <a:off x="5723902" y="1555668"/>
            <a:ext cx="6329548" cy="5248893"/>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p:cNvSpPr>
            <a:spLocks noGrp="1"/>
          </p:cNvSpPr>
          <p:nvPr>
            <p:ph idx="1"/>
          </p:nvPr>
        </p:nvSpPr>
        <p:spPr>
          <a:xfrm>
            <a:off x="1024128" y="1882243"/>
            <a:ext cx="9720073" cy="4023360"/>
          </a:xfrm>
        </p:spPr>
        <p:txBody>
          <a:bodyPr>
            <a:noAutofit/>
          </a:bodyPr>
          <a:lstStyle/>
          <a:p>
            <a:pPr>
              <a:lnSpc>
                <a:spcPct val="110000"/>
              </a:lnSpc>
              <a:spcBef>
                <a:spcPts val="0"/>
              </a:spcBef>
              <a:spcAft>
                <a:spcPts val="0"/>
              </a:spcAft>
            </a:pPr>
            <a:r>
              <a:rPr lang="en-US" b="1" dirty="0" smtClean="0"/>
              <a:t>Query Analysis</a:t>
            </a:r>
            <a:r>
              <a:rPr lang="en-US" dirty="0" smtClean="0"/>
              <a:t> </a:t>
            </a:r>
          </a:p>
          <a:p>
            <a:pPr lvl="1">
              <a:lnSpc>
                <a:spcPct val="110000"/>
              </a:lnSpc>
              <a:spcBef>
                <a:spcPts val="0"/>
              </a:spcBef>
              <a:spcAft>
                <a:spcPts val="0"/>
              </a:spcAft>
            </a:pPr>
            <a:r>
              <a:rPr lang="en-US" sz="2200" dirty="0" smtClean="0"/>
              <a:t>Resolve tables &amp; columns </a:t>
            </a:r>
          </a:p>
          <a:p>
            <a:pPr>
              <a:lnSpc>
                <a:spcPct val="110000"/>
              </a:lnSpc>
              <a:spcBef>
                <a:spcPts val="0"/>
              </a:spcBef>
              <a:spcAft>
                <a:spcPts val="0"/>
              </a:spcAft>
            </a:pPr>
            <a:r>
              <a:rPr lang="en-US" b="1" dirty="0" smtClean="0"/>
              <a:t>Logical Optimization</a:t>
            </a:r>
            <a:r>
              <a:rPr lang="en-US" dirty="0" smtClean="0"/>
              <a:t> </a:t>
            </a:r>
          </a:p>
          <a:p>
            <a:pPr lvl="1">
              <a:lnSpc>
                <a:spcPct val="110000"/>
              </a:lnSpc>
              <a:spcBef>
                <a:spcPts val="0"/>
              </a:spcBef>
              <a:spcAft>
                <a:spcPts val="0"/>
              </a:spcAft>
            </a:pPr>
            <a:r>
              <a:rPr lang="en-US" sz="2200" dirty="0" smtClean="0"/>
              <a:t>Predicate pushdown </a:t>
            </a:r>
          </a:p>
          <a:p>
            <a:pPr lvl="1">
              <a:lnSpc>
                <a:spcPct val="110000"/>
              </a:lnSpc>
              <a:spcBef>
                <a:spcPts val="0"/>
              </a:spcBef>
              <a:spcAft>
                <a:spcPts val="0"/>
              </a:spcAft>
            </a:pPr>
            <a:r>
              <a:rPr lang="en-US" sz="2200" dirty="0" smtClean="0"/>
              <a:t>Column pruning </a:t>
            </a:r>
          </a:p>
          <a:p>
            <a:pPr lvl="1">
              <a:lnSpc>
                <a:spcPct val="110000"/>
              </a:lnSpc>
              <a:spcBef>
                <a:spcPts val="0"/>
              </a:spcBef>
              <a:spcAft>
                <a:spcPts val="0"/>
              </a:spcAft>
            </a:pPr>
            <a:r>
              <a:rPr lang="en-US" sz="2200" dirty="0" smtClean="0"/>
              <a:t>Constant folding </a:t>
            </a:r>
          </a:p>
          <a:p>
            <a:pPr>
              <a:lnSpc>
                <a:spcPct val="110000"/>
              </a:lnSpc>
              <a:spcBef>
                <a:spcPts val="0"/>
              </a:spcBef>
              <a:spcAft>
                <a:spcPts val="0"/>
              </a:spcAft>
            </a:pPr>
            <a:r>
              <a:rPr lang="en-US" b="1" dirty="0" smtClean="0"/>
              <a:t>Physical Planning</a:t>
            </a:r>
            <a:r>
              <a:rPr lang="en-US" dirty="0" smtClean="0"/>
              <a:t> </a:t>
            </a:r>
          </a:p>
          <a:p>
            <a:pPr lvl="1">
              <a:lnSpc>
                <a:spcPct val="110000"/>
              </a:lnSpc>
              <a:spcBef>
                <a:spcPts val="0"/>
              </a:spcBef>
              <a:spcAft>
                <a:spcPts val="0"/>
              </a:spcAft>
            </a:pPr>
            <a:r>
              <a:rPr lang="en-US" sz="2200" dirty="0" smtClean="0"/>
              <a:t>Generate multiple plans </a:t>
            </a:r>
          </a:p>
          <a:p>
            <a:pPr lvl="1">
              <a:lnSpc>
                <a:spcPct val="110000"/>
              </a:lnSpc>
              <a:spcBef>
                <a:spcPts val="0"/>
              </a:spcBef>
              <a:spcAft>
                <a:spcPts val="0"/>
              </a:spcAft>
            </a:pPr>
            <a:r>
              <a:rPr lang="en-US" sz="2200" dirty="0" smtClean="0"/>
              <a:t>Choose best plan (</a:t>
            </a:r>
            <a:r>
              <a:rPr lang="en-US" sz="2200" i="1" dirty="0" smtClean="0"/>
              <a:t>cost-based</a:t>
            </a:r>
            <a:r>
              <a:rPr lang="en-US" sz="2200" dirty="0" smtClean="0"/>
              <a:t>) </a:t>
            </a:r>
          </a:p>
          <a:p>
            <a:pPr>
              <a:lnSpc>
                <a:spcPct val="110000"/>
              </a:lnSpc>
              <a:spcBef>
                <a:spcPts val="0"/>
              </a:spcBef>
              <a:spcAft>
                <a:spcPts val="0"/>
              </a:spcAft>
            </a:pPr>
            <a:r>
              <a:rPr lang="en-US" b="1" dirty="0" smtClean="0"/>
              <a:t>Code Generation</a:t>
            </a:r>
            <a:r>
              <a:rPr lang="en-US" dirty="0" smtClean="0"/>
              <a:t> </a:t>
            </a:r>
          </a:p>
          <a:p>
            <a:pPr lvl="1">
              <a:lnSpc>
                <a:spcPct val="110000"/>
              </a:lnSpc>
              <a:spcBef>
                <a:spcPts val="0"/>
              </a:spcBef>
              <a:spcAft>
                <a:spcPts val="0"/>
              </a:spcAft>
            </a:pPr>
            <a:r>
              <a:rPr lang="en-US" sz="2200" dirty="0" smtClean="0"/>
              <a:t>Convert plan to optimized bytecode </a:t>
            </a:r>
          </a:p>
          <a:p>
            <a:pPr marL="0" indent="0">
              <a:lnSpc>
                <a:spcPct val="110000"/>
              </a:lnSpc>
              <a:spcBef>
                <a:spcPts val="0"/>
              </a:spcBef>
              <a:spcAft>
                <a:spcPts val="0"/>
              </a:spcAft>
              <a:buNone/>
            </a:pPr>
            <a:endParaRPr lang="en-US" dirty="0" smtClean="0"/>
          </a:p>
          <a:p>
            <a:pPr marL="0" indent="0">
              <a:lnSpc>
                <a:spcPct val="110000"/>
              </a:lnSpc>
              <a:spcBef>
                <a:spcPts val="0"/>
              </a:spcBef>
              <a:spcAft>
                <a:spcPts val="0"/>
              </a:spcAft>
              <a:buNone/>
            </a:pPr>
            <a:r>
              <a:rPr lang="en-US" b="1" dirty="0" smtClean="0">
                <a:solidFill>
                  <a:srgbClr val="C00000"/>
                </a:solidFill>
              </a:rPr>
              <a:t>Output: Efficient execution plan</a:t>
            </a:r>
            <a:endParaRPr lang="en-US" b="1" dirty="0">
              <a:solidFill>
                <a:srgbClr val="C00000"/>
              </a:solidFill>
            </a:endParaRPr>
          </a:p>
        </p:txBody>
      </p:sp>
    </p:spTree>
    <p:extLst>
      <p:ext uri="{BB962C8B-B14F-4D97-AF65-F5344CB8AC3E}">
        <p14:creationId xmlns:p14="http://schemas.microsoft.com/office/powerpoint/2010/main" val="36929120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0995" y="585216"/>
            <a:ext cx="11167873" cy="1499616"/>
          </a:xfrm>
        </p:spPr>
        <p:txBody>
          <a:bodyPr/>
          <a:lstStyle/>
          <a:p>
            <a:r>
              <a:rPr lang="en-US" b="1" dirty="0" smtClean="0"/>
              <a:t>Logical plan optimization </a:t>
            </a:r>
            <a:endParaRPr lang="en-US" b="1" dirty="0"/>
          </a:p>
        </p:txBody>
      </p:sp>
      <p:sp>
        <p:nvSpPr>
          <p:cNvPr id="3" name="Content Placeholder 2"/>
          <p:cNvSpPr>
            <a:spLocks noGrp="1"/>
          </p:cNvSpPr>
          <p:nvPr>
            <p:ph idx="1"/>
          </p:nvPr>
        </p:nvSpPr>
        <p:spPr>
          <a:xfrm>
            <a:off x="1024128" y="2048496"/>
            <a:ext cx="9720073" cy="4023360"/>
          </a:xfrm>
        </p:spPr>
        <p:txBody>
          <a:bodyPr>
            <a:noAutofit/>
          </a:bodyPr>
          <a:lstStyle/>
          <a:p>
            <a:pPr marL="0" indent="0">
              <a:lnSpc>
                <a:spcPct val="100000"/>
              </a:lnSpc>
              <a:spcBef>
                <a:spcPts val="0"/>
              </a:spcBef>
              <a:spcAft>
                <a:spcPts val="0"/>
              </a:spcAft>
              <a:buNone/>
            </a:pPr>
            <a:r>
              <a:rPr lang="en-US" sz="2600" b="1" dirty="0" smtClean="0">
                <a:solidFill>
                  <a:srgbClr val="C00000"/>
                </a:solidFill>
              </a:rPr>
              <a:t>Predicate </a:t>
            </a:r>
            <a:r>
              <a:rPr lang="en-US" sz="2600" b="1" dirty="0">
                <a:solidFill>
                  <a:srgbClr val="C00000"/>
                </a:solidFill>
              </a:rPr>
              <a:t>pushdown </a:t>
            </a:r>
          </a:p>
          <a:p>
            <a:pPr marL="457200" indent="-457200">
              <a:lnSpc>
                <a:spcPct val="100000"/>
              </a:lnSpc>
              <a:spcBef>
                <a:spcPts val="0"/>
              </a:spcBef>
              <a:spcAft>
                <a:spcPts val="0"/>
              </a:spcAft>
              <a:buFont typeface="+mj-lt"/>
              <a:buAutoNum type="arabicPeriod"/>
            </a:pPr>
            <a:r>
              <a:rPr lang="en-US" sz="2600" dirty="0"/>
              <a:t>Moves filtering as close to the data source as possible </a:t>
            </a:r>
          </a:p>
          <a:p>
            <a:pPr marL="457200" indent="-457200">
              <a:lnSpc>
                <a:spcPct val="100000"/>
              </a:lnSpc>
              <a:spcBef>
                <a:spcPts val="0"/>
              </a:spcBef>
              <a:spcAft>
                <a:spcPts val="0"/>
              </a:spcAft>
              <a:buFont typeface="+mj-lt"/>
              <a:buAutoNum type="arabicPeriod"/>
            </a:pPr>
            <a:r>
              <a:rPr lang="en-US" sz="2600" dirty="0"/>
              <a:t>Removes irrelevant rows early </a:t>
            </a:r>
          </a:p>
          <a:p>
            <a:pPr marL="0" indent="0">
              <a:lnSpc>
                <a:spcPct val="100000"/>
              </a:lnSpc>
              <a:spcBef>
                <a:spcPts val="0"/>
              </a:spcBef>
              <a:spcAft>
                <a:spcPts val="0"/>
              </a:spcAft>
              <a:buNone/>
            </a:pPr>
            <a:endParaRPr lang="en-US" sz="2600" dirty="0" smtClean="0"/>
          </a:p>
          <a:p>
            <a:pPr marL="0" indent="0">
              <a:lnSpc>
                <a:spcPct val="100000"/>
              </a:lnSpc>
              <a:spcBef>
                <a:spcPts val="0"/>
              </a:spcBef>
              <a:spcAft>
                <a:spcPts val="0"/>
              </a:spcAft>
              <a:buNone/>
            </a:pPr>
            <a:r>
              <a:rPr lang="en-US" sz="2600" b="1" dirty="0" smtClean="0"/>
              <a:t>Example: </a:t>
            </a:r>
            <a:r>
              <a:rPr lang="en-US" sz="2600" dirty="0" smtClean="0"/>
              <a:t>Instead </a:t>
            </a:r>
            <a:r>
              <a:rPr lang="en-US" sz="2600" dirty="0"/>
              <a:t>of reading all sales data:</a:t>
            </a:r>
          </a:p>
          <a:p>
            <a:pPr>
              <a:lnSpc>
                <a:spcPct val="100000"/>
              </a:lnSpc>
              <a:spcBef>
                <a:spcPts val="0"/>
              </a:spcBef>
              <a:spcAft>
                <a:spcPts val="0"/>
              </a:spcAft>
            </a:pPr>
            <a:r>
              <a:rPr lang="en-US" sz="2600" dirty="0"/>
              <a:t>“SELECT * WHERE country = 'Egypt'” </a:t>
            </a:r>
          </a:p>
          <a:p>
            <a:pPr>
              <a:lnSpc>
                <a:spcPct val="100000"/>
              </a:lnSpc>
              <a:spcBef>
                <a:spcPts val="0"/>
              </a:spcBef>
              <a:spcAft>
                <a:spcPts val="0"/>
              </a:spcAft>
            </a:pPr>
            <a:r>
              <a:rPr lang="en-US" sz="2600" dirty="0"/>
              <a:t>Spark filters data </a:t>
            </a:r>
            <a:r>
              <a:rPr lang="en-US" sz="2600" b="1" dirty="0"/>
              <a:t>before loading fully into memory</a:t>
            </a:r>
            <a:r>
              <a:rPr lang="en-US" sz="2600" dirty="0"/>
              <a:t> </a:t>
            </a:r>
          </a:p>
          <a:p>
            <a:pPr marL="0" indent="0">
              <a:lnSpc>
                <a:spcPct val="100000"/>
              </a:lnSpc>
              <a:spcBef>
                <a:spcPts val="0"/>
              </a:spcBef>
              <a:spcAft>
                <a:spcPts val="0"/>
              </a:spcAft>
              <a:buNone/>
            </a:pPr>
            <a:r>
              <a:rPr lang="en-US" sz="2600" b="1" u="sng" dirty="0" smtClean="0"/>
              <a:t>Benefit</a:t>
            </a:r>
            <a:r>
              <a:rPr lang="en-US" sz="2600" b="1" u="sng" dirty="0"/>
              <a:t>:</a:t>
            </a:r>
          </a:p>
          <a:p>
            <a:pPr marL="514350" indent="-514350">
              <a:lnSpc>
                <a:spcPct val="100000"/>
              </a:lnSpc>
              <a:spcBef>
                <a:spcPts val="0"/>
              </a:spcBef>
              <a:spcAft>
                <a:spcPts val="0"/>
              </a:spcAft>
              <a:buFont typeface="+mj-lt"/>
              <a:buAutoNum type="arabicPeriod"/>
            </a:pPr>
            <a:r>
              <a:rPr lang="en-US" sz="2600" dirty="0"/>
              <a:t>Reduces data scanned from storage </a:t>
            </a:r>
          </a:p>
          <a:p>
            <a:pPr marL="514350" indent="-514350">
              <a:lnSpc>
                <a:spcPct val="100000"/>
              </a:lnSpc>
              <a:spcBef>
                <a:spcPts val="0"/>
              </a:spcBef>
              <a:spcAft>
                <a:spcPts val="0"/>
              </a:spcAft>
              <a:buFont typeface="+mj-lt"/>
              <a:buAutoNum type="arabicPeriod"/>
            </a:pPr>
            <a:r>
              <a:rPr lang="en-US" sz="2600" dirty="0"/>
              <a:t>Less disk I/O </a:t>
            </a:r>
          </a:p>
          <a:p>
            <a:pPr marL="514350" indent="-514350">
              <a:lnSpc>
                <a:spcPct val="100000"/>
              </a:lnSpc>
              <a:spcBef>
                <a:spcPts val="0"/>
              </a:spcBef>
              <a:spcAft>
                <a:spcPts val="0"/>
              </a:spcAft>
              <a:buFont typeface="+mj-lt"/>
              <a:buAutoNum type="arabicPeriod"/>
            </a:pPr>
            <a:r>
              <a:rPr lang="en-US" sz="2600" dirty="0"/>
              <a:t>Faster query start </a:t>
            </a:r>
          </a:p>
        </p:txBody>
      </p:sp>
    </p:spTree>
    <p:extLst>
      <p:ext uri="{BB962C8B-B14F-4D97-AF65-F5344CB8AC3E}">
        <p14:creationId xmlns:p14="http://schemas.microsoft.com/office/powerpoint/2010/main" val="38054472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0995" y="585216"/>
            <a:ext cx="11167873" cy="1499616"/>
          </a:xfrm>
        </p:spPr>
        <p:txBody>
          <a:bodyPr/>
          <a:lstStyle/>
          <a:p>
            <a:r>
              <a:rPr lang="en-US" b="1" dirty="0"/>
              <a:t>Logical plan optimization </a:t>
            </a:r>
          </a:p>
        </p:txBody>
      </p:sp>
      <p:sp>
        <p:nvSpPr>
          <p:cNvPr id="3" name="Content Placeholder 2"/>
          <p:cNvSpPr>
            <a:spLocks noGrp="1"/>
          </p:cNvSpPr>
          <p:nvPr>
            <p:ph idx="1"/>
          </p:nvPr>
        </p:nvSpPr>
        <p:spPr>
          <a:xfrm>
            <a:off x="1024128" y="2048496"/>
            <a:ext cx="9720073" cy="4023360"/>
          </a:xfrm>
        </p:spPr>
        <p:txBody>
          <a:bodyPr>
            <a:noAutofit/>
          </a:bodyPr>
          <a:lstStyle/>
          <a:p>
            <a:pPr marL="0" indent="0">
              <a:lnSpc>
                <a:spcPct val="100000"/>
              </a:lnSpc>
              <a:spcBef>
                <a:spcPts val="0"/>
              </a:spcBef>
              <a:spcAft>
                <a:spcPts val="0"/>
              </a:spcAft>
              <a:buNone/>
            </a:pPr>
            <a:r>
              <a:rPr lang="en-US" sz="2600" b="1" dirty="0">
                <a:solidFill>
                  <a:srgbClr val="C00000"/>
                </a:solidFill>
              </a:rPr>
              <a:t>Column Pruning </a:t>
            </a:r>
          </a:p>
          <a:p>
            <a:pPr marL="457200" indent="-457200">
              <a:lnSpc>
                <a:spcPct val="100000"/>
              </a:lnSpc>
              <a:spcBef>
                <a:spcPts val="0"/>
              </a:spcBef>
              <a:spcAft>
                <a:spcPts val="0"/>
              </a:spcAft>
              <a:buFont typeface="+mj-lt"/>
              <a:buAutoNum type="arabicPeriod"/>
            </a:pPr>
            <a:r>
              <a:rPr lang="en-US" sz="2600" dirty="0"/>
              <a:t>Loads only </a:t>
            </a:r>
            <a:r>
              <a:rPr lang="en-US" sz="2600" b="1" dirty="0"/>
              <a:t>required columns</a:t>
            </a:r>
            <a:r>
              <a:rPr lang="en-US" sz="2600" dirty="0"/>
              <a:t>, not full table </a:t>
            </a:r>
            <a:r>
              <a:rPr lang="en-US" sz="2600" dirty="0" smtClean="0"/>
              <a:t> </a:t>
            </a:r>
            <a:endParaRPr lang="en-US" sz="2600" dirty="0"/>
          </a:p>
          <a:p>
            <a:pPr marL="0" indent="0">
              <a:lnSpc>
                <a:spcPct val="100000"/>
              </a:lnSpc>
              <a:spcBef>
                <a:spcPts val="0"/>
              </a:spcBef>
              <a:spcAft>
                <a:spcPts val="0"/>
              </a:spcAft>
              <a:buNone/>
            </a:pPr>
            <a:r>
              <a:rPr lang="en-US" sz="2600" b="1" u="sng" dirty="0" smtClean="0"/>
              <a:t>Example: </a:t>
            </a:r>
            <a:r>
              <a:rPr lang="en-US" sz="2600" dirty="0" smtClean="0"/>
              <a:t>If </a:t>
            </a:r>
            <a:r>
              <a:rPr lang="en-US" sz="2600" dirty="0"/>
              <a:t>query </a:t>
            </a:r>
            <a:r>
              <a:rPr lang="en-US" sz="2600" dirty="0" smtClean="0"/>
              <a:t>needs specific columns like </a:t>
            </a:r>
            <a:r>
              <a:rPr lang="en-US" sz="2600" b="1" i="1" dirty="0" err="1" smtClean="0"/>
              <a:t>product_id</a:t>
            </a:r>
            <a:r>
              <a:rPr lang="en-US" sz="2600" b="1" i="1" dirty="0"/>
              <a:t>, price</a:t>
            </a:r>
            <a:r>
              <a:rPr lang="en-US" sz="2600" dirty="0"/>
              <a:t> </a:t>
            </a:r>
          </a:p>
          <a:p>
            <a:pPr marL="0" indent="0">
              <a:lnSpc>
                <a:spcPct val="100000"/>
              </a:lnSpc>
              <a:spcBef>
                <a:spcPts val="0"/>
              </a:spcBef>
              <a:spcAft>
                <a:spcPts val="0"/>
              </a:spcAft>
              <a:buNone/>
            </a:pPr>
            <a:r>
              <a:rPr lang="en-US" sz="2600" dirty="0"/>
              <a:t>Spark will NOT </a:t>
            </a:r>
            <a:r>
              <a:rPr lang="en-US" sz="2600" dirty="0" smtClean="0"/>
              <a:t>load </a:t>
            </a:r>
            <a:r>
              <a:rPr lang="en-US" sz="2600" dirty="0"/>
              <a:t>unnecessary</a:t>
            </a:r>
            <a:r>
              <a:rPr lang="en-US" sz="2600" dirty="0" smtClean="0"/>
              <a:t> columns data such as:</a:t>
            </a:r>
            <a:endParaRPr lang="en-US" sz="2600" dirty="0"/>
          </a:p>
          <a:p>
            <a:pPr marL="0" indent="0">
              <a:lnSpc>
                <a:spcPct val="100000"/>
              </a:lnSpc>
              <a:spcBef>
                <a:spcPts val="0"/>
              </a:spcBef>
              <a:spcAft>
                <a:spcPts val="0"/>
              </a:spcAft>
              <a:buNone/>
            </a:pPr>
            <a:r>
              <a:rPr lang="en-US" sz="2600" dirty="0" err="1"/>
              <a:t>customer_name</a:t>
            </a:r>
            <a:r>
              <a:rPr lang="en-US" sz="2600" dirty="0"/>
              <a:t>, address, </a:t>
            </a:r>
            <a:r>
              <a:rPr lang="en-US" sz="2600" dirty="0" smtClean="0"/>
              <a:t>timestamps</a:t>
            </a:r>
          </a:p>
          <a:p>
            <a:pPr marL="0" indent="0">
              <a:lnSpc>
                <a:spcPct val="100000"/>
              </a:lnSpc>
              <a:spcBef>
                <a:spcPts val="0"/>
              </a:spcBef>
              <a:spcAft>
                <a:spcPts val="0"/>
              </a:spcAft>
              <a:buNone/>
            </a:pPr>
            <a:r>
              <a:rPr lang="en-US" sz="2600" b="1" u="sng" dirty="0" smtClean="0"/>
              <a:t>Benefit:</a:t>
            </a:r>
          </a:p>
          <a:p>
            <a:pPr marL="514350" indent="-514350">
              <a:lnSpc>
                <a:spcPct val="100000"/>
              </a:lnSpc>
              <a:spcBef>
                <a:spcPts val="0"/>
              </a:spcBef>
              <a:spcAft>
                <a:spcPts val="0"/>
              </a:spcAft>
              <a:buFont typeface="+mj-lt"/>
              <a:buAutoNum type="arabicPeriod"/>
            </a:pPr>
            <a:r>
              <a:rPr lang="en-US" sz="2600" dirty="0" smtClean="0"/>
              <a:t>Less </a:t>
            </a:r>
            <a:r>
              <a:rPr lang="en-US" sz="2600" dirty="0"/>
              <a:t>memory usage </a:t>
            </a:r>
          </a:p>
          <a:p>
            <a:pPr marL="514350" indent="-514350">
              <a:lnSpc>
                <a:spcPct val="100000"/>
              </a:lnSpc>
              <a:spcBef>
                <a:spcPts val="0"/>
              </a:spcBef>
              <a:spcAft>
                <a:spcPts val="0"/>
              </a:spcAft>
              <a:buFont typeface="+mj-lt"/>
              <a:buAutoNum type="arabicPeriod"/>
            </a:pPr>
            <a:r>
              <a:rPr lang="en-US" sz="2600" dirty="0"/>
              <a:t>Faster serialization/deserialization </a:t>
            </a:r>
          </a:p>
          <a:p>
            <a:pPr marL="514350" indent="-514350">
              <a:lnSpc>
                <a:spcPct val="100000"/>
              </a:lnSpc>
              <a:spcBef>
                <a:spcPts val="0"/>
              </a:spcBef>
              <a:spcAft>
                <a:spcPts val="0"/>
              </a:spcAft>
              <a:buFont typeface="+mj-lt"/>
              <a:buAutoNum type="arabicPeriod"/>
            </a:pPr>
            <a:r>
              <a:rPr lang="en-US" sz="2600" dirty="0"/>
              <a:t>Reduced network transfer in cluster </a:t>
            </a:r>
          </a:p>
          <a:p>
            <a:pPr marL="0" indent="0">
              <a:lnSpc>
                <a:spcPct val="100000"/>
              </a:lnSpc>
              <a:spcBef>
                <a:spcPts val="0"/>
              </a:spcBef>
              <a:spcAft>
                <a:spcPts val="0"/>
              </a:spcAft>
              <a:buNone/>
            </a:pPr>
            <a:endParaRPr lang="en-US" sz="2600" dirty="0"/>
          </a:p>
        </p:txBody>
      </p:sp>
    </p:spTree>
    <p:extLst>
      <p:ext uri="{BB962C8B-B14F-4D97-AF65-F5344CB8AC3E}">
        <p14:creationId xmlns:p14="http://schemas.microsoft.com/office/powerpoint/2010/main" val="32809927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0995" y="585216"/>
            <a:ext cx="11167873" cy="1499616"/>
          </a:xfrm>
        </p:spPr>
        <p:txBody>
          <a:bodyPr/>
          <a:lstStyle/>
          <a:p>
            <a:r>
              <a:rPr lang="en-US" b="1" dirty="0"/>
              <a:t>Logical plan optimization </a:t>
            </a:r>
          </a:p>
        </p:txBody>
      </p:sp>
      <p:sp>
        <p:nvSpPr>
          <p:cNvPr id="3" name="Content Placeholder 2"/>
          <p:cNvSpPr>
            <a:spLocks noGrp="1"/>
          </p:cNvSpPr>
          <p:nvPr>
            <p:ph idx="1"/>
          </p:nvPr>
        </p:nvSpPr>
        <p:spPr>
          <a:xfrm>
            <a:off x="1024128" y="2048496"/>
            <a:ext cx="9720073" cy="4023360"/>
          </a:xfrm>
        </p:spPr>
        <p:txBody>
          <a:bodyPr>
            <a:noAutofit/>
          </a:bodyPr>
          <a:lstStyle/>
          <a:p>
            <a:pPr marL="0" indent="0">
              <a:lnSpc>
                <a:spcPct val="100000"/>
              </a:lnSpc>
              <a:spcBef>
                <a:spcPts val="0"/>
              </a:spcBef>
              <a:spcAft>
                <a:spcPts val="0"/>
              </a:spcAft>
              <a:buNone/>
            </a:pPr>
            <a:r>
              <a:rPr lang="en-US" sz="2600" b="1" dirty="0">
                <a:solidFill>
                  <a:srgbClr val="C00000"/>
                </a:solidFill>
              </a:rPr>
              <a:t>Join Optimization Strategy </a:t>
            </a:r>
          </a:p>
          <a:p>
            <a:pPr marL="457200" indent="-457200">
              <a:lnSpc>
                <a:spcPct val="100000"/>
              </a:lnSpc>
              <a:spcBef>
                <a:spcPts val="0"/>
              </a:spcBef>
              <a:spcAft>
                <a:spcPts val="0"/>
              </a:spcAft>
              <a:buFont typeface="+mj-lt"/>
              <a:buAutoNum type="arabicPeriod"/>
            </a:pPr>
            <a:r>
              <a:rPr lang="en-US" sz="2600" dirty="0"/>
              <a:t>Spark chooses the </a:t>
            </a:r>
            <a:r>
              <a:rPr lang="en-US" sz="2600" b="1" dirty="0"/>
              <a:t>best join method</a:t>
            </a:r>
            <a:r>
              <a:rPr lang="en-US" sz="2600" dirty="0"/>
              <a:t> based on data size</a:t>
            </a:r>
            <a:r>
              <a:rPr lang="en-US" sz="2600" dirty="0" smtClean="0"/>
              <a:t>:  </a:t>
            </a:r>
            <a:endParaRPr lang="en-US" sz="2600" dirty="0"/>
          </a:p>
          <a:p>
            <a:pPr>
              <a:lnSpc>
                <a:spcPct val="100000"/>
              </a:lnSpc>
              <a:spcBef>
                <a:spcPts val="0"/>
              </a:spcBef>
              <a:spcAft>
                <a:spcPts val="0"/>
              </a:spcAft>
            </a:pPr>
            <a:r>
              <a:rPr lang="en-US" sz="2600" b="1" dirty="0"/>
              <a:t>Common strategies:</a:t>
            </a:r>
          </a:p>
          <a:p>
            <a:pPr>
              <a:lnSpc>
                <a:spcPct val="100000"/>
              </a:lnSpc>
              <a:spcBef>
                <a:spcPts val="0"/>
              </a:spcBef>
              <a:spcAft>
                <a:spcPts val="0"/>
              </a:spcAft>
            </a:pPr>
            <a:r>
              <a:rPr lang="en-US" sz="2600" b="1" dirty="0"/>
              <a:t>Broadcast Join</a:t>
            </a:r>
            <a:r>
              <a:rPr lang="en-US" sz="2600" dirty="0"/>
              <a:t> → small table sent to all nodes </a:t>
            </a:r>
          </a:p>
          <a:p>
            <a:pPr>
              <a:lnSpc>
                <a:spcPct val="100000"/>
              </a:lnSpc>
              <a:spcBef>
                <a:spcPts val="0"/>
              </a:spcBef>
              <a:spcAft>
                <a:spcPts val="0"/>
              </a:spcAft>
            </a:pPr>
            <a:r>
              <a:rPr lang="en-US" sz="2600" b="1" dirty="0"/>
              <a:t>Shuffle Hash Join</a:t>
            </a:r>
            <a:r>
              <a:rPr lang="en-US" sz="2600" dirty="0"/>
              <a:t> → partition-based join </a:t>
            </a:r>
          </a:p>
          <a:p>
            <a:pPr>
              <a:lnSpc>
                <a:spcPct val="100000"/>
              </a:lnSpc>
              <a:spcBef>
                <a:spcPts val="0"/>
              </a:spcBef>
              <a:spcAft>
                <a:spcPts val="0"/>
              </a:spcAft>
            </a:pPr>
            <a:r>
              <a:rPr lang="en-US" sz="2600" b="1" dirty="0"/>
              <a:t>Sort Merge Join</a:t>
            </a:r>
            <a:r>
              <a:rPr lang="en-US" sz="2600" dirty="0"/>
              <a:t> → for large sorted </a:t>
            </a:r>
            <a:r>
              <a:rPr lang="en-US" sz="2600" dirty="0" smtClean="0"/>
              <a:t>datasets</a:t>
            </a:r>
          </a:p>
          <a:p>
            <a:pPr marL="0" indent="0">
              <a:lnSpc>
                <a:spcPct val="100000"/>
              </a:lnSpc>
              <a:spcBef>
                <a:spcPts val="0"/>
              </a:spcBef>
              <a:spcAft>
                <a:spcPts val="0"/>
              </a:spcAft>
              <a:buNone/>
            </a:pPr>
            <a:r>
              <a:rPr lang="en-US" sz="2600" b="1" u="sng" dirty="0" smtClean="0"/>
              <a:t>Benefit</a:t>
            </a:r>
            <a:r>
              <a:rPr lang="en-US" sz="2600" b="1" u="sng" dirty="0"/>
              <a:t>:</a:t>
            </a:r>
          </a:p>
          <a:p>
            <a:pPr marL="514350" indent="-514350">
              <a:lnSpc>
                <a:spcPct val="100000"/>
              </a:lnSpc>
              <a:spcBef>
                <a:spcPts val="0"/>
              </a:spcBef>
              <a:spcAft>
                <a:spcPts val="0"/>
              </a:spcAft>
              <a:buFont typeface="+mj-lt"/>
              <a:buAutoNum type="arabicPeriod"/>
            </a:pPr>
            <a:r>
              <a:rPr lang="en-US" sz="2600" dirty="0"/>
              <a:t>Avoids expensive shuffling </a:t>
            </a:r>
          </a:p>
          <a:p>
            <a:pPr marL="514350" indent="-514350">
              <a:lnSpc>
                <a:spcPct val="100000"/>
              </a:lnSpc>
              <a:spcBef>
                <a:spcPts val="0"/>
              </a:spcBef>
              <a:spcAft>
                <a:spcPts val="0"/>
              </a:spcAft>
              <a:buFont typeface="+mj-lt"/>
              <a:buAutoNum type="arabicPeriod"/>
            </a:pPr>
            <a:r>
              <a:rPr lang="en-US" sz="2600" dirty="0"/>
              <a:t>Reduces network overhead </a:t>
            </a:r>
          </a:p>
          <a:p>
            <a:pPr marL="514350" indent="-514350">
              <a:lnSpc>
                <a:spcPct val="100000"/>
              </a:lnSpc>
              <a:spcBef>
                <a:spcPts val="0"/>
              </a:spcBef>
              <a:spcAft>
                <a:spcPts val="0"/>
              </a:spcAft>
              <a:buFont typeface="+mj-lt"/>
              <a:buAutoNum type="arabicPeriod"/>
            </a:pPr>
            <a:r>
              <a:rPr lang="en-US" sz="2600" dirty="0"/>
              <a:t>Speeds up distributed joins </a:t>
            </a:r>
          </a:p>
          <a:p>
            <a:pPr>
              <a:lnSpc>
                <a:spcPct val="100000"/>
              </a:lnSpc>
              <a:spcBef>
                <a:spcPts val="0"/>
              </a:spcBef>
              <a:spcAft>
                <a:spcPts val="0"/>
              </a:spcAft>
            </a:pPr>
            <a:endParaRPr lang="en-US" sz="2600" dirty="0"/>
          </a:p>
        </p:txBody>
      </p:sp>
    </p:spTree>
    <p:extLst>
      <p:ext uri="{BB962C8B-B14F-4D97-AF65-F5344CB8AC3E}">
        <p14:creationId xmlns:p14="http://schemas.microsoft.com/office/powerpoint/2010/main" val="1974085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https://miro.medium.com/v2/resize:fit:1050/1*nfLNpaNrEVbskLPBIXPI2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97" y="349834"/>
            <a:ext cx="11499818" cy="6155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8030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https://miro.medium.com/v2/resize:fit:1050/1*65AZ0afAe8f0MPkyxn7T4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772" y="216020"/>
            <a:ext cx="11476982" cy="6438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1044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From Logical Plan to RDD </a:t>
            </a:r>
            <a:r>
              <a:rPr lang="en-US" b="1" dirty="0" smtClean="0"/>
              <a:t>Execution</a:t>
            </a:r>
            <a:endParaRPr lang="en-US" dirty="0"/>
          </a:p>
        </p:txBody>
      </p:sp>
      <p:pic>
        <p:nvPicPr>
          <p:cNvPr id="19458" name="Picture 2" descr="https://miro.medium.com/v2/resize:fit:1050/1*t3WDMur3VRjbUEl8qfNpe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346" y="2200952"/>
            <a:ext cx="10435125" cy="304794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39386" y="5801534"/>
            <a:ext cx="11503233" cy="769441"/>
          </a:xfrm>
          <a:prstGeom prst="rect">
            <a:avLst/>
          </a:prstGeom>
        </p:spPr>
        <p:txBody>
          <a:bodyPr wrap="square">
            <a:spAutoFit/>
          </a:bodyPr>
          <a:lstStyle/>
          <a:p>
            <a:pPr algn="ctr"/>
            <a:r>
              <a:rPr lang="en-US" sz="2200" b="1" dirty="0">
                <a:solidFill>
                  <a:srgbClr val="C00000"/>
                </a:solidFill>
              </a:rPr>
              <a:t>DataFrame/SQL Code → Logical Plan → Optimized Logical Plan → Physical Plan → RDD Transformations → Execution</a:t>
            </a:r>
            <a:endParaRPr lang="en-US" sz="2200" dirty="0">
              <a:solidFill>
                <a:srgbClr val="C00000"/>
              </a:solidFill>
            </a:endParaRPr>
          </a:p>
        </p:txBody>
      </p:sp>
    </p:spTree>
    <p:extLst>
      <p:ext uri="{BB962C8B-B14F-4D97-AF65-F5344CB8AC3E}">
        <p14:creationId xmlns:p14="http://schemas.microsoft.com/office/powerpoint/2010/main" val="30745689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091177" cy="1499616"/>
          </a:xfrm>
        </p:spPr>
        <p:txBody>
          <a:bodyPr/>
          <a:lstStyle/>
          <a:p>
            <a:r>
              <a:rPr lang="en-US" b="1" dirty="0" smtClean="0"/>
              <a:t>Dag scheduler vs. catalyst optimizer </a:t>
            </a:r>
            <a:endParaRPr lang="en-US" b="1" dirty="0"/>
          </a:p>
        </p:txBody>
      </p:sp>
      <p:sp>
        <p:nvSpPr>
          <p:cNvPr id="3" name="Content Placeholder 2"/>
          <p:cNvSpPr>
            <a:spLocks noGrp="1"/>
          </p:cNvSpPr>
          <p:nvPr>
            <p:ph idx="1"/>
          </p:nvPr>
        </p:nvSpPr>
        <p:spPr>
          <a:xfrm>
            <a:off x="596616" y="1882240"/>
            <a:ext cx="10934323" cy="4023360"/>
          </a:xfrm>
        </p:spPr>
        <p:txBody>
          <a:bodyPr>
            <a:noAutofit/>
          </a:bodyPr>
          <a:lstStyle/>
          <a:p>
            <a:pPr>
              <a:lnSpc>
                <a:spcPct val="100000"/>
              </a:lnSpc>
              <a:spcBef>
                <a:spcPts val="0"/>
              </a:spcBef>
              <a:spcAft>
                <a:spcPts val="0"/>
              </a:spcAft>
            </a:pPr>
            <a:r>
              <a:rPr lang="en-US" sz="2600" b="1" dirty="0"/>
              <a:t>1. Catalyst Optimizer: The "</a:t>
            </a:r>
            <a:r>
              <a:rPr lang="en-US" sz="2600" b="1" dirty="0">
                <a:solidFill>
                  <a:srgbClr val="C00000"/>
                </a:solidFill>
              </a:rPr>
              <a:t>What</a:t>
            </a:r>
            <a:r>
              <a:rPr lang="en-US" sz="2600" b="1" dirty="0"/>
              <a:t>" </a:t>
            </a:r>
            <a:endParaRPr lang="en-US" sz="2600" b="1" dirty="0" smtClean="0"/>
          </a:p>
          <a:p>
            <a:pPr>
              <a:lnSpc>
                <a:spcPct val="100000"/>
              </a:lnSpc>
              <a:spcBef>
                <a:spcPts val="0"/>
              </a:spcBef>
              <a:spcAft>
                <a:spcPts val="0"/>
              </a:spcAft>
            </a:pPr>
            <a:r>
              <a:rPr lang="en-US" sz="2600" dirty="0" smtClean="0"/>
              <a:t>Catalyst </a:t>
            </a:r>
            <a:r>
              <a:rPr lang="en-US" sz="2600" dirty="0"/>
              <a:t>is a Query Optimizer. It only exists for Structured APIs (</a:t>
            </a:r>
            <a:r>
              <a:rPr lang="en-US" sz="2600" dirty="0" err="1"/>
              <a:t>DataFrames</a:t>
            </a:r>
            <a:r>
              <a:rPr lang="en-US" sz="2600" dirty="0"/>
              <a:t>, Datasets, and SQL). Because it understands the Schema (column names and types), it can rewrite your logic to be more efficient</a:t>
            </a:r>
            <a:r>
              <a:rPr lang="en-US" sz="2600" dirty="0" smtClean="0"/>
              <a:t>.</a:t>
            </a:r>
          </a:p>
          <a:p>
            <a:pPr>
              <a:lnSpc>
                <a:spcPct val="100000"/>
              </a:lnSpc>
              <a:spcBef>
                <a:spcPts val="0"/>
              </a:spcBef>
              <a:spcAft>
                <a:spcPts val="0"/>
              </a:spcAft>
            </a:pPr>
            <a:r>
              <a:rPr lang="en-US" sz="2600" b="1" dirty="0" smtClean="0"/>
              <a:t>When </a:t>
            </a:r>
            <a:r>
              <a:rPr lang="en-US" sz="2600" b="1" dirty="0"/>
              <a:t>it runs</a:t>
            </a:r>
            <a:r>
              <a:rPr lang="en-US" sz="2600" dirty="0"/>
              <a:t>: Before the execution starts (</a:t>
            </a:r>
            <a:r>
              <a:rPr lang="en-US" sz="2600" i="1" dirty="0"/>
              <a:t>during the planning phase</a:t>
            </a:r>
            <a:r>
              <a:rPr lang="en-US" sz="2600" dirty="0" smtClean="0"/>
              <a:t>).</a:t>
            </a:r>
          </a:p>
          <a:p>
            <a:pPr>
              <a:lnSpc>
                <a:spcPct val="100000"/>
              </a:lnSpc>
              <a:spcBef>
                <a:spcPts val="0"/>
              </a:spcBef>
              <a:spcAft>
                <a:spcPts val="0"/>
              </a:spcAft>
            </a:pPr>
            <a:r>
              <a:rPr lang="en-US" sz="2600" b="1" dirty="0" smtClean="0"/>
              <a:t>Key Optimizations:</a:t>
            </a:r>
          </a:p>
          <a:p>
            <a:pPr marL="457200" indent="-457200">
              <a:lnSpc>
                <a:spcPct val="100000"/>
              </a:lnSpc>
              <a:spcBef>
                <a:spcPts val="0"/>
              </a:spcBef>
              <a:spcAft>
                <a:spcPts val="0"/>
              </a:spcAft>
              <a:buFont typeface="+mj-lt"/>
              <a:buAutoNum type="arabicPeriod"/>
            </a:pPr>
            <a:r>
              <a:rPr lang="en-US" sz="2600" b="1" dirty="0" smtClean="0"/>
              <a:t>Predicate Pushdown</a:t>
            </a:r>
            <a:endParaRPr lang="en-US" sz="2600" dirty="0" smtClean="0"/>
          </a:p>
          <a:p>
            <a:pPr marL="457200" indent="-457200">
              <a:lnSpc>
                <a:spcPct val="100000"/>
              </a:lnSpc>
              <a:spcBef>
                <a:spcPts val="0"/>
              </a:spcBef>
              <a:spcAft>
                <a:spcPts val="0"/>
              </a:spcAft>
              <a:buFont typeface="+mj-lt"/>
              <a:buAutoNum type="arabicPeriod"/>
            </a:pPr>
            <a:r>
              <a:rPr lang="en-US" sz="2600" b="1" dirty="0" smtClean="0"/>
              <a:t>Column Pruning</a:t>
            </a:r>
            <a:endParaRPr lang="en-US" sz="2600" dirty="0" smtClean="0"/>
          </a:p>
          <a:p>
            <a:pPr marL="457200" indent="-457200">
              <a:lnSpc>
                <a:spcPct val="100000"/>
              </a:lnSpc>
              <a:spcBef>
                <a:spcPts val="0"/>
              </a:spcBef>
              <a:spcAft>
                <a:spcPts val="0"/>
              </a:spcAft>
              <a:buFont typeface="+mj-lt"/>
              <a:buAutoNum type="arabicPeriod"/>
            </a:pPr>
            <a:r>
              <a:rPr lang="en-US" sz="2600" b="1" dirty="0" smtClean="0"/>
              <a:t>Constant Folding</a:t>
            </a:r>
            <a:endParaRPr lang="en-US" sz="2600" dirty="0"/>
          </a:p>
        </p:txBody>
      </p:sp>
    </p:spTree>
    <p:extLst>
      <p:ext uri="{BB962C8B-B14F-4D97-AF65-F5344CB8AC3E}">
        <p14:creationId xmlns:p14="http://schemas.microsoft.com/office/powerpoint/2010/main" val="4857677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091177" cy="1499616"/>
          </a:xfrm>
        </p:spPr>
        <p:txBody>
          <a:bodyPr/>
          <a:lstStyle/>
          <a:p>
            <a:r>
              <a:rPr lang="en-US" b="1" dirty="0" smtClean="0"/>
              <a:t>Dag scheduler vs. catalyst optimizer </a:t>
            </a:r>
            <a:endParaRPr lang="en-US" b="1" dirty="0"/>
          </a:p>
        </p:txBody>
      </p:sp>
      <p:sp>
        <p:nvSpPr>
          <p:cNvPr id="3" name="Content Placeholder 2"/>
          <p:cNvSpPr>
            <a:spLocks noGrp="1"/>
          </p:cNvSpPr>
          <p:nvPr>
            <p:ph idx="1"/>
          </p:nvPr>
        </p:nvSpPr>
        <p:spPr>
          <a:xfrm>
            <a:off x="596617" y="2060369"/>
            <a:ext cx="10589940" cy="4023360"/>
          </a:xfrm>
        </p:spPr>
        <p:txBody>
          <a:bodyPr>
            <a:noAutofit/>
          </a:bodyPr>
          <a:lstStyle/>
          <a:p>
            <a:pPr>
              <a:lnSpc>
                <a:spcPct val="100000"/>
              </a:lnSpc>
              <a:spcBef>
                <a:spcPts val="0"/>
              </a:spcBef>
              <a:spcAft>
                <a:spcPts val="0"/>
              </a:spcAft>
            </a:pPr>
            <a:r>
              <a:rPr lang="en-US" sz="2600" b="1" dirty="0"/>
              <a:t>2. DAG Scheduler: The "</a:t>
            </a:r>
            <a:r>
              <a:rPr lang="en-US" sz="2600" b="1" dirty="0">
                <a:solidFill>
                  <a:srgbClr val="C00000"/>
                </a:solidFill>
              </a:rPr>
              <a:t>How</a:t>
            </a:r>
            <a:r>
              <a:rPr lang="en-US" sz="2600" b="1" dirty="0"/>
              <a:t>" </a:t>
            </a:r>
          </a:p>
          <a:p>
            <a:pPr>
              <a:lnSpc>
                <a:spcPct val="100000"/>
              </a:lnSpc>
              <a:spcBef>
                <a:spcPts val="0"/>
              </a:spcBef>
              <a:spcAft>
                <a:spcPts val="0"/>
              </a:spcAft>
            </a:pPr>
            <a:r>
              <a:rPr lang="en-US" sz="2400" dirty="0"/>
              <a:t>The DAG Scheduler is a </a:t>
            </a:r>
            <a:r>
              <a:rPr lang="en-US" sz="2400" b="1" dirty="0"/>
              <a:t>Task Scheduler</a:t>
            </a:r>
            <a:r>
              <a:rPr lang="en-US" sz="2400" dirty="0"/>
              <a:t>. It exists for </a:t>
            </a:r>
            <a:r>
              <a:rPr lang="en-US" sz="2400" i="1" dirty="0"/>
              <a:t>everything</a:t>
            </a:r>
            <a:r>
              <a:rPr lang="en-US" sz="2400" dirty="0"/>
              <a:t> in Spark (including low-level RDDs). </a:t>
            </a:r>
            <a:r>
              <a:rPr lang="en-US" sz="2400" dirty="0" smtClean="0"/>
              <a:t>It cares </a:t>
            </a:r>
            <a:r>
              <a:rPr lang="en-US" sz="2400" dirty="0"/>
              <a:t>about </a:t>
            </a:r>
            <a:r>
              <a:rPr lang="en-US" sz="2400" b="1" dirty="0"/>
              <a:t>Dependencies</a:t>
            </a:r>
            <a:r>
              <a:rPr lang="en-US" sz="2400" dirty="0"/>
              <a:t> (</a:t>
            </a:r>
            <a:r>
              <a:rPr lang="en-US" sz="2400" i="1" dirty="0"/>
              <a:t>where the data is and where it needs to go</a:t>
            </a:r>
            <a:r>
              <a:rPr lang="en-US" sz="2400" dirty="0"/>
              <a:t>).</a:t>
            </a:r>
          </a:p>
          <a:p>
            <a:pPr>
              <a:lnSpc>
                <a:spcPct val="100000"/>
              </a:lnSpc>
              <a:spcBef>
                <a:spcPts val="0"/>
              </a:spcBef>
              <a:spcAft>
                <a:spcPts val="0"/>
              </a:spcAft>
            </a:pPr>
            <a:r>
              <a:rPr lang="en-US" sz="2400" b="1" dirty="0"/>
              <a:t>When it runs:</a:t>
            </a:r>
            <a:r>
              <a:rPr lang="en-US" sz="2400" dirty="0"/>
              <a:t> After the logical plan is finalized, right when an </a:t>
            </a:r>
            <a:r>
              <a:rPr lang="en-US" sz="2400" b="1" dirty="0"/>
              <a:t>Action</a:t>
            </a:r>
            <a:r>
              <a:rPr lang="en-US" sz="2400" dirty="0"/>
              <a:t> is called.</a:t>
            </a:r>
          </a:p>
          <a:p>
            <a:pPr>
              <a:lnSpc>
                <a:spcPct val="100000"/>
              </a:lnSpc>
              <a:spcBef>
                <a:spcPts val="0"/>
              </a:spcBef>
              <a:spcAft>
                <a:spcPts val="0"/>
              </a:spcAft>
            </a:pPr>
            <a:r>
              <a:rPr lang="en-US" sz="2400" b="1" dirty="0"/>
              <a:t>What it sees:</a:t>
            </a:r>
            <a:r>
              <a:rPr lang="en-US" sz="2400" dirty="0"/>
              <a:t> A graph of RDD dependencies.</a:t>
            </a:r>
          </a:p>
          <a:p>
            <a:pPr>
              <a:lnSpc>
                <a:spcPct val="100000"/>
              </a:lnSpc>
              <a:spcBef>
                <a:spcPts val="0"/>
              </a:spcBef>
              <a:spcAft>
                <a:spcPts val="0"/>
              </a:spcAft>
            </a:pPr>
            <a:r>
              <a:rPr lang="en-US" sz="2400" b="1" dirty="0"/>
              <a:t>Key Optimizations:</a:t>
            </a:r>
            <a:endParaRPr lang="en-US" sz="2400" dirty="0"/>
          </a:p>
          <a:p>
            <a:pPr marL="585216" lvl="1" indent="-457200">
              <a:lnSpc>
                <a:spcPct val="100000"/>
              </a:lnSpc>
              <a:spcBef>
                <a:spcPts val="0"/>
              </a:spcBef>
              <a:spcAft>
                <a:spcPts val="0"/>
              </a:spcAft>
              <a:buFont typeface="+mj-lt"/>
              <a:buAutoNum type="arabicPeriod"/>
            </a:pPr>
            <a:r>
              <a:rPr lang="en-US" sz="2200" b="1" dirty="0"/>
              <a:t>Stage Splitting:</a:t>
            </a:r>
            <a:r>
              <a:rPr lang="en-US" sz="2200" dirty="0"/>
              <a:t> Identifying "Shuffle Boundaries" (Wide Dependencies) to break the job into stages.</a:t>
            </a:r>
          </a:p>
          <a:p>
            <a:pPr marL="585216" lvl="1" indent="-457200">
              <a:lnSpc>
                <a:spcPct val="100000"/>
              </a:lnSpc>
              <a:spcBef>
                <a:spcPts val="0"/>
              </a:spcBef>
              <a:spcAft>
                <a:spcPts val="0"/>
              </a:spcAft>
              <a:buFont typeface="+mj-lt"/>
              <a:buAutoNum type="arabicPeriod"/>
            </a:pPr>
            <a:r>
              <a:rPr lang="en-US" sz="2200" b="1" dirty="0"/>
              <a:t>Pipelining:</a:t>
            </a:r>
            <a:r>
              <a:rPr lang="en-US" sz="2200" dirty="0"/>
              <a:t> Combining multiple "Narrow" operations (like Map and Filter) into a single Stage so the data stays in the CPU cache and doesn't hit the RAM/Disk unnecessarily.</a:t>
            </a:r>
          </a:p>
          <a:p>
            <a:pPr marL="585216" lvl="1" indent="-457200">
              <a:lnSpc>
                <a:spcPct val="100000"/>
              </a:lnSpc>
              <a:spcBef>
                <a:spcPts val="0"/>
              </a:spcBef>
              <a:spcAft>
                <a:spcPts val="0"/>
              </a:spcAft>
              <a:buFont typeface="+mj-lt"/>
              <a:buAutoNum type="arabicPeriod"/>
            </a:pPr>
            <a:r>
              <a:rPr lang="en-US" sz="2200" b="1" dirty="0"/>
              <a:t>Task Generation:</a:t>
            </a:r>
            <a:r>
              <a:rPr lang="en-US" sz="2200" dirty="0"/>
              <a:t> Creating the actual task objects that get sent to the Worker Nodes</a:t>
            </a:r>
          </a:p>
        </p:txBody>
      </p:sp>
    </p:spTree>
    <p:extLst>
      <p:ext uri="{BB962C8B-B14F-4D97-AF65-F5344CB8AC3E}">
        <p14:creationId xmlns:p14="http://schemas.microsoft.com/office/powerpoint/2010/main" val="38003084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091177" cy="1499616"/>
          </a:xfrm>
        </p:spPr>
        <p:txBody>
          <a:bodyPr/>
          <a:lstStyle/>
          <a:p>
            <a:r>
              <a:rPr lang="en-US" b="1" dirty="0" smtClean="0"/>
              <a:t>Dag scheduler vs. catalyst optimizer </a:t>
            </a:r>
            <a:endParaRPr lang="en-US" b="1" dirty="0"/>
          </a:p>
        </p:txBody>
      </p:sp>
      <p:sp>
        <p:nvSpPr>
          <p:cNvPr id="3" name="Content Placeholder 2"/>
          <p:cNvSpPr>
            <a:spLocks noGrp="1"/>
          </p:cNvSpPr>
          <p:nvPr>
            <p:ph idx="1"/>
          </p:nvPr>
        </p:nvSpPr>
        <p:spPr>
          <a:xfrm>
            <a:off x="596617" y="2060369"/>
            <a:ext cx="10589940" cy="4023360"/>
          </a:xfrm>
        </p:spPr>
        <p:txBody>
          <a:bodyPr>
            <a:noAutofit/>
          </a:bodyPr>
          <a:lstStyle/>
          <a:p>
            <a:pPr>
              <a:lnSpc>
                <a:spcPct val="100000"/>
              </a:lnSpc>
              <a:spcBef>
                <a:spcPts val="0"/>
              </a:spcBef>
              <a:spcAft>
                <a:spcPts val="0"/>
              </a:spcAft>
            </a:pPr>
            <a:r>
              <a:rPr lang="en-US" sz="2600" b="1" dirty="0" smtClean="0"/>
              <a:t>How they work together?</a:t>
            </a:r>
          </a:p>
          <a:p>
            <a:pPr marL="457200" indent="-457200">
              <a:lnSpc>
                <a:spcPct val="100000"/>
              </a:lnSpc>
              <a:spcBef>
                <a:spcPts val="0"/>
              </a:spcBef>
              <a:spcAft>
                <a:spcPts val="0"/>
              </a:spcAft>
              <a:buFont typeface="+mj-lt"/>
              <a:buAutoNum type="arabicPeriod"/>
            </a:pPr>
            <a:r>
              <a:rPr lang="en-US" sz="2600" b="1" dirty="0"/>
              <a:t>DataFrame Code:</a:t>
            </a:r>
            <a:r>
              <a:rPr lang="en-US" sz="2600" dirty="0"/>
              <a:t> You write a query.</a:t>
            </a:r>
          </a:p>
          <a:p>
            <a:pPr marL="457200" indent="-457200">
              <a:lnSpc>
                <a:spcPct val="100000"/>
              </a:lnSpc>
              <a:spcBef>
                <a:spcPts val="0"/>
              </a:spcBef>
              <a:spcAft>
                <a:spcPts val="0"/>
              </a:spcAft>
              <a:buFont typeface="+mj-lt"/>
              <a:buAutoNum type="arabicPeriod"/>
            </a:pPr>
            <a:r>
              <a:rPr lang="en-US" sz="2600" b="1" dirty="0"/>
              <a:t>Catalyst (The Brain):</a:t>
            </a:r>
            <a:r>
              <a:rPr lang="en-US" sz="2600" dirty="0"/>
              <a:t> Looks at the schema, moves filters around, and produces an </a:t>
            </a:r>
            <a:r>
              <a:rPr lang="en-US" sz="2600" b="1" dirty="0"/>
              <a:t>Optimized Logical Plan</a:t>
            </a:r>
            <a:r>
              <a:rPr lang="en-US" sz="2600" dirty="0"/>
              <a:t>. It then turns this into a physical plan (</a:t>
            </a:r>
            <a:r>
              <a:rPr lang="en-US" sz="2600" i="1" dirty="0"/>
              <a:t>a set of RDDs</a:t>
            </a:r>
            <a:r>
              <a:rPr lang="en-US" sz="2600" dirty="0"/>
              <a:t>).</a:t>
            </a:r>
          </a:p>
          <a:p>
            <a:pPr marL="457200" indent="-457200">
              <a:lnSpc>
                <a:spcPct val="100000"/>
              </a:lnSpc>
              <a:spcBef>
                <a:spcPts val="0"/>
              </a:spcBef>
              <a:spcAft>
                <a:spcPts val="0"/>
              </a:spcAft>
              <a:buFont typeface="+mj-lt"/>
              <a:buAutoNum type="arabicPeriod"/>
            </a:pPr>
            <a:r>
              <a:rPr lang="en-US" sz="2600" b="1" dirty="0"/>
              <a:t>DAG Scheduler (The Muscle):</a:t>
            </a:r>
            <a:r>
              <a:rPr lang="en-US" sz="2600" dirty="0"/>
              <a:t> Takes those RDDs, groups them into </a:t>
            </a:r>
            <a:r>
              <a:rPr lang="en-US" sz="2600" b="1" dirty="0"/>
              <a:t>Stages</a:t>
            </a:r>
            <a:r>
              <a:rPr lang="en-US" sz="2600" dirty="0"/>
              <a:t>, and hands them to the </a:t>
            </a:r>
            <a:r>
              <a:rPr lang="en-US" sz="2600" b="1" dirty="0"/>
              <a:t>Task Scheduler</a:t>
            </a:r>
            <a:r>
              <a:rPr lang="en-US" sz="2600" dirty="0"/>
              <a:t>.</a:t>
            </a:r>
          </a:p>
          <a:p>
            <a:pPr marL="457200" indent="-457200">
              <a:lnSpc>
                <a:spcPct val="100000"/>
              </a:lnSpc>
              <a:spcBef>
                <a:spcPts val="0"/>
              </a:spcBef>
              <a:spcAft>
                <a:spcPts val="0"/>
              </a:spcAft>
              <a:buFont typeface="+mj-lt"/>
              <a:buAutoNum type="arabicPeriod"/>
            </a:pPr>
            <a:r>
              <a:rPr lang="en-US" sz="2600" b="1" dirty="0"/>
              <a:t>Executors:</a:t>
            </a:r>
            <a:r>
              <a:rPr lang="en-US" sz="2600" dirty="0"/>
              <a:t> Run the tasks on the actual data partitions.</a:t>
            </a:r>
          </a:p>
          <a:p>
            <a:pPr>
              <a:lnSpc>
                <a:spcPct val="100000"/>
              </a:lnSpc>
              <a:spcBef>
                <a:spcPts val="0"/>
              </a:spcBef>
              <a:spcAft>
                <a:spcPts val="0"/>
              </a:spcAft>
            </a:pPr>
            <a:endParaRPr lang="en-US" sz="2600" dirty="0"/>
          </a:p>
        </p:txBody>
      </p:sp>
    </p:spTree>
    <p:extLst>
      <p:ext uri="{BB962C8B-B14F-4D97-AF65-F5344CB8AC3E}">
        <p14:creationId xmlns:p14="http://schemas.microsoft.com/office/powerpoint/2010/main" val="15029467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9798" y="208625"/>
            <a:ext cx="11821671" cy="6453432"/>
          </a:xfrm>
          <a:prstGeom prst="rect">
            <a:avLst/>
          </a:prstGeom>
        </p:spPr>
      </p:pic>
    </p:spTree>
    <p:extLst>
      <p:ext uri="{BB962C8B-B14F-4D97-AF65-F5344CB8AC3E}">
        <p14:creationId xmlns:p14="http://schemas.microsoft.com/office/powerpoint/2010/main" val="36322262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091177" cy="1499616"/>
          </a:xfrm>
        </p:spPr>
        <p:txBody>
          <a:bodyPr/>
          <a:lstStyle/>
          <a:p>
            <a:r>
              <a:rPr lang="en-US" b="1" dirty="0" smtClean="0"/>
              <a:t>Dag scheduler vs. catalyst optimizer </a:t>
            </a:r>
            <a:endParaRPr lang="en-US" b="1" dirty="0"/>
          </a:p>
        </p:txBody>
      </p:sp>
      <p:graphicFrame>
        <p:nvGraphicFramePr>
          <p:cNvPr id="5" name="Table 4"/>
          <p:cNvGraphicFramePr>
            <a:graphicFrameLocks noGrp="1"/>
          </p:cNvGraphicFramePr>
          <p:nvPr>
            <p:extLst>
              <p:ext uri="{D42A27DB-BD31-4B8C-83A1-F6EECF244321}">
                <p14:modId xmlns:p14="http://schemas.microsoft.com/office/powerpoint/2010/main" val="3208950444"/>
              </p:ext>
            </p:extLst>
          </p:nvPr>
        </p:nvGraphicFramePr>
        <p:xfrm>
          <a:off x="629392" y="2012867"/>
          <a:ext cx="10877797" cy="3682938"/>
        </p:xfrm>
        <a:graphic>
          <a:graphicData uri="http://schemas.openxmlformats.org/drawingml/2006/table">
            <a:tbl>
              <a:tblPr>
                <a:tableStyleId>{8799B23B-EC83-4686-B30A-512413B5E67A}</a:tableStyleId>
              </a:tblPr>
              <a:tblGrid>
                <a:gridCol w="2937869">
                  <a:extLst>
                    <a:ext uri="{9D8B030D-6E8A-4147-A177-3AD203B41FA5}">
                      <a16:colId xmlns:a16="http://schemas.microsoft.com/office/drawing/2014/main" val="3477302164"/>
                    </a:ext>
                  </a:extLst>
                </a:gridCol>
                <a:gridCol w="3891068">
                  <a:extLst>
                    <a:ext uri="{9D8B030D-6E8A-4147-A177-3AD203B41FA5}">
                      <a16:colId xmlns:a16="http://schemas.microsoft.com/office/drawing/2014/main" val="1773993161"/>
                    </a:ext>
                  </a:extLst>
                </a:gridCol>
                <a:gridCol w="4048860">
                  <a:extLst>
                    <a:ext uri="{9D8B030D-6E8A-4147-A177-3AD203B41FA5}">
                      <a16:colId xmlns:a16="http://schemas.microsoft.com/office/drawing/2014/main" val="3031317470"/>
                    </a:ext>
                  </a:extLst>
                </a:gridCol>
              </a:tblGrid>
              <a:tr h="453401">
                <a:tc>
                  <a:txBody>
                    <a:bodyPr/>
                    <a:lstStyle/>
                    <a:p>
                      <a:pPr algn="ctr" rtl="0"/>
                      <a:r>
                        <a:rPr lang="en-US" sz="2200" b="1" dirty="0">
                          <a:effectLst/>
                        </a:rPr>
                        <a:t>Feature</a:t>
                      </a:r>
                      <a:endParaRPr lang="en-US" sz="2200" b="1" dirty="0">
                        <a:solidFill>
                          <a:srgbClr val="1F1F1F"/>
                        </a:solidFill>
                        <a:effectLst/>
                        <a:latin typeface="Google Sans Text"/>
                      </a:endParaRPr>
                    </a:p>
                  </a:txBody>
                  <a:tcPr marL="86821" marR="72351" marT="96468" marB="96468" anchor="ctr"/>
                </a:tc>
                <a:tc>
                  <a:txBody>
                    <a:bodyPr/>
                    <a:lstStyle/>
                    <a:p>
                      <a:pPr algn="ctr" rtl="0"/>
                      <a:r>
                        <a:rPr lang="en-US" sz="2200" b="1" dirty="0">
                          <a:effectLst/>
                        </a:rPr>
                        <a:t>Catalyst Optimizer</a:t>
                      </a:r>
                      <a:endParaRPr lang="en-US" sz="2200" b="1" dirty="0">
                        <a:solidFill>
                          <a:srgbClr val="1F1F1F"/>
                        </a:solidFill>
                        <a:effectLst/>
                        <a:latin typeface="Google Sans Text"/>
                      </a:endParaRPr>
                    </a:p>
                  </a:txBody>
                  <a:tcPr marL="86821" marR="72351" marT="96468" marB="96468" anchor="ctr"/>
                </a:tc>
                <a:tc>
                  <a:txBody>
                    <a:bodyPr/>
                    <a:lstStyle/>
                    <a:p>
                      <a:pPr algn="ctr" rtl="0"/>
                      <a:r>
                        <a:rPr lang="en-US" sz="2200" b="1" dirty="0">
                          <a:effectLst/>
                        </a:rPr>
                        <a:t>DAG Scheduler</a:t>
                      </a:r>
                      <a:endParaRPr lang="en-US" sz="2200" b="1" dirty="0">
                        <a:solidFill>
                          <a:srgbClr val="1F1F1F"/>
                        </a:solidFill>
                        <a:effectLst/>
                        <a:latin typeface="Google Sans Text"/>
                      </a:endParaRPr>
                    </a:p>
                  </a:txBody>
                  <a:tcPr marL="86821" marR="86821" marT="96468" marB="96468" anchor="ctr"/>
                </a:tc>
                <a:extLst>
                  <a:ext uri="{0D108BD9-81ED-4DB2-BD59-A6C34878D82A}">
                    <a16:rowId xmlns:a16="http://schemas.microsoft.com/office/drawing/2014/main" val="494373651"/>
                  </a:ext>
                </a:extLst>
              </a:tr>
              <a:tr h="713865">
                <a:tc>
                  <a:txBody>
                    <a:bodyPr/>
                    <a:lstStyle/>
                    <a:p>
                      <a:pPr algn="ctr" rtl="0"/>
                      <a:r>
                        <a:rPr lang="en-US" sz="2200" b="1" dirty="0">
                          <a:effectLst/>
                        </a:rPr>
                        <a:t>Primary Goal</a:t>
                      </a:r>
                      <a:endParaRPr lang="en-US" sz="2200" b="1" dirty="0">
                        <a:solidFill>
                          <a:srgbClr val="1F1F1F"/>
                        </a:solidFill>
                        <a:effectLst/>
                        <a:latin typeface="Google Sans Text"/>
                      </a:endParaRPr>
                    </a:p>
                  </a:txBody>
                  <a:tcPr marL="86821" marR="72351" marT="96468" marB="96468" anchor="ctr"/>
                </a:tc>
                <a:tc>
                  <a:txBody>
                    <a:bodyPr/>
                    <a:lstStyle/>
                    <a:p>
                      <a:pPr rtl="0"/>
                      <a:r>
                        <a:rPr lang="en-US" sz="2200" dirty="0">
                          <a:effectLst/>
                        </a:rPr>
                        <a:t>Optimize Logic (The "What").</a:t>
                      </a:r>
                      <a:endParaRPr lang="en-US" sz="2200" dirty="0">
                        <a:solidFill>
                          <a:srgbClr val="1F1F1F"/>
                        </a:solidFill>
                        <a:effectLst/>
                        <a:latin typeface="Google Sans Text"/>
                      </a:endParaRPr>
                    </a:p>
                  </a:txBody>
                  <a:tcPr marL="86821" marR="72351" marT="96468" marB="96468" anchor="ctr"/>
                </a:tc>
                <a:tc>
                  <a:txBody>
                    <a:bodyPr/>
                    <a:lstStyle/>
                    <a:p>
                      <a:pPr rtl="0"/>
                      <a:r>
                        <a:rPr lang="en-US" sz="2200" dirty="0">
                          <a:effectLst/>
                        </a:rPr>
                        <a:t>Optimize Execution (The "How").</a:t>
                      </a:r>
                      <a:endParaRPr lang="en-US" sz="2200" dirty="0">
                        <a:solidFill>
                          <a:srgbClr val="1F1F1F"/>
                        </a:solidFill>
                        <a:effectLst/>
                        <a:latin typeface="Google Sans Text"/>
                      </a:endParaRPr>
                    </a:p>
                  </a:txBody>
                  <a:tcPr marL="86821" marR="86821" marT="96468" marB="96468" anchor="ctr"/>
                </a:tc>
                <a:extLst>
                  <a:ext uri="{0D108BD9-81ED-4DB2-BD59-A6C34878D82A}">
                    <a16:rowId xmlns:a16="http://schemas.microsoft.com/office/drawing/2014/main" val="4269839652"/>
                  </a:ext>
                </a:extLst>
              </a:tr>
              <a:tr h="713865">
                <a:tc>
                  <a:txBody>
                    <a:bodyPr/>
                    <a:lstStyle/>
                    <a:p>
                      <a:pPr algn="ctr" rtl="0"/>
                      <a:r>
                        <a:rPr lang="en-US" sz="2200" b="1" dirty="0">
                          <a:effectLst/>
                        </a:rPr>
                        <a:t>Understands Data?</a:t>
                      </a:r>
                      <a:endParaRPr lang="en-US" sz="2200" b="1" dirty="0">
                        <a:solidFill>
                          <a:srgbClr val="1F1F1F"/>
                        </a:solidFill>
                        <a:effectLst/>
                        <a:latin typeface="Google Sans Text"/>
                      </a:endParaRPr>
                    </a:p>
                  </a:txBody>
                  <a:tcPr marL="86821" marR="72351" marT="96468" marB="96468" anchor="ctr"/>
                </a:tc>
                <a:tc>
                  <a:txBody>
                    <a:bodyPr/>
                    <a:lstStyle/>
                    <a:p>
                      <a:pPr rtl="0"/>
                      <a:r>
                        <a:rPr lang="en-US" sz="2200">
                          <a:effectLst/>
                        </a:rPr>
                        <a:t>Yes (via Schema/Types).</a:t>
                      </a:r>
                      <a:endParaRPr lang="en-US" sz="2200">
                        <a:solidFill>
                          <a:srgbClr val="1F1F1F"/>
                        </a:solidFill>
                        <a:effectLst/>
                        <a:latin typeface="Google Sans Text"/>
                      </a:endParaRPr>
                    </a:p>
                  </a:txBody>
                  <a:tcPr marL="86821" marR="72351" marT="96468" marB="96468" anchor="ctr"/>
                </a:tc>
                <a:tc>
                  <a:txBody>
                    <a:bodyPr/>
                    <a:lstStyle/>
                    <a:p>
                      <a:pPr rtl="0"/>
                      <a:r>
                        <a:rPr lang="pt-BR" sz="2200">
                          <a:effectLst/>
                        </a:rPr>
                        <a:t>No (sees data as generic objects).</a:t>
                      </a:r>
                      <a:endParaRPr lang="pt-BR" sz="2200">
                        <a:solidFill>
                          <a:srgbClr val="1F1F1F"/>
                        </a:solidFill>
                        <a:effectLst/>
                        <a:latin typeface="Google Sans Text"/>
                      </a:endParaRPr>
                    </a:p>
                  </a:txBody>
                  <a:tcPr marL="86821" marR="86821" marT="96468" marB="96468" anchor="ctr"/>
                </a:tc>
                <a:extLst>
                  <a:ext uri="{0D108BD9-81ED-4DB2-BD59-A6C34878D82A}">
                    <a16:rowId xmlns:a16="http://schemas.microsoft.com/office/drawing/2014/main" val="3012740389"/>
                  </a:ext>
                </a:extLst>
              </a:tr>
              <a:tr h="713865">
                <a:tc>
                  <a:txBody>
                    <a:bodyPr/>
                    <a:lstStyle/>
                    <a:p>
                      <a:pPr algn="ctr" rtl="0"/>
                      <a:r>
                        <a:rPr lang="en-US" sz="2200" b="1" dirty="0">
                          <a:effectLst/>
                        </a:rPr>
                        <a:t>Output</a:t>
                      </a:r>
                      <a:endParaRPr lang="en-US" sz="2200" b="1" dirty="0">
                        <a:solidFill>
                          <a:srgbClr val="1F1F1F"/>
                        </a:solidFill>
                        <a:effectLst/>
                        <a:latin typeface="Google Sans Text"/>
                      </a:endParaRPr>
                    </a:p>
                  </a:txBody>
                  <a:tcPr marL="86821" marR="72351" marT="96468" marB="96468" anchor="ctr"/>
                </a:tc>
                <a:tc>
                  <a:txBody>
                    <a:bodyPr/>
                    <a:lstStyle/>
                    <a:p>
                      <a:pPr rtl="0"/>
                      <a:r>
                        <a:rPr lang="en-US" sz="2200">
                          <a:effectLst/>
                        </a:rPr>
                        <a:t>An optimized physical plan (RDDs).</a:t>
                      </a:r>
                      <a:endParaRPr lang="en-US" sz="2200">
                        <a:solidFill>
                          <a:srgbClr val="1F1F1F"/>
                        </a:solidFill>
                        <a:effectLst/>
                        <a:latin typeface="Google Sans Text"/>
                      </a:endParaRPr>
                    </a:p>
                  </a:txBody>
                  <a:tcPr marL="86821" marR="72351" marT="96468" marB="96468" anchor="ctr"/>
                </a:tc>
                <a:tc>
                  <a:txBody>
                    <a:bodyPr/>
                    <a:lstStyle/>
                    <a:p>
                      <a:pPr rtl="0"/>
                      <a:r>
                        <a:rPr lang="en-US" sz="2200">
                          <a:effectLst/>
                        </a:rPr>
                        <a:t>A set of Stages and Tasks.</a:t>
                      </a:r>
                      <a:endParaRPr lang="en-US" sz="2200">
                        <a:solidFill>
                          <a:srgbClr val="1F1F1F"/>
                        </a:solidFill>
                        <a:effectLst/>
                        <a:latin typeface="Google Sans Text"/>
                      </a:endParaRPr>
                    </a:p>
                  </a:txBody>
                  <a:tcPr marL="86821" marR="86821" marT="96468" marB="96468" anchor="ctr"/>
                </a:tc>
                <a:extLst>
                  <a:ext uri="{0D108BD9-81ED-4DB2-BD59-A6C34878D82A}">
                    <a16:rowId xmlns:a16="http://schemas.microsoft.com/office/drawing/2014/main" val="3912842969"/>
                  </a:ext>
                </a:extLst>
              </a:tr>
              <a:tr h="713865">
                <a:tc>
                  <a:txBody>
                    <a:bodyPr/>
                    <a:lstStyle/>
                    <a:p>
                      <a:pPr algn="ctr" rtl="0"/>
                      <a:r>
                        <a:rPr lang="en-US" sz="2200" b="1" dirty="0">
                          <a:effectLst/>
                        </a:rPr>
                        <a:t>Main Trick</a:t>
                      </a:r>
                      <a:endParaRPr lang="en-US" sz="2200" b="1" dirty="0">
                        <a:solidFill>
                          <a:srgbClr val="1F1F1F"/>
                        </a:solidFill>
                        <a:effectLst/>
                        <a:latin typeface="Google Sans Text"/>
                      </a:endParaRPr>
                    </a:p>
                  </a:txBody>
                  <a:tcPr marL="86821" marR="72351" marT="96468" marB="96468" anchor="ctr"/>
                </a:tc>
                <a:tc>
                  <a:txBody>
                    <a:bodyPr/>
                    <a:lstStyle/>
                    <a:p>
                      <a:pPr rtl="0"/>
                      <a:r>
                        <a:rPr lang="en-US" sz="2200">
                          <a:effectLst/>
                        </a:rPr>
                        <a:t>Predicate Pushdown / Column Pruning.</a:t>
                      </a:r>
                      <a:endParaRPr lang="en-US" sz="2200">
                        <a:solidFill>
                          <a:srgbClr val="1F1F1F"/>
                        </a:solidFill>
                        <a:effectLst/>
                        <a:latin typeface="Google Sans Text"/>
                      </a:endParaRPr>
                    </a:p>
                  </a:txBody>
                  <a:tcPr marL="86821" marR="72351" marT="96468" marB="96468" anchor="ctr"/>
                </a:tc>
                <a:tc>
                  <a:txBody>
                    <a:bodyPr/>
                    <a:lstStyle/>
                    <a:p>
                      <a:pPr rtl="0"/>
                      <a:r>
                        <a:rPr lang="en-US" sz="2200" dirty="0">
                          <a:effectLst/>
                        </a:rPr>
                        <a:t>Stage Pipelining / Task Scheduling.</a:t>
                      </a:r>
                      <a:endParaRPr lang="en-US" sz="2200" dirty="0">
                        <a:solidFill>
                          <a:srgbClr val="1F1F1F"/>
                        </a:solidFill>
                        <a:effectLst/>
                        <a:latin typeface="Google Sans Text"/>
                      </a:endParaRPr>
                    </a:p>
                  </a:txBody>
                  <a:tcPr marL="86821" marR="86821" marT="96468" marB="96468" anchor="ctr"/>
                </a:tc>
                <a:extLst>
                  <a:ext uri="{0D108BD9-81ED-4DB2-BD59-A6C34878D82A}">
                    <a16:rowId xmlns:a16="http://schemas.microsoft.com/office/drawing/2014/main" val="159634276"/>
                  </a:ext>
                </a:extLst>
              </a:tr>
            </a:tbl>
          </a:graphicData>
        </a:graphic>
      </p:graphicFrame>
    </p:spTree>
    <p:extLst>
      <p:ext uri="{BB962C8B-B14F-4D97-AF65-F5344CB8AC3E}">
        <p14:creationId xmlns:p14="http://schemas.microsoft.com/office/powerpoint/2010/main" val="4208299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RDDs </a:t>
            </a:r>
            <a:r>
              <a:rPr lang="en-US" b="1" dirty="0"/>
              <a:t>vs </a:t>
            </a:r>
            <a:r>
              <a:rPr lang="en-US" b="1" dirty="0" err="1" smtClean="0"/>
              <a:t>DataFrames</a:t>
            </a:r>
            <a:r>
              <a:rPr lang="en-US" b="1" dirty="0" smtClean="0"/>
              <a:t>: </a:t>
            </a:r>
            <a:r>
              <a:rPr lang="en-US" b="1" dirty="0"/>
              <a:t>Choosing the Right Abstraction</a:t>
            </a:r>
          </a:p>
        </p:txBody>
      </p:sp>
      <p:graphicFrame>
        <p:nvGraphicFramePr>
          <p:cNvPr id="4" name="Table 3"/>
          <p:cNvGraphicFramePr>
            <a:graphicFrameLocks noGrp="1"/>
          </p:cNvGraphicFramePr>
          <p:nvPr>
            <p:extLst>
              <p:ext uri="{D42A27DB-BD31-4B8C-83A1-F6EECF244321}">
                <p14:modId xmlns:p14="http://schemas.microsoft.com/office/powerpoint/2010/main" val="1825259000"/>
              </p:ext>
            </p:extLst>
          </p:nvPr>
        </p:nvGraphicFramePr>
        <p:xfrm>
          <a:off x="762683" y="2349806"/>
          <a:ext cx="10815759" cy="3992880"/>
        </p:xfrm>
        <a:graphic>
          <a:graphicData uri="http://schemas.openxmlformats.org/drawingml/2006/table">
            <a:tbl>
              <a:tblPr>
                <a:tableStyleId>{8799B23B-EC83-4686-B30A-512413B5E67A}</a:tableStyleId>
              </a:tblPr>
              <a:tblGrid>
                <a:gridCol w="2051197">
                  <a:extLst>
                    <a:ext uri="{9D8B030D-6E8A-4147-A177-3AD203B41FA5}">
                      <a16:colId xmlns:a16="http://schemas.microsoft.com/office/drawing/2014/main" val="2571891455"/>
                    </a:ext>
                  </a:extLst>
                </a:gridCol>
                <a:gridCol w="4382281">
                  <a:extLst>
                    <a:ext uri="{9D8B030D-6E8A-4147-A177-3AD203B41FA5}">
                      <a16:colId xmlns:a16="http://schemas.microsoft.com/office/drawing/2014/main" val="326215874"/>
                    </a:ext>
                  </a:extLst>
                </a:gridCol>
                <a:gridCol w="4382281">
                  <a:extLst>
                    <a:ext uri="{9D8B030D-6E8A-4147-A177-3AD203B41FA5}">
                      <a16:colId xmlns:a16="http://schemas.microsoft.com/office/drawing/2014/main" val="945882442"/>
                    </a:ext>
                  </a:extLst>
                </a:gridCol>
              </a:tblGrid>
              <a:tr h="0">
                <a:tc>
                  <a:txBody>
                    <a:bodyPr/>
                    <a:lstStyle/>
                    <a:p>
                      <a:pPr algn="ctr"/>
                      <a:r>
                        <a:rPr lang="en-US" sz="2200" b="1" dirty="0"/>
                        <a:t>Aspect</a:t>
                      </a:r>
                    </a:p>
                  </a:txBody>
                  <a:tcPr anchor="ctr"/>
                </a:tc>
                <a:tc>
                  <a:txBody>
                    <a:bodyPr/>
                    <a:lstStyle/>
                    <a:p>
                      <a:pPr algn="ctr"/>
                      <a:r>
                        <a:rPr lang="en-US" sz="2200" b="1" dirty="0"/>
                        <a:t>RDDs</a:t>
                      </a:r>
                    </a:p>
                  </a:txBody>
                  <a:tcPr anchor="ctr"/>
                </a:tc>
                <a:tc>
                  <a:txBody>
                    <a:bodyPr/>
                    <a:lstStyle/>
                    <a:p>
                      <a:pPr algn="ctr"/>
                      <a:r>
                        <a:rPr lang="en-US" sz="2200" b="1" dirty="0" err="1"/>
                        <a:t>DataFrames</a:t>
                      </a:r>
                      <a:endParaRPr lang="en-US" sz="2200" b="1" dirty="0"/>
                    </a:p>
                  </a:txBody>
                  <a:tcPr anchor="ctr"/>
                </a:tc>
                <a:extLst>
                  <a:ext uri="{0D108BD9-81ED-4DB2-BD59-A6C34878D82A}">
                    <a16:rowId xmlns:a16="http://schemas.microsoft.com/office/drawing/2014/main" val="2420370493"/>
                  </a:ext>
                </a:extLst>
              </a:tr>
              <a:tr h="0">
                <a:tc>
                  <a:txBody>
                    <a:bodyPr/>
                    <a:lstStyle/>
                    <a:p>
                      <a:pPr algn="ctr"/>
                      <a:r>
                        <a:rPr lang="en-US" sz="2200" b="1" dirty="0"/>
                        <a:t>Data Type</a:t>
                      </a:r>
                    </a:p>
                  </a:txBody>
                  <a:tcPr anchor="ctr"/>
                </a:tc>
                <a:tc>
                  <a:txBody>
                    <a:bodyPr/>
                    <a:lstStyle/>
                    <a:p>
                      <a:r>
                        <a:rPr lang="en-US" sz="2200"/>
                        <a:t>Unstructured or semi‑structured collections of objects</a:t>
                      </a:r>
                    </a:p>
                  </a:txBody>
                  <a:tcPr anchor="ctr"/>
                </a:tc>
                <a:tc>
                  <a:txBody>
                    <a:bodyPr/>
                    <a:lstStyle/>
                    <a:p>
                      <a:r>
                        <a:rPr lang="en-US" sz="2200"/>
                        <a:t>Structured, tabular data with schema</a:t>
                      </a:r>
                    </a:p>
                  </a:txBody>
                  <a:tcPr anchor="ctr"/>
                </a:tc>
                <a:extLst>
                  <a:ext uri="{0D108BD9-81ED-4DB2-BD59-A6C34878D82A}">
                    <a16:rowId xmlns:a16="http://schemas.microsoft.com/office/drawing/2014/main" val="3980540053"/>
                  </a:ext>
                </a:extLst>
              </a:tr>
              <a:tr h="0">
                <a:tc>
                  <a:txBody>
                    <a:bodyPr/>
                    <a:lstStyle/>
                    <a:p>
                      <a:pPr algn="ctr"/>
                      <a:r>
                        <a:rPr lang="en-US" sz="2200" b="1" dirty="0"/>
                        <a:t>Control Level</a:t>
                      </a:r>
                    </a:p>
                  </a:txBody>
                  <a:tcPr anchor="ctr"/>
                </a:tc>
                <a:tc>
                  <a:txBody>
                    <a:bodyPr/>
                    <a:lstStyle/>
                    <a:p>
                      <a:r>
                        <a:rPr lang="en-US" sz="2200" dirty="0"/>
                        <a:t>Low‑level, fine‑grained transformations</a:t>
                      </a:r>
                    </a:p>
                  </a:txBody>
                  <a:tcPr anchor="ctr"/>
                </a:tc>
                <a:tc>
                  <a:txBody>
                    <a:bodyPr/>
                    <a:lstStyle/>
                    <a:p>
                      <a:r>
                        <a:rPr lang="en-US" sz="2200"/>
                        <a:t>High‑level, declarative operations</a:t>
                      </a:r>
                    </a:p>
                  </a:txBody>
                  <a:tcPr anchor="ctr"/>
                </a:tc>
                <a:extLst>
                  <a:ext uri="{0D108BD9-81ED-4DB2-BD59-A6C34878D82A}">
                    <a16:rowId xmlns:a16="http://schemas.microsoft.com/office/drawing/2014/main" val="3931793091"/>
                  </a:ext>
                </a:extLst>
              </a:tr>
              <a:tr h="0">
                <a:tc>
                  <a:txBody>
                    <a:bodyPr/>
                    <a:lstStyle/>
                    <a:p>
                      <a:pPr algn="ctr"/>
                      <a:r>
                        <a:rPr lang="en-US" sz="2200" b="1" dirty="0"/>
                        <a:t>Optimization</a:t>
                      </a:r>
                    </a:p>
                  </a:txBody>
                  <a:tcPr anchor="ctr"/>
                </a:tc>
                <a:tc>
                  <a:txBody>
                    <a:bodyPr/>
                    <a:lstStyle/>
                    <a:p>
                      <a:r>
                        <a:rPr lang="en-US" sz="2200" dirty="0"/>
                        <a:t>Manual tuning required</a:t>
                      </a:r>
                    </a:p>
                  </a:txBody>
                  <a:tcPr anchor="ctr"/>
                </a:tc>
                <a:tc>
                  <a:txBody>
                    <a:bodyPr/>
                    <a:lstStyle/>
                    <a:p>
                      <a:r>
                        <a:rPr lang="en-US" sz="2200"/>
                        <a:t>Automatic via Catalyst Optimizer</a:t>
                      </a:r>
                    </a:p>
                  </a:txBody>
                  <a:tcPr anchor="ctr"/>
                </a:tc>
                <a:extLst>
                  <a:ext uri="{0D108BD9-81ED-4DB2-BD59-A6C34878D82A}">
                    <a16:rowId xmlns:a16="http://schemas.microsoft.com/office/drawing/2014/main" val="3588103999"/>
                  </a:ext>
                </a:extLst>
              </a:tr>
              <a:tr h="0">
                <a:tc>
                  <a:txBody>
                    <a:bodyPr/>
                    <a:lstStyle/>
                    <a:p>
                      <a:pPr algn="ctr"/>
                      <a:r>
                        <a:rPr lang="en-US" sz="2200" b="1" dirty="0"/>
                        <a:t>Ease of Use</a:t>
                      </a:r>
                    </a:p>
                  </a:txBody>
                  <a:tcPr anchor="ctr"/>
                </a:tc>
                <a:tc>
                  <a:txBody>
                    <a:bodyPr/>
                    <a:lstStyle/>
                    <a:p>
                      <a:r>
                        <a:rPr lang="en-US" sz="2200"/>
                        <a:t>Verbose and complex</a:t>
                      </a:r>
                    </a:p>
                  </a:txBody>
                  <a:tcPr anchor="ctr"/>
                </a:tc>
                <a:tc>
                  <a:txBody>
                    <a:bodyPr/>
                    <a:lstStyle/>
                    <a:p>
                      <a:r>
                        <a:rPr lang="en-US" sz="2200"/>
                        <a:t>Simple, SQL‑like syntax</a:t>
                      </a:r>
                    </a:p>
                  </a:txBody>
                  <a:tcPr anchor="ctr"/>
                </a:tc>
                <a:extLst>
                  <a:ext uri="{0D108BD9-81ED-4DB2-BD59-A6C34878D82A}">
                    <a16:rowId xmlns:a16="http://schemas.microsoft.com/office/drawing/2014/main" val="3847887907"/>
                  </a:ext>
                </a:extLst>
              </a:tr>
              <a:tr h="0">
                <a:tc>
                  <a:txBody>
                    <a:bodyPr/>
                    <a:lstStyle/>
                    <a:p>
                      <a:pPr algn="ctr"/>
                      <a:r>
                        <a:rPr lang="en-US" sz="2200" b="1" dirty="0"/>
                        <a:t>Performance</a:t>
                      </a:r>
                    </a:p>
                  </a:txBody>
                  <a:tcPr anchor="ctr"/>
                </a:tc>
                <a:tc>
                  <a:txBody>
                    <a:bodyPr/>
                    <a:lstStyle/>
                    <a:p>
                      <a:r>
                        <a:rPr lang="en-US" sz="2200"/>
                        <a:t>Less efficient, no query optimization</a:t>
                      </a:r>
                    </a:p>
                  </a:txBody>
                  <a:tcPr anchor="ctr"/>
                </a:tc>
                <a:tc>
                  <a:txBody>
                    <a:bodyPr/>
                    <a:lstStyle/>
                    <a:p>
                      <a:r>
                        <a:rPr lang="en-US" sz="2200"/>
                        <a:t>Highly optimized execution</a:t>
                      </a:r>
                    </a:p>
                  </a:txBody>
                  <a:tcPr anchor="ctr"/>
                </a:tc>
                <a:extLst>
                  <a:ext uri="{0D108BD9-81ED-4DB2-BD59-A6C34878D82A}">
                    <a16:rowId xmlns:a16="http://schemas.microsoft.com/office/drawing/2014/main" val="2516154009"/>
                  </a:ext>
                </a:extLst>
              </a:tr>
              <a:tr h="0">
                <a:tc>
                  <a:txBody>
                    <a:bodyPr/>
                    <a:lstStyle/>
                    <a:p>
                      <a:pPr algn="ctr"/>
                      <a:r>
                        <a:rPr lang="en-US" sz="2200" b="1" dirty="0"/>
                        <a:t>Best For</a:t>
                      </a:r>
                    </a:p>
                  </a:txBody>
                  <a:tcPr anchor="ctr"/>
                </a:tc>
                <a:tc>
                  <a:txBody>
                    <a:bodyPr/>
                    <a:lstStyle/>
                    <a:p>
                      <a:r>
                        <a:rPr lang="en-US" sz="2200"/>
                        <a:t>Custom algorithms, unstructured data, specialized control</a:t>
                      </a:r>
                    </a:p>
                  </a:txBody>
                  <a:tcPr anchor="ctr"/>
                </a:tc>
                <a:tc>
                  <a:txBody>
                    <a:bodyPr/>
                    <a:lstStyle/>
                    <a:p>
                      <a:r>
                        <a:rPr lang="en-US" sz="2200" dirty="0"/>
                        <a:t>Analytical, ETL, and SQL‑style workloads</a:t>
                      </a:r>
                    </a:p>
                  </a:txBody>
                  <a:tcPr anchor="ctr"/>
                </a:tc>
                <a:extLst>
                  <a:ext uri="{0D108BD9-81ED-4DB2-BD59-A6C34878D82A}">
                    <a16:rowId xmlns:a16="http://schemas.microsoft.com/office/drawing/2014/main" val="867766854"/>
                  </a:ext>
                </a:extLst>
              </a:tr>
            </a:tbl>
          </a:graphicData>
        </a:graphic>
      </p:graphicFrame>
    </p:spTree>
    <p:extLst>
      <p:ext uri="{BB962C8B-B14F-4D97-AF65-F5344CB8AC3E}">
        <p14:creationId xmlns:p14="http://schemas.microsoft.com/office/powerpoint/2010/main" val="241977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https://copilot.microsoft.com/th/id/BCO.ae1ebace-d902-428b-8aee-15b062e037c4.png"/>
          <p:cNvPicPr>
            <a:picLocks noChangeAspect="1" noChangeArrowheads="1"/>
          </p:cNvPicPr>
          <p:nvPr/>
        </p:nvPicPr>
        <p:blipFill rotWithShape="1">
          <a:blip r:embed="rId3">
            <a:extLst>
              <a:ext uri="{28A0092B-C50C-407E-A947-70E740481C1C}">
                <a14:useLocalDpi xmlns:a14="http://schemas.microsoft.com/office/drawing/2010/main" val="0"/>
              </a:ext>
            </a:extLst>
          </a:blip>
          <a:srcRect l="4677" t="2821" r="4486" b="3154"/>
          <a:stretch/>
        </p:blipFill>
        <p:spPr bwMode="auto">
          <a:xfrm>
            <a:off x="721360" y="81280"/>
            <a:ext cx="10969442" cy="6685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7936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39086</TotalTime>
  <Words>3260</Words>
  <Application>Microsoft Office PowerPoint</Application>
  <PresentationFormat>Widescreen</PresentationFormat>
  <Paragraphs>590</Paragraphs>
  <Slides>30</Slides>
  <Notes>24</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Google Sans</vt:lpstr>
      <vt:lpstr>Google Sans Text</vt:lpstr>
      <vt:lpstr>medium-content-sans-serif-font</vt:lpstr>
      <vt:lpstr>source-code-pro</vt:lpstr>
      <vt:lpstr>source-serif-pro</vt:lpstr>
      <vt:lpstr>Arial</vt:lpstr>
      <vt:lpstr>Calibri</vt:lpstr>
      <vt:lpstr>Times New Roman</vt:lpstr>
      <vt:lpstr>Tw Cen MT</vt:lpstr>
      <vt:lpstr>Tw Cen MT Condensed</vt:lpstr>
      <vt:lpstr>Wingdings</vt:lpstr>
      <vt:lpstr>Wingdings 3</vt:lpstr>
      <vt:lpstr>Integral</vt:lpstr>
      <vt:lpstr>Sparksql and dataframes</vt:lpstr>
      <vt:lpstr>outline</vt:lpstr>
      <vt:lpstr>Structured data processing in spark </vt:lpstr>
      <vt:lpstr>Spark dataframe</vt:lpstr>
      <vt:lpstr>RDD vs dataframe code </vt:lpstr>
      <vt:lpstr>Spark dataframe</vt:lpstr>
      <vt:lpstr>Why dataframe?</vt:lpstr>
      <vt:lpstr>Why dataframe?</vt:lpstr>
      <vt:lpstr>Dataframe vs rdd</vt:lpstr>
      <vt:lpstr>PowerPoint Presentation</vt:lpstr>
      <vt:lpstr>Dataframes operations </vt:lpstr>
      <vt:lpstr>Sparksql module </vt:lpstr>
      <vt:lpstr>Sparksql vs dataframe</vt:lpstr>
      <vt:lpstr>Sparksql: Query optimization </vt:lpstr>
      <vt:lpstr>PowerPoint Presentation</vt:lpstr>
      <vt:lpstr>Catalyst optimizer </vt:lpstr>
      <vt:lpstr>Catalyst: The Optimization Pipeline </vt:lpstr>
      <vt:lpstr>Logical plan optimization </vt:lpstr>
      <vt:lpstr>Logical plan optimization </vt:lpstr>
      <vt:lpstr>Logical plan optimization </vt:lpstr>
      <vt:lpstr>PowerPoint Presentation</vt:lpstr>
      <vt:lpstr>PowerPoint Presentation</vt:lpstr>
      <vt:lpstr>From Logical Plan to RDD Execution</vt:lpstr>
      <vt:lpstr>Dag scheduler vs. catalyst optimizer </vt:lpstr>
      <vt:lpstr>Dag scheduler vs. catalyst optimizer </vt:lpstr>
      <vt:lpstr>Dag scheduler vs. catalyst optimizer </vt:lpstr>
      <vt:lpstr>PowerPoint Presentation</vt:lpstr>
      <vt:lpstr>Dag scheduler vs. catalyst optimizer </vt:lpstr>
      <vt:lpstr>RDDs vs DataFrames: Choosing the Right Abstraction</vt:lpstr>
      <vt:lpstr>PowerPoint Presentation</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CSAI 253 – Machine Learning</dc:title>
  <dc:creator>Maher</dc:creator>
  <cp:lastModifiedBy>Mayada</cp:lastModifiedBy>
  <cp:revision>2227</cp:revision>
  <dcterms:created xsi:type="dcterms:W3CDTF">2024-09-16T13:46:05Z</dcterms:created>
  <dcterms:modified xsi:type="dcterms:W3CDTF">2026-04-16T11:30:27Z</dcterms:modified>
</cp:coreProperties>
</file>